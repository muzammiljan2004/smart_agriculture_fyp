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6ceae32-0cd1-a293-1b3a-75e52c77430b}">
          <p14:sldIdLst>
            <p14:sldId id="256"/>
            <p14:sldId id="257"/>
          </p14:sldIdLst>
        </p14:section>
        <p14:section name="Scope &amp; Objectives" id="{d58279d0-3cd7-3069-b0b6-d033608ed2ab}">
          <p14:sldIdLst>
            <p14:sldId id="258"/>
            <p14:sldId id="259"/>
            <p14:sldId id="260"/>
          </p14:sldIdLst>
        </p14:section>
        <p14:section name="System &amp; Portals" id="{ac4a2685-90a4-b9cf-7241-0fb9554f0aaa}">
          <p14:sldIdLst>
            <p14:sldId id="261"/>
            <p14:sldId id="262"/>
            <p14:sldId id="263"/>
            <p14:sldId id="264"/>
          </p14:sldIdLst>
        </p14:section>
        <p14:section name="Experiments" id="{06369df0-988d-c438-0217-516bf5e17da3}">
          <p14:sldIdLst>
            <p14:sldId id="265"/>
            <p14:sldId id="266"/>
            <p14:sldId id="267"/>
            <p14:sldId id="268"/>
          </p14:sldIdLst>
        </p14:section>
        <p14:section name="Progress" id="{c6d466da-9a8a-c410-e1b7-f6f6ea5045fc}">
          <p14:sldIdLst>
            <p14:sldId id="269"/>
            <p14:sldId id="270"/>
            <p14:sldId id="271"/>
          </p14:sldIdLst>
        </p14:section>
        <p14:section name="Demonstration" id="{ab5bde21-3ae7-0a29-c9a5-0eb54a160eb3}">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review, not final defence. 15-20 minutes total: about 5-6 on scope, objectives and modules, then 7-8 on the live demo. Introduce the team and supervisors, then move straight to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sections. Keep this slide to about twenty seconds -- the detail is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Sindh and KPK are in scope but the current data is Punjab-only: the ingestion pipeline is region-agnostic, but the verified yield labels we have so far are Punjab CRS figures. Extending regions is a data-sourcing task, not a code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objective is the one already partly delivered -- the temporal feature experiment on slide 10 is exactly that kind of study, and it caught a feature that was inflating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1, 2 and 5 are validated and running. Module 3 is one of five models trained. Module 6 is two portals of three. Modules 4 and 7 are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rationale: Earth Engine and scikit-learn need Python, so they sit behind FastAPI. Everything else is a table read the browser does directly against Postgres, which is why there is no CRUD API nobody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three portals feature-complete. The farmer portal is the one with visible work remaining -- its screens exist but the data wiring is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the isolation is verified, not assumed. A test script creates accounts across two districts, signs in as a browser would, and asserts 57 separate access boundaries. All 57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promote restriction is the important design point: training a model is cheap and reversible, promoting one changes what every farmer and official sees. Those should never be the same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if asked about research rigour. The valid_px_mean catch is the strongest thing here: a feature that looked like a 0.95 result was actually leaking district identity. Finding that is worth more than the number it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Wheat covers 43 districts, not 40 -- that includes districts carved out mid-series such as Murree, which the source flags as boundary changes. The audit on satellite_features was run specifically to rule out silent data loss in ingestion; it found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to be asked whether 0.92 means 92% accurate. It does not. Say plainly: pooled R2 across crops with wildly different yield scales mostly measures crop separation. Wheat at 0.73 is the number we stand behind. Four crops are negative and we report that rather than averaging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only one model so far: the Random Forest path required building the entire data pipeline first -- acquisition, index computation, label verification. The remaining four reuse all of it, so they should land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 progress, three complete. The honest headline is that the data and access foundations are done and the modelling breadth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concrete deliverables. The two dataset items are worth dwelling on -- verifying 652 yield rows against source documents was slow, unglamorous work and it is what makes every model number downstream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items. If asked which is the critical path: training the four models, because three of the four research objectives depend on having models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 minutes. Suggested order: Government Portal dashboard and district drill-down, then cross-district isolation by signing in as a scoped user, then the Researcher Portal model comparison, then satellite monitoring on a real farm, closing on a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two things to take away: the data foundation is verified and audited, and the access model is enforced in the database rather than the UI.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828800"/>
            <a:ext cx="1115568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3" name="Text 0"/>
          <p:cNvSpPr/>
          <p:nvPr>
            <p:ph idx="101" type="body" hasCustomPrompt="1"/>
          </p:nvPr>
        </p:nvSpPr>
        <p:spPr>
          <a:xfrm>
            <a:off x="502920" y="3291840"/>
            <a:ext cx="11155680" cy="2926080"/>
          </a:xfrm>
          <a:prstGeom prst="rect">
            <a:avLst/>
          </a:prstGeom>
          <a:noFill/>
          <a:ln/>
        </p:spPr>
        <p:txBody>
          <a:bodyPr wrap="square" rtlCol="0"/>
          <a:lstStyle>
            <a:lvl1pPr indent="0" marL="0">
              <a:buNone/>
              <a:defRPr lang="en-US" sz="1500" dirty="0">
                <a:solidFill>
                  <a:schemeClr val="accent2"/>
                </a:solidFill>
              </a:defRPr>
            </a:lvl1pPr>
          </a:lstStyle>
          <a:p>
            <a:pPr indent="0" marL="0">
              <a:buNone/>
            </a:pPr>
            <a:r>
              <a:rPr lang="en-US" sz="1500" dirty="0">
                <a:solidFill>
                  <a:schemeClr val="accent2"/>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accent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468880"/>
            <a:ext cx="11155680" cy="1097280"/>
          </a:xfrm>
          <a:prstGeom prst="rect">
            <a:avLst/>
          </a:prstGeom>
          <a:noFill/>
          <a:ln/>
        </p:spPr>
        <p:txBody>
          <a:bodyPr wrap="square" rtlCol="0"/>
          <a:lstStyle>
            <a:lvl1pPr indent="0" marL="0">
              <a:buNone/>
              <a:defRPr lang="en-US" sz="4400" b="1" dirty="0">
                <a:solidFill>
                  <a:schemeClr val="bg1"/>
                </a:solidFill>
              </a:defRPr>
            </a:lvl1pPr>
          </a:lstStyle>
          <a:p>
            <a:pPr indent="0" marL="0">
              <a:buNone/>
            </a:pPr>
            <a:r>
              <a:rPr lang="en-US" sz="4400" b="1" dirty="0">
                <a:solidFill>
                  <a:schemeClr val="bg1"/>
                </a:solidFill>
              </a:rPr>
              <a:t> </a:t>
            </a:r>
            <a:endParaRPr lang="en-US" sz="4400" dirty="0"/>
          </a:p>
        </p:txBody>
      </p:sp>
      <p:sp>
        <p:nvSpPr>
          <p:cNvPr id="3" name="Text 0"/>
          <p:cNvSpPr/>
          <p:nvPr>
            <p:ph idx="101" type="body" hasCustomPrompt="1"/>
          </p:nvPr>
        </p:nvSpPr>
        <p:spPr>
          <a:xfrm>
            <a:off x="502920" y="3657600"/>
            <a:ext cx="11155680" cy="1463040"/>
          </a:xfrm>
          <a:prstGeom prst="rect">
            <a:avLst/>
          </a:prstGeom>
          <a:noFill/>
          <a:ln/>
        </p:spPr>
        <p:txBody>
          <a:bodyPr wrap="square" rtlCol="0"/>
          <a:lstStyle>
            <a:lvl1pPr indent="0" marL="0">
              <a:buNone/>
              <a:defRPr lang="en-US" sz="1600" dirty="0">
                <a:solidFill>
                  <a:schemeClr val="accent2"/>
                </a:solidFill>
              </a:defRPr>
            </a:lvl1pPr>
          </a:lstStyle>
          <a:p>
            <a:pPr indent="0" marL="0">
              <a:buNone/>
            </a:pPr>
            <a:r>
              <a:rPr lang="en-US" sz="1600" dirty="0">
                <a:solidFill>
                  <a:schemeClr val="accent2"/>
                </a:solidFill>
              </a:rPr>
              <a:t> </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rtlCol="0"/>
          <a:lstStyle>
            <a:lvl1pPr indent="0" marL="0">
              <a:buNone/>
              <a:defRPr lang="en-US" sz="3200" b="1" dirty="0">
                <a:solidFill>
                  <a:schemeClr val="tx2"/>
                </a:solidFill>
              </a:defRPr>
            </a:lvl1pPr>
          </a:lstStyle>
          <a:p>
            <a:pPr indent="0" marL="0">
              <a:buNone/>
            </a:pPr>
            <a:r>
              <a:rPr lang="en-US" sz="3200" b="1" dirty="0">
                <a:solidFill>
                  <a:schemeClr val="tx2"/>
                </a:solidFill>
              </a:rPr>
              <a:t> </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rtlCol="0"/>
          <a:lstStyle>
            <a:lvl1pPr indent="0" marL="0">
              <a:buNone/>
              <a:defRPr lang="en-US" sz="1300" dirty="0">
                <a:solidFill>
                  <a:schemeClr val="accent5"/>
                </a:solidFill>
              </a:defRPr>
            </a:lvl1pPr>
          </a:lstStyle>
          <a:p>
            <a:pPr indent="0" marL="0">
              <a:buNone/>
            </a:pPr>
            <a:r>
              <a:rPr lang="en-US" sz="1300" dirty="0">
                <a:solidFill>
                  <a:schemeClr val="accent5"/>
                </a:solidFill>
              </a:rPr>
              <a:t> </a:t>
            </a:r>
            <a:endParaRPr lang="en-US" sz="1300" dirty="0"/>
          </a:p>
        </p:txBody>
      </p:sp>
      <p:sp>
        <p:nvSpPr>
          <p:cNvPr id="4" name="Text 0"/>
          <p:cNvSpPr txBox="1"/>
          <p:nvPr/>
        </p:nvSpPr>
        <p:spPr>
          <a:xfrm>
            <a:off x="502920" y="6400800"/>
            <a:ext cx="9692640" cy="274320"/>
          </a:xfrm>
          <a:prstGeom prst="rect">
            <a:avLst/>
          </a:prstGeom>
          <a:noFill/>
          <a:ln/>
        </p:spPr>
        <p:txBody>
          <a:bodyPr wrap="square" lIns="0" tIns="0" rIns="0" bIns="0" rtlCol="0" anchor="ctr"/>
          <a:lstStyle/>
          <a:p>
            <a:pPr indent="0" marL="0">
              <a:buNone/>
            </a:pPr>
            <a:r>
              <a:rPr lang="en-US" sz="900" dirty="0">
                <a:solidFill>
                  <a:schemeClr val="accent5"/>
                </a:solidFill>
              </a:rPr>
              <a:t>Crop Yield Prediction &amp; Ecosystem Monitoring  |  Progress Review, October 2026</a:t>
            </a:r>
            <a:endParaRPr lang="en-US" sz="9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1234440"/>
            <a:ext cx="11155680" cy="365760"/>
          </a:xfrm>
          <a:prstGeom prst="rect">
            <a:avLst/>
          </a:prstGeom>
          <a:noFill/>
          <a:ln/>
        </p:spPr>
        <p:txBody>
          <a:bodyPr wrap="square" lIns="0" tIns="0" rIns="0" bIns="0" rtlCol="0" anchor="ctr"/>
          <a:lstStyle/>
          <a:p>
            <a:pPr indent="0" marL="0">
              <a:buNone/>
            </a:pPr>
            <a:r>
              <a:rPr lang="en-US" sz="1500" spc="300" kern="0" dirty="0">
                <a:solidFill>
                  <a:schemeClr val="accent2"/>
                </a:solidFill>
              </a:rPr>
              <a:t>Smart Agriculture</a:t>
            </a:r>
            <a:endParaRPr lang="en-US" sz="1500" dirty="0"/>
          </a:p>
        </p:txBody>
      </p:sp>
      <p:sp>
        <p:nvSpPr>
          <p:cNvPr id="3" name="Text 0"/>
          <p:cNvSpPr/>
          <p:nvPr>
            <p:ph idx="100" type="title" hasCustomPrompt="1"/>
          </p:nvPr>
        </p:nvSpPr>
        <p:spPr>
          <a:xfrm>
            <a:off x="502920" y="1828800"/>
            <a:ext cx="11155680" cy="1371600"/>
          </a:xfrm>
          <a:prstGeom prst="rect">
            <a:avLst/>
          </a:prstGeom>
          <a:noFill/>
          <a:ln/>
        </p:spPr>
        <p:txBody>
          <a:bodyPr wrap="square" rtlCol="0" anchor="b"/>
          <a:lstStyle/>
          <a:p>
            <a:pPr indent="0" marL="0">
              <a:buNone/>
            </a:pPr>
            <a:r>
              <a:rPr lang="en-US" sz="4000" b="1" dirty="0">
                <a:solidFill>
                  <a:schemeClr val="bg1"/>
                </a:solidFill>
              </a:rPr>
              <a:t>Crop Yield Prediction &amp;</a:t>
            </a:r>
            <a:endParaRPr lang="en-US" sz="4000" dirty="0"/>
          </a:p>
          <a:p>
            <a:pPr indent="0" marL="0">
              <a:buNone/>
            </a:pPr>
            <a:r>
              <a:rPr lang="en-US" sz="4000" b="1" dirty="0">
                <a:solidFill>
                  <a:schemeClr val="bg1"/>
                </a:solidFill>
              </a:rPr>
              <a:t>Ecosystem Monitoring</a:t>
            </a:r>
            <a:endParaRPr lang="en-US" sz="4000" dirty="0"/>
          </a:p>
        </p:txBody>
      </p:sp>
      <p:sp>
        <p:nvSpPr>
          <p:cNvPr id="4" name="Text 0"/>
          <p:cNvSpPr/>
          <p:nvPr>
            <p:ph idx="101" type="body" hasCustomPrompt="1"/>
          </p:nvPr>
        </p:nvSpPr>
        <p:spPr>
          <a:xfrm>
            <a:off x="502920" y="3291840"/>
            <a:ext cx="11155680" cy="2926080"/>
          </a:xfrm>
          <a:prstGeom prst="rect">
            <a:avLst/>
          </a:prstGeom>
          <a:noFill/>
          <a:ln/>
        </p:spPr>
        <p:txBody>
          <a:bodyPr wrap="square" rtlCol="0" anchor="t"/>
          <a:lstStyle/>
          <a:p>
            <a:pPr indent="0" marL="0">
              <a:spcAft>
                <a:spcPts val="1000"/>
              </a:spcAft>
              <a:buNone/>
            </a:pPr>
            <a:r>
              <a:rPr lang="en-US" sz="1500" dirty="0">
                <a:solidFill>
                  <a:srgbClr val="FFFFFF"/>
                </a:solidFill>
              </a:rPr>
              <a:t>Muzammil Ahmed Chandio (233164)   ·   Nisha Nasir (233166)   ·   Muhammad (233159)</a:t>
            </a:r>
            <a:endParaRPr lang="en-US" sz="1500" dirty="0"/>
          </a:p>
          <a:p>
            <a:pPr indent="0" marL="0">
              <a:buNone/>
            </a:pPr>
            <a:r>
              <a:rPr lang="en-US" sz="1350" dirty="0">
                <a:solidFill>
                  <a:schemeClr val="accent2"/>
                </a:solidFill>
              </a:rPr>
              <a:t>Supervisor: Mr. Yasir Ali        Co-Supervisor: Dr. Ashfaq Hussain Farooqi</a:t>
            </a:r>
            <a:endParaRPr lang="en-US" sz="1500" dirty="0"/>
          </a:p>
          <a:p>
            <a:pPr indent="0" marL="0">
              <a:buNone/>
            </a:pPr>
            <a:r>
              <a:rPr lang="en-US" sz="1350" dirty="0">
                <a:solidFill>
                  <a:schemeClr val="accent2"/>
                </a:solidFill>
              </a:rPr>
              <a:t>Department of Computer Science, Air University Islamabad</a:t>
            </a:r>
            <a:endParaRPr lang="en-US" sz="1500" dirty="0"/>
          </a:p>
        </p:txBody>
      </p:sp>
      <p:sp>
        <p:nvSpPr>
          <p:cNvPr id="5" name="Shape 3"/>
          <p:cNvSpPr/>
          <p:nvPr/>
        </p:nvSpPr>
        <p:spPr>
          <a:xfrm>
            <a:off x="502920" y="5715000"/>
            <a:ext cx="2834640" cy="420624"/>
          </a:xfrm>
          <a:prstGeom prst="roundRect">
            <a:avLst>
              <a:gd name="adj" fmla="val 21739"/>
            </a:avLst>
          </a:prstGeom>
          <a:solidFill>
            <a:schemeClr val="accent3"/>
          </a:solidFill>
          <a:ln/>
        </p:spPr>
      </p:sp>
      <p:sp>
        <p:nvSpPr>
          <p:cNvPr id="6" name="Text 4"/>
          <p:cNvSpPr txBox="1"/>
          <p:nvPr/>
        </p:nvSpPr>
        <p:spPr>
          <a:xfrm>
            <a:off x="502920" y="5715000"/>
            <a:ext cx="2834640" cy="420624"/>
          </a:xfrm>
          <a:prstGeom prst="rect">
            <a:avLst/>
          </a:prstGeom>
          <a:noFill/>
          <a:ln/>
        </p:spPr>
        <p:txBody>
          <a:bodyPr wrap="square" lIns="0" tIns="0" rIns="0" bIns="0" rtlCol="0" anchor="ctr"/>
          <a:lstStyle/>
          <a:p>
            <a:pPr algn="ctr" indent="0" marL="0">
              <a:buNone/>
            </a:pPr>
            <a:r>
              <a:rPr lang="en-US" sz="1200" b="1" dirty="0">
                <a:solidFill>
                  <a:srgbClr val="14281A"/>
                </a:solidFill>
              </a:rPr>
              <a:t>Progress Review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Agenda</a:t>
            </a:r>
            <a:endParaRPr lang="en-US" sz="3200" dirty="0"/>
          </a:p>
        </p:txBody>
      </p:sp>
      <p:sp>
        <p:nvSpPr>
          <p:cNvPr id="3" name="Shape 1"/>
          <p:cNvSpPr/>
          <p:nvPr/>
        </p:nvSpPr>
        <p:spPr>
          <a:xfrm>
            <a:off x="502920" y="1408176"/>
            <a:ext cx="329184" cy="329184"/>
          </a:xfrm>
          <a:prstGeom prst="ellipse">
            <a:avLst/>
          </a:prstGeom>
          <a:solidFill>
            <a:schemeClr val="accent1"/>
          </a:solidFill>
          <a:ln/>
        </p:spPr>
      </p:sp>
      <p:sp>
        <p:nvSpPr>
          <p:cNvPr id="4" name="Text 2"/>
          <p:cNvSpPr txBox="1"/>
          <p:nvPr/>
        </p:nvSpPr>
        <p:spPr>
          <a:xfrm>
            <a:off x="502920" y="14081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60120" y="1371600"/>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Project Scope</a:t>
            </a:r>
            <a:endParaRPr lang="en-US" sz="1600" dirty="0"/>
          </a:p>
        </p:txBody>
      </p:sp>
      <p:sp>
        <p:nvSpPr>
          <p:cNvPr id="6" name="Text 4"/>
          <p:cNvSpPr txBox="1"/>
          <p:nvPr/>
        </p:nvSpPr>
        <p:spPr>
          <a:xfrm>
            <a:off x="960120" y="1673352"/>
            <a:ext cx="4937760" cy="457200"/>
          </a:xfrm>
          <a:prstGeom prst="rect">
            <a:avLst/>
          </a:prstGeom>
          <a:noFill/>
          <a:ln/>
        </p:spPr>
        <p:txBody>
          <a:bodyPr wrap="square" lIns="0" tIns="0" rIns="0" bIns="0" rtlCol="0" anchor="t"/>
          <a:lstStyle/>
          <a:p>
            <a:pPr indent="0" marL="0">
              <a:buNone/>
            </a:pPr>
            <a:r>
              <a:rPr lang="en-US" sz="1200" dirty="0">
                <a:solidFill>
                  <a:schemeClr val="accent5"/>
                </a:solidFill>
              </a:rPr>
              <a:t>What is in and deliberately out</a:t>
            </a:r>
            <a:endParaRPr lang="en-US" sz="1200" dirty="0"/>
          </a:p>
        </p:txBody>
      </p:sp>
      <p:sp>
        <p:nvSpPr>
          <p:cNvPr id="7" name="Shape 5"/>
          <p:cNvSpPr/>
          <p:nvPr/>
        </p:nvSpPr>
        <p:spPr>
          <a:xfrm>
            <a:off x="6263640" y="1408176"/>
            <a:ext cx="329184" cy="329184"/>
          </a:xfrm>
          <a:prstGeom prst="ellipse">
            <a:avLst/>
          </a:prstGeom>
          <a:solidFill>
            <a:schemeClr val="accent1"/>
          </a:solidFill>
          <a:ln/>
        </p:spPr>
      </p:sp>
      <p:sp>
        <p:nvSpPr>
          <p:cNvPr id="8" name="Text 6"/>
          <p:cNvSpPr txBox="1"/>
          <p:nvPr/>
        </p:nvSpPr>
        <p:spPr>
          <a:xfrm>
            <a:off x="6263640" y="14081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6720840" y="1371600"/>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Objectives</a:t>
            </a:r>
            <a:endParaRPr lang="en-US" sz="1600" dirty="0"/>
          </a:p>
        </p:txBody>
      </p:sp>
      <p:sp>
        <p:nvSpPr>
          <p:cNvPr id="10" name="Text 8"/>
          <p:cNvSpPr txBox="1"/>
          <p:nvPr/>
        </p:nvSpPr>
        <p:spPr>
          <a:xfrm>
            <a:off x="6720840" y="1673352"/>
            <a:ext cx="4937760" cy="457200"/>
          </a:xfrm>
          <a:prstGeom prst="rect">
            <a:avLst/>
          </a:prstGeom>
          <a:noFill/>
          <a:ln/>
        </p:spPr>
        <p:txBody>
          <a:bodyPr wrap="square" lIns="0" tIns="0" rIns="0" bIns="0" rtlCol="0" anchor="t"/>
          <a:lstStyle/>
          <a:p>
            <a:pPr indent="0" marL="0">
              <a:buNone/>
            </a:pPr>
            <a:r>
              <a:rPr lang="en-US" sz="1200" dirty="0">
                <a:solidFill>
                  <a:schemeClr val="accent5"/>
                </a:solidFill>
              </a:rPr>
              <a:t>Applied deliverables and research questions</a:t>
            </a:r>
            <a:endParaRPr lang="en-US" sz="1200" dirty="0"/>
          </a:p>
        </p:txBody>
      </p:sp>
      <p:sp>
        <p:nvSpPr>
          <p:cNvPr id="11" name="Shape 9"/>
          <p:cNvSpPr/>
          <p:nvPr/>
        </p:nvSpPr>
        <p:spPr>
          <a:xfrm>
            <a:off x="502920" y="2578608"/>
            <a:ext cx="329184" cy="329184"/>
          </a:xfrm>
          <a:prstGeom prst="ellipse">
            <a:avLst/>
          </a:prstGeom>
          <a:solidFill>
            <a:schemeClr val="accent1"/>
          </a:solidFill>
          <a:ln/>
        </p:spPr>
      </p:sp>
      <p:sp>
        <p:nvSpPr>
          <p:cNvPr id="12" name="Text 10"/>
          <p:cNvSpPr txBox="1"/>
          <p:nvPr/>
        </p:nvSpPr>
        <p:spPr>
          <a:xfrm>
            <a:off x="502920" y="2578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60120" y="2542032"/>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Modules &amp; Architecture</a:t>
            </a:r>
            <a:endParaRPr lang="en-US" sz="1600" dirty="0"/>
          </a:p>
        </p:txBody>
      </p:sp>
      <p:sp>
        <p:nvSpPr>
          <p:cNvPr id="14" name="Text 12"/>
          <p:cNvSpPr txBox="1"/>
          <p:nvPr/>
        </p:nvSpPr>
        <p:spPr>
          <a:xfrm>
            <a:off x="960120" y="2843784"/>
            <a:ext cx="4937760" cy="457200"/>
          </a:xfrm>
          <a:prstGeom prst="rect">
            <a:avLst/>
          </a:prstGeom>
          <a:noFill/>
          <a:ln/>
        </p:spPr>
        <p:txBody>
          <a:bodyPr wrap="square" lIns="0" tIns="0" rIns="0" bIns="0" rtlCol="0" anchor="t"/>
          <a:lstStyle/>
          <a:p>
            <a:pPr indent="0" marL="0">
              <a:buNone/>
            </a:pPr>
            <a:r>
              <a:rPr lang="en-US" sz="1200" dirty="0">
                <a:solidFill>
                  <a:schemeClr val="accent5"/>
                </a:solidFill>
              </a:rPr>
              <a:t>Seven modules over a three-tier stack</a:t>
            </a:r>
            <a:endParaRPr lang="en-US" sz="1200" dirty="0"/>
          </a:p>
        </p:txBody>
      </p:sp>
      <p:sp>
        <p:nvSpPr>
          <p:cNvPr id="15" name="Shape 13"/>
          <p:cNvSpPr/>
          <p:nvPr/>
        </p:nvSpPr>
        <p:spPr>
          <a:xfrm>
            <a:off x="6263640" y="2578608"/>
            <a:ext cx="329184" cy="329184"/>
          </a:xfrm>
          <a:prstGeom prst="ellipse">
            <a:avLst/>
          </a:prstGeom>
          <a:solidFill>
            <a:schemeClr val="accent1"/>
          </a:solidFill>
          <a:ln/>
        </p:spPr>
      </p:sp>
      <p:sp>
        <p:nvSpPr>
          <p:cNvPr id="16" name="Text 14"/>
          <p:cNvSpPr txBox="1"/>
          <p:nvPr/>
        </p:nvSpPr>
        <p:spPr>
          <a:xfrm>
            <a:off x="6263640" y="2578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6720840" y="2542032"/>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Portal Overview</a:t>
            </a:r>
            <a:endParaRPr lang="en-US" sz="1600" dirty="0"/>
          </a:p>
        </p:txBody>
      </p:sp>
      <p:sp>
        <p:nvSpPr>
          <p:cNvPr id="18" name="Text 16"/>
          <p:cNvSpPr txBox="1"/>
          <p:nvPr/>
        </p:nvSpPr>
        <p:spPr>
          <a:xfrm>
            <a:off x="6720840" y="2843784"/>
            <a:ext cx="4937760" cy="457200"/>
          </a:xfrm>
          <a:prstGeom prst="rect">
            <a:avLst/>
          </a:prstGeom>
          <a:noFill/>
          <a:ln/>
        </p:spPr>
        <p:txBody>
          <a:bodyPr wrap="square" lIns="0" tIns="0" rIns="0" bIns="0" rtlCol="0" anchor="t"/>
          <a:lstStyle/>
          <a:p>
            <a:pPr indent="0" marL="0">
              <a:buNone/>
            </a:pPr>
            <a:r>
              <a:rPr lang="en-US" sz="1200" dirty="0">
                <a:solidFill>
                  <a:schemeClr val="accent5"/>
                </a:solidFill>
              </a:rPr>
              <a:t>Farmer, Government and Researcher portals</a:t>
            </a:r>
            <a:endParaRPr lang="en-US" sz="1200" dirty="0"/>
          </a:p>
        </p:txBody>
      </p:sp>
      <p:sp>
        <p:nvSpPr>
          <p:cNvPr id="19" name="Shape 17"/>
          <p:cNvSpPr/>
          <p:nvPr/>
        </p:nvSpPr>
        <p:spPr>
          <a:xfrm>
            <a:off x="502920" y="3749040"/>
            <a:ext cx="329184" cy="329184"/>
          </a:xfrm>
          <a:prstGeom prst="ellipse">
            <a:avLst/>
          </a:prstGeom>
          <a:solidFill>
            <a:schemeClr val="accent1"/>
          </a:solidFill>
          <a:ln/>
        </p:spPr>
      </p:sp>
      <p:sp>
        <p:nvSpPr>
          <p:cNvPr id="20" name="Text 18"/>
          <p:cNvSpPr txBox="1"/>
          <p:nvPr/>
        </p:nvSpPr>
        <p:spPr>
          <a:xfrm>
            <a:off x="502920" y="37490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1" name="Text 19"/>
          <p:cNvSpPr txBox="1"/>
          <p:nvPr/>
        </p:nvSpPr>
        <p:spPr>
          <a:xfrm>
            <a:off x="960120" y="3712464"/>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Experiments</a:t>
            </a:r>
            <a:endParaRPr lang="en-US" sz="1600" dirty="0"/>
          </a:p>
        </p:txBody>
      </p:sp>
      <p:sp>
        <p:nvSpPr>
          <p:cNvPr id="22" name="Text 20"/>
          <p:cNvSpPr txBox="1"/>
          <p:nvPr/>
        </p:nvSpPr>
        <p:spPr>
          <a:xfrm>
            <a:off x="960120" y="4014216"/>
            <a:ext cx="4937760" cy="457200"/>
          </a:xfrm>
          <a:prstGeom prst="rect">
            <a:avLst/>
          </a:prstGeom>
          <a:noFill/>
          <a:ln/>
        </p:spPr>
        <p:txBody>
          <a:bodyPr wrap="square" lIns="0" tIns="0" rIns="0" bIns="0" rtlCol="0" anchor="t"/>
          <a:lstStyle/>
          <a:p>
            <a:pPr indent="0" marL="0">
              <a:buNone/>
            </a:pPr>
            <a:r>
              <a:rPr lang="en-US" sz="1200" dirty="0">
                <a:solidFill>
                  <a:schemeClr val="accent5"/>
                </a:solidFill>
              </a:rPr>
              <a:t>Temporal data approach and the dataset used</a:t>
            </a:r>
            <a:endParaRPr lang="en-US" sz="1200" dirty="0"/>
          </a:p>
        </p:txBody>
      </p:sp>
      <p:sp>
        <p:nvSpPr>
          <p:cNvPr id="23" name="Shape 21"/>
          <p:cNvSpPr/>
          <p:nvPr/>
        </p:nvSpPr>
        <p:spPr>
          <a:xfrm>
            <a:off x="6263640" y="3749040"/>
            <a:ext cx="329184" cy="329184"/>
          </a:xfrm>
          <a:prstGeom prst="ellipse">
            <a:avLst/>
          </a:prstGeom>
          <a:solidFill>
            <a:schemeClr val="accent1"/>
          </a:solidFill>
          <a:ln/>
        </p:spPr>
      </p:sp>
      <p:sp>
        <p:nvSpPr>
          <p:cNvPr id="24" name="Text 22"/>
          <p:cNvSpPr txBox="1"/>
          <p:nvPr/>
        </p:nvSpPr>
        <p:spPr>
          <a:xfrm>
            <a:off x="6263640" y="37490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5" name="Text 23"/>
          <p:cNvSpPr txBox="1"/>
          <p:nvPr/>
        </p:nvSpPr>
        <p:spPr>
          <a:xfrm>
            <a:off x="6720840" y="3712464"/>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Model Results</a:t>
            </a:r>
            <a:endParaRPr lang="en-US" sz="1600" dirty="0"/>
          </a:p>
        </p:txBody>
      </p:sp>
      <p:sp>
        <p:nvSpPr>
          <p:cNvPr id="26" name="Text 24"/>
          <p:cNvSpPr txBox="1"/>
          <p:nvPr/>
        </p:nvSpPr>
        <p:spPr>
          <a:xfrm>
            <a:off x="6720840" y="4014216"/>
            <a:ext cx="4937760" cy="457200"/>
          </a:xfrm>
          <a:prstGeom prst="rect">
            <a:avLst/>
          </a:prstGeom>
          <a:noFill/>
          <a:ln/>
        </p:spPr>
        <p:txBody>
          <a:bodyPr wrap="square" lIns="0" tIns="0" rIns="0" bIns="0" rtlCol="0" anchor="t"/>
          <a:lstStyle/>
          <a:p>
            <a:pPr indent="0" marL="0">
              <a:buNone/>
            </a:pPr>
            <a:r>
              <a:rPr lang="en-US" sz="1200" dirty="0">
                <a:solidFill>
                  <a:schemeClr val="accent5"/>
                </a:solidFill>
              </a:rPr>
              <a:t>Random Forest, and the four models still to train</a:t>
            </a:r>
            <a:endParaRPr lang="en-US" sz="1200" dirty="0"/>
          </a:p>
        </p:txBody>
      </p:sp>
      <p:sp>
        <p:nvSpPr>
          <p:cNvPr id="27" name="Shape 25"/>
          <p:cNvSpPr/>
          <p:nvPr/>
        </p:nvSpPr>
        <p:spPr>
          <a:xfrm>
            <a:off x="502920" y="4919472"/>
            <a:ext cx="329184" cy="329184"/>
          </a:xfrm>
          <a:prstGeom prst="ellipse">
            <a:avLst/>
          </a:prstGeom>
          <a:solidFill>
            <a:schemeClr val="accent1"/>
          </a:solidFill>
          <a:ln/>
        </p:spPr>
      </p:sp>
      <p:sp>
        <p:nvSpPr>
          <p:cNvPr id="28" name="Text 26"/>
          <p:cNvSpPr txBox="1"/>
          <p:nvPr/>
        </p:nvSpPr>
        <p:spPr>
          <a:xfrm>
            <a:off x="502920" y="49194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29" name="Text 27"/>
          <p:cNvSpPr txBox="1"/>
          <p:nvPr/>
        </p:nvSpPr>
        <p:spPr>
          <a:xfrm>
            <a:off x="960120" y="4882896"/>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Progress &amp; Remaining Work</a:t>
            </a:r>
            <a:endParaRPr lang="en-US" sz="1600" dirty="0"/>
          </a:p>
        </p:txBody>
      </p:sp>
      <p:sp>
        <p:nvSpPr>
          <p:cNvPr id="30" name="Text 28"/>
          <p:cNvSpPr txBox="1"/>
          <p:nvPr/>
        </p:nvSpPr>
        <p:spPr>
          <a:xfrm>
            <a:off x="960120" y="5184648"/>
            <a:ext cx="4937760" cy="457200"/>
          </a:xfrm>
          <a:prstGeom prst="rect">
            <a:avLst/>
          </a:prstGeom>
          <a:noFill/>
          <a:ln/>
        </p:spPr>
        <p:txBody>
          <a:bodyPr wrap="square" lIns="0" tIns="0" rIns="0" bIns="0" rtlCol="0" anchor="t"/>
          <a:lstStyle/>
          <a:p>
            <a:pPr indent="0" marL="0">
              <a:buNone/>
            </a:pPr>
            <a:r>
              <a:rPr lang="en-US" sz="1200" dirty="0">
                <a:solidFill>
                  <a:schemeClr val="accent5"/>
                </a:solidFill>
              </a:rPr>
              <a:t>What is built, what is left</a:t>
            </a:r>
            <a:endParaRPr lang="en-US" sz="1200" dirty="0"/>
          </a:p>
        </p:txBody>
      </p:sp>
      <p:sp>
        <p:nvSpPr>
          <p:cNvPr id="31" name="Shape 29"/>
          <p:cNvSpPr/>
          <p:nvPr/>
        </p:nvSpPr>
        <p:spPr>
          <a:xfrm>
            <a:off x="6263640" y="4919472"/>
            <a:ext cx="329184" cy="329184"/>
          </a:xfrm>
          <a:prstGeom prst="ellipse">
            <a:avLst/>
          </a:prstGeom>
          <a:solidFill>
            <a:schemeClr val="accent1"/>
          </a:solidFill>
          <a:ln/>
        </p:spPr>
      </p:sp>
      <p:sp>
        <p:nvSpPr>
          <p:cNvPr id="32" name="Text 30"/>
          <p:cNvSpPr txBox="1"/>
          <p:nvPr/>
        </p:nvSpPr>
        <p:spPr>
          <a:xfrm>
            <a:off x="6263640" y="49194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33" name="Text 31"/>
          <p:cNvSpPr txBox="1"/>
          <p:nvPr/>
        </p:nvSpPr>
        <p:spPr>
          <a:xfrm>
            <a:off x="6720840" y="4882896"/>
            <a:ext cx="4937760" cy="274320"/>
          </a:xfrm>
          <a:prstGeom prst="rect">
            <a:avLst/>
          </a:prstGeom>
          <a:noFill/>
          <a:ln/>
        </p:spPr>
        <p:txBody>
          <a:bodyPr wrap="square" lIns="0" tIns="0" rIns="0" bIns="0" rtlCol="0" anchor="ctr"/>
          <a:lstStyle/>
          <a:p>
            <a:pPr indent="0" marL="0">
              <a:buNone/>
            </a:pPr>
            <a:r>
              <a:rPr lang="en-US" sz="1600" b="1" dirty="0">
                <a:solidFill>
                  <a:schemeClr val="tx2"/>
                </a:solidFill>
              </a:rPr>
              <a:t>Live Demonstration</a:t>
            </a:r>
            <a:endParaRPr lang="en-US" sz="1600" dirty="0"/>
          </a:p>
        </p:txBody>
      </p:sp>
      <p:sp>
        <p:nvSpPr>
          <p:cNvPr id="34" name="Text 32"/>
          <p:cNvSpPr txBox="1"/>
          <p:nvPr/>
        </p:nvSpPr>
        <p:spPr>
          <a:xfrm>
            <a:off x="6720840" y="5184648"/>
            <a:ext cx="4937760" cy="457200"/>
          </a:xfrm>
          <a:prstGeom prst="rect">
            <a:avLst/>
          </a:prstGeom>
          <a:noFill/>
          <a:ln/>
        </p:spPr>
        <p:txBody>
          <a:bodyPr wrap="square" lIns="0" tIns="0" rIns="0" bIns="0" rtlCol="0" anchor="t"/>
          <a:lstStyle/>
          <a:p>
            <a:pPr indent="0" marL="0">
              <a:buNone/>
            </a:pPr>
            <a:r>
              <a:rPr lang="en-US" sz="1200" dirty="0">
                <a:solidFill>
                  <a:schemeClr val="accent5"/>
                </a:solidFill>
              </a:rPr>
              <a:t>Government and Researcher portals</a:t>
            </a:r>
            <a:endParaRPr lang="en-US" sz="1200" dirty="0"/>
          </a:p>
        </p:txBody>
      </p:sp>
      <p:sp>
        <p:nvSpPr>
          <p:cNvPr id="36"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Project scope</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Drawn tightly on purpose: everything out of scope is out because it would not be finishable or verifiable this year</a:t>
            </a:r>
            <a:endParaRPr lang="en-US" sz="1300" dirty="0"/>
          </a:p>
        </p:txBody>
      </p:sp>
      <p:sp>
        <p:nvSpPr>
          <p:cNvPr id="4" name="inScope"/>
          <p:cNvSpPr/>
          <p:nvPr/>
        </p:nvSpPr>
        <p:spPr>
          <a:xfrm>
            <a:off x="502920" y="1371600"/>
            <a:ext cx="5394960" cy="4343400"/>
          </a:xfrm>
          <a:prstGeom prst="roundRect">
            <a:avLst>
              <a:gd name="adj" fmla="val 1263"/>
            </a:avLst>
          </a:prstGeom>
          <a:solidFill>
            <a:schemeClr val="bg2"/>
          </a:solidFill>
          <a:ln w="6350">
            <a:solidFill>
              <a:schemeClr val="accent2"/>
            </a:solidFill>
            <a:prstDash val="solid"/>
          </a:ln>
        </p:spPr>
      </p:sp>
      <p:sp>
        <p:nvSpPr>
          <p:cNvPr id="5" name="Text 3"/>
          <p:cNvSpPr txBox="1"/>
          <p:nvPr/>
        </p:nvSpPr>
        <p:spPr>
          <a:xfrm>
            <a:off x="731520" y="1536192"/>
            <a:ext cx="49377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 SCOPE</a:t>
            </a:r>
            <a:endParaRPr lang="en-US" sz="1200" dirty="0"/>
          </a:p>
        </p:txBody>
      </p:sp>
      <p:sp>
        <p:nvSpPr>
          <p:cNvPr id="6" name="Text 4"/>
          <p:cNvSpPr txBox="1"/>
          <p:nvPr/>
        </p:nvSpPr>
        <p:spPr>
          <a:xfrm>
            <a:off x="731520" y="1874520"/>
            <a:ext cx="4937760" cy="3657600"/>
          </a:xfrm>
          <a:prstGeom prst="rect">
            <a:avLst/>
          </a:prstGeom>
          <a:noFill/>
          <a:ln/>
        </p:spPr>
        <p:txBody>
          <a:bodyPr wrap="square" rtlCol="0" anchor="ctr"/>
          <a:lstStyle/>
          <a:p>
            <a:pPr marL="342900" indent="-342900">
              <a:spcAft>
                <a:spcPts val="600"/>
              </a:spcAft>
              <a:buSzPct val="100000"/>
              <a:buChar char="•"/>
            </a:pPr>
            <a:r>
              <a:rPr lang="en-US" sz="1300" dirty="0">
                <a:solidFill>
                  <a:schemeClr val="tx1"/>
                </a:solidFill>
              </a:rPr>
              <a:t>Sentinel-2, Landsat-8/9 acquisition via Google Earth Engine (Punjab, Sindh, KPK)</a:t>
            </a:r>
            <a:endParaRPr lang="en-US" sz="1300" dirty="0"/>
          </a:p>
          <a:p>
            <a:pPr marL="342900" indent="-342900">
              <a:spcAft>
                <a:spcPts val="600"/>
              </a:spcAft>
              <a:buSzPct val="100000"/>
              <a:buChar char="•"/>
            </a:pPr>
            <a:r>
              <a:rPr lang="en-US" sz="1300" dirty="0">
                <a:solidFill>
                  <a:schemeClr val="tx1"/>
                </a:solidFill>
              </a:rPr>
              <a:t>Five vegetation indices with temporal stacking — NDVI, EVI, NDWI, SAVI, NBR</a:t>
            </a:r>
            <a:endParaRPr lang="en-US" sz="1300" dirty="0"/>
          </a:p>
          <a:p>
            <a:pPr marL="342900" indent="-342900">
              <a:spcAft>
                <a:spcPts val="600"/>
              </a:spcAft>
              <a:buSzPct val="100000"/>
              <a:buChar char="•"/>
            </a:pPr>
            <a:r>
              <a:rPr lang="en-US" sz="1300" dirty="0">
                <a:solidFill>
                  <a:schemeClr val="tx1"/>
                </a:solidFill>
              </a:rPr>
              <a:t>Weather and soil API integration — PMD, FAO SoilGrids</a:t>
            </a:r>
            <a:endParaRPr lang="en-US" sz="1300" dirty="0"/>
          </a:p>
          <a:p>
            <a:pPr marL="342900" indent="-342900">
              <a:spcAft>
                <a:spcPts val="600"/>
              </a:spcAft>
              <a:buSzPct val="100000"/>
              <a:buChar char="•"/>
            </a:pPr>
            <a:r>
              <a:rPr lang="en-US" sz="1300" dirty="0">
                <a:solidFill>
                  <a:schemeClr val="tx1"/>
                </a:solidFill>
              </a:rPr>
              <a:t>Four or more ML models benchmarked on R², RMSE and MAE</a:t>
            </a:r>
            <a:endParaRPr lang="en-US" sz="1300" dirty="0"/>
          </a:p>
          <a:p>
            <a:pPr marL="342900" indent="-342900">
              <a:spcAft>
                <a:spcPts val="600"/>
              </a:spcAft>
              <a:buSzPct val="100000"/>
              <a:buChar char="•"/>
            </a:pPr>
            <a:r>
              <a:rPr lang="en-US" sz="1300" dirty="0">
                <a:solidFill>
                  <a:schemeClr val="tx1"/>
                </a:solidFill>
              </a:rPr>
              <a:t>MODIS + Landsat salinity and land-degradation monitoring</a:t>
            </a:r>
            <a:endParaRPr lang="en-US" sz="1300" dirty="0"/>
          </a:p>
          <a:p>
            <a:pPr marL="342900" indent="-342900">
              <a:spcAft>
                <a:spcPts val="600"/>
              </a:spcAft>
              <a:buSzPct val="100000"/>
              <a:buChar char="•"/>
            </a:pPr>
            <a:r>
              <a:rPr lang="en-US" sz="1300" dirty="0">
                <a:solidFill>
                  <a:schemeClr val="tx1"/>
                </a:solidFill>
              </a:rPr>
              <a:t>Web dashboard and REST API</a:t>
            </a:r>
            <a:endParaRPr lang="en-US" sz="1300" dirty="0"/>
          </a:p>
          <a:p>
            <a:pPr marL="342900" indent="-342900">
              <a:spcAft>
                <a:spcPts val="600"/>
              </a:spcAft>
              <a:buSzPct val="100000"/>
              <a:buChar char="•"/>
            </a:pPr>
            <a:r>
              <a:rPr lang="en-US" sz="1300" dirty="0">
                <a:solidFill>
                  <a:schemeClr val="tx1"/>
                </a:solidFill>
              </a:rPr>
              <a:t>PostgreSQL + PostGIS spatial backend</a:t>
            </a:r>
            <a:endParaRPr lang="en-US" sz="1300" dirty="0"/>
          </a:p>
          <a:p>
            <a:pPr marL="342900" indent="-342900">
              <a:spcAft>
                <a:spcPts val="600"/>
              </a:spcAft>
              <a:buSzPct val="100000"/>
              <a:buChar char="•"/>
            </a:pPr>
            <a:r>
              <a:rPr lang="en-US" sz="1300" dirty="0">
                <a:solidFill>
                  <a:schemeClr val="tx1"/>
                </a:solidFill>
              </a:rPr>
              <a:t>Cloud deployment</a:t>
            </a:r>
            <a:endParaRPr lang="en-US" sz="1300" dirty="0"/>
          </a:p>
        </p:txBody>
      </p:sp>
      <p:sp>
        <p:nvSpPr>
          <p:cNvPr id="7" name="outScope"/>
          <p:cNvSpPr/>
          <p:nvPr/>
        </p:nvSpPr>
        <p:spPr>
          <a:xfrm>
            <a:off x="6263640" y="1371600"/>
            <a:ext cx="5394960" cy="4343400"/>
          </a:xfrm>
          <a:prstGeom prst="roundRect">
            <a:avLst>
              <a:gd name="adj" fmla="val 1263"/>
            </a:avLst>
          </a:prstGeom>
          <a:solidFill>
            <a:srgbClr val="FBF4F3"/>
          </a:solidFill>
          <a:ln w="6350">
            <a:solidFill>
              <a:srgbClr val="E6C9C5"/>
            </a:solidFill>
            <a:prstDash val="solid"/>
          </a:ln>
        </p:spPr>
      </p:sp>
      <p:sp>
        <p:nvSpPr>
          <p:cNvPr id="8" name="Text 6"/>
          <p:cNvSpPr txBox="1"/>
          <p:nvPr/>
        </p:nvSpPr>
        <p:spPr>
          <a:xfrm>
            <a:off x="6492240" y="1536192"/>
            <a:ext cx="493776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OUT OF SCOPE</a:t>
            </a:r>
            <a:endParaRPr lang="en-US" sz="1200" dirty="0"/>
          </a:p>
        </p:txBody>
      </p:sp>
      <p:sp>
        <p:nvSpPr>
          <p:cNvPr id="9" name="Text 7"/>
          <p:cNvSpPr txBox="1"/>
          <p:nvPr/>
        </p:nvSpPr>
        <p:spPr>
          <a:xfrm>
            <a:off x="6492240" y="1874520"/>
            <a:ext cx="4937760" cy="2011680"/>
          </a:xfrm>
          <a:prstGeom prst="rect">
            <a:avLst/>
          </a:prstGeom>
          <a:noFill/>
          <a:ln/>
        </p:spPr>
        <p:txBody>
          <a:bodyPr wrap="square" rtlCol="0" anchor="ctr"/>
          <a:lstStyle/>
          <a:p>
            <a:pPr marL="342900" indent="-342900">
              <a:spcAft>
                <a:spcPts val="600"/>
              </a:spcAft>
              <a:buSzPct val="100000"/>
              <a:buChar char="•"/>
            </a:pPr>
            <a:r>
              <a:rPr lang="en-US" sz="1300" dirty="0">
                <a:solidFill>
                  <a:schemeClr val="tx1"/>
                </a:solidFill>
              </a:rPr>
              <a:t>Physical IoT sensor hardware</a:t>
            </a:r>
            <a:endParaRPr lang="en-US" sz="1300" dirty="0"/>
          </a:p>
          <a:p>
            <a:pPr marL="342900" indent="-342900">
              <a:spcAft>
                <a:spcPts val="600"/>
              </a:spcAft>
              <a:buSzPct val="100000"/>
              <a:buChar char="•"/>
            </a:pPr>
            <a:r>
              <a:rPr lang="en-US" sz="1300" dirty="0">
                <a:solidFill>
                  <a:schemeClr val="tx1"/>
                </a:solidFill>
              </a:rPr>
              <a:t>Sub-field or per-plant level predictions</a:t>
            </a:r>
            <a:endParaRPr lang="en-US" sz="1300" dirty="0"/>
          </a:p>
          <a:p>
            <a:pPr marL="342900" indent="-342900">
              <a:spcAft>
                <a:spcPts val="600"/>
              </a:spcAft>
              <a:buSzPct val="100000"/>
              <a:buChar char="•"/>
            </a:pPr>
            <a:r>
              <a:rPr lang="en-US" sz="1300" dirty="0">
                <a:solidFill>
                  <a:schemeClr val="tx1"/>
                </a:solidFill>
              </a:rPr>
              <a:t>Livestock and aquaculture monitoring</a:t>
            </a:r>
            <a:endParaRPr lang="en-US" sz="1300" dirty="0"/>
          </a:p>
          <a:p>
            <a:pPr marL="342900" indent="-342900">
              <a:spcAft>
                <a:spcPts val="600"/>
              </a:spcAft>
              <a:buSzPct val="100000"/>
              <a:buChar char="•"/>
            </a:pPr>
            <a:r>
              <a:rPr lang="en-US" sz="1300" dirty="0">
                <a:solidFill>
                  <a:schemeClr val="tx1"/>
                </a:solidFill>
              </a:rPr>
              <a:t>Native mobile applications</a:t>
            </a:r>
            <a:endParaRPr lang="en-US" sz="1300" dirty="0"/>
          </a:p>
          <a:p>
            <a:pPr marL="342900" indent="-342900">
              <a:spcAft>
                <a:spcPts val="600"/>
              </a:spcAft>
              <a:buSzPct val="100000"/>
              <a:buChar char="•"/>
            </a:pPr>
            <a:r>
              <a:rPr lang="en-US" sz="1300" dirty="0">
                <a:solidFill>
                  <a:schemeClr val="tx1"/>
                </a:solidFill>
              </a:rPr>
              <a:t>Financial transaction processing</a:t>
            </a:r>
            <a:endParaRPr lang="en-US" sz="1300" dirty="0"/>
          </a:p>
        </p:txBody>
      </p:sp>
      <p:sp>
        <p:nvSpPr>
          <p:cNvPr id="10" name="Text 8"/>
          <p:cNvSpPr txBox="1"/>
          <p:nvPr/>
        </p:nvSpPr>
        <p:spPr>
          <a:xfrm>
            <a:off x="6492240" y="4160520"/>
            <a:ext cx="4937760" cy="1280160"/>
          </a:xfrm>
          <a:prstGeom prst="rect">
            <a:avLst/>
          </a:prstGeom>
          <a:noFill/>
          <a:ln/>
        </p:spPr>
        <p:txBody>
          <a:bodyPr wrap="square" lIns="0" tIns="0" rIns="0" bIns="0" rtlCol="0" anchor="ctr"/>
          <a:lstStyle/>
          <a:p>
            <a:pPr indent="0" marL="0">
              <a:buNone/>
            </a:pPr>
            <a:r>
              <a:rPr lang="en-US" sz="1150" i="1" dirty="0">
                <a:solidFill>
                  <a:schemeClr val="accent5"/>
                </a:solidFill>
              </a:rPr>
              <a:t>Every prediction in this system is a district or field aggregate. Per-plant inference would need ground sensors, which is the first item on the out-of-scope list.</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Project objectives</a:t>
            </a:r>
            <a:endParaRPr lang="en-US" sz="3200" dirty="0"/>
          </a:p>
        </p:txBody>
      </p:sp>
      <p:sp>
        <p:nvSpPr>
          <p:cNvPr id="3" name="Text 1"/>
          <p:cNvSpPr txBox="1"/>
          <p:nvPr/>
        </p:nvSpPr>
        <p:spPr>
          <a:xfrm>
            <a:off x="502920" y="1371600"/>
            <a:ext cx="53721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APPLIED OBJECTIVES</a:t>
            </a:r>
            <a:endParaRPr lang="en-US" sz="1200" dirty="0"/>
          </a:p>
        </p:txBody>
      </p:sp>
      <p:sp>
        <p:nvSpPr>
          <p:cNvPr id="4" name="applied0"/>
          <p:cNvSpPr/>
          <p:nvPr/>
        </p:nvSpPr>
        <p:spPr>
          <a:xfrm>
            <a:off x="502920" y="1783080"/>
            <a:ext cx="5372100" cy="1115568"/>
          </a:xfrm>
          <a:prstGeom prst="roundRect">
            <a:avLst>
              <a:gd name="adj" fmla="val 4918"/>
            </a:avLst>
          </a:prstGeom>
          <a:solidFill>
            <a:schemeClr val="bg2"/>
          </a:solidFill>
          <a:ln w="6350">
            <a:solidFill>
              <a:schemeClr val="accent2"/>
            </a:solidFill>
            <a:prstDash val="solid"/>
          </a:ln>
        </p:spPr>
      </p:sp>
      <p:sp>
        <p:nvSpPr>
          <p:cNvPr id="5" name="Shape 3"/>
          <p:cNvSpPr/>
          <p:nvPr/>
        </p:nvSpPr>
        <p:spPr>
          <a:xfrm>
            <a:off x="685800" y="1965960"/>
            <a:ext cx="310896" cy="310896"/>
          </a:xfrm>
          <a:prstGeom prst="ellipse">
            <a:avLst/>
          </a:prstGeom>
          <a:solidFill>
            <a:schemeClr val="accent1"/>
          </a:solidFill>
          <a:ln/>
        </p:spPr>
      </p:sp>
      <p:sp>
        <p:nvSpPr>
          <p:cNvPr id="6" name="Text 4"/>
          <p:cNvSpPr txBox="1"/>
          <p:nvPr/>
        </p:nvSpPr>
        <p:spPr>
          <a:xfrm>
            <a:off x="685800" y="1965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1106424" y="1938528"/>
            <a:ext cx="4549140" cy="292608"/>
          </a:xfrm>
          <a:prstGeom prst="rect">
            <a:avLst/>
          </a:prstGeom>
          <a:noFill/>
          <a:ln/>
        </p:spPr>
        <p:txBody>
          <a:bodyPr wrap="square" lIns="0" tIns="0" rIns="0" bIns="0" rtlCol="0" anchor="ctr"/>
          <a:lstStyle/>
          <a:p>
            <a:pPr indent="0" marL="0">
              <a:buNone/>
            </a:pPr>
            <a:r>
              <a:rPr lang="en-US" sz="1450" b="1" dirty="0">
                <a:solidFill>
                  <a:schemeClr val="tx2"/>
                </a:solidFill>
              </a:rPr>
              <a:t>Yield prediction web application</a:t>
            </a:r>
            <a:endParaRPr lang="en-US" sz="1450" dirty="0"/>
          </a:p>
        </p:txBody>
      </p:sp>
      <p:sp>
        <p:nvSpPr>
          <p:cNvPr id="8" name="Text 6"/>
          <p:cNvSpPr txBox="1"/>
          <p:nvPr/>
        </p:nvSpPr>
        <p:spPr>
          <a:xfrm>
            <a:off x="1106424" y="2240280"/>
            <a:ext cx="4549140" cy="566928"/>
          </a:xfrm>
          <a:prstGeom prst="rect">
            <a:avLst/>
          </a:prstGeom>
          <a:noFill/>
          <a:ln/>
        </p:spPr>
        <p:txBody>
          <a:bodyPr wrap="square" lIns="0" tIns="0" rIns="0" bIns="0" rtlCol="0" anchor="t"/>
          <a:lstStyle/>
          <a:p>
            <a:pPr indent="0" marL="0">
              <a:buNone/>
            </a:pPr>
            <a:r>
              <a:rPr lang="en-US" sz="1200" dirty="0">
                <a:solidFill>
                  <a:schemeClr val="accent5"/>
                </a:solidFill>
              </a:rPr>
              <a:t>Field-level and district-level crop yield prediction from satellite, soil and weather inputs.</a:t>
            </a:r>
            <a:endParaRPr lang="en-US" sz="1200" dirty="0"/>
          </a:p>
        </p:txBody>
      </p:sp>
      <p:sp>
        <p:nvSpPr>
          <p:cNvPr id="9" name="applied1"/>
          <p:cNvSpPr/>
          <p:nvPr/>
        </p:nvSpPr>
        <p:spPr>
          <a:xfrm>
            <a:off x="502920" y="3081528"/>
            <a:ext cx="5372100" cy="1115568"/>
          </a:xfrm>
          <a:prstGeom prst="roundRect">
            <a:avLst>
              <a:gd name="adj" fmla="val 4918"/>
            </a:avLst>
          </a:prstGeom>
          <a:solidFill>
            <a:schemeClr val="bg2"/>
          </a:solidFill>
          <a:ln w="6350">
            <a:solidFill>
              <a:schemeClr val="accent2"/>
            </a:solidFill>
            <a:prstDash val="solid"/>
          </a:ln>
        </p:spPr>
      </p:sp>
      <p:sp>
        <p:nvSpPr>
          <p:cNvPr id="10" name="Shape 8"/>
          <p:cNvSpPr/>
          <p:nvPr/>
        </p:nvSpPr>
        <p:spPr>
          <a:xfrm>
            <a:off x="685800" y="3264408"/>
            <a:ext cx="310896" cy="310896"/>
          </a:xfrm>
          <a:prstGeom prst="ellipse">
            <a:avLst/>
          </a:prstGeom>
          <a:solidFill>
            <a:schemeClr val="accent1"/>
          </a:solidFill>
          <a:ln/>
        </p:spPr>
      </p:sp>
      <p:sp>
        <p:nvSpPr>
          <p:cNvPr id="11" name="Text 9"/>
          <p:cNvSpPr txBox="1"/>
          <p:nvPr/>
        </p:nvSpPr>
        <p:spPr>
          <a:xfrm>
            <a:off x="685800" y="32644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1106424" y="3236976"/>
            <a:ext cx="4549140" cy="292608"/>
          </a:xfrm>
          <a:prstGeom prst="rect">
            <a:avLst/>
          </a:prstGeom>
          <a:noFill/>
          <a:ln/>
        </p:spPr>
        <p:txBody>
          <a:bodyPr wrap="square" lIns="0" tIns="0" rIns="0" bIns="0" rtlCol="0" anchor="ctr"/>
          <a:lstStyle/>
          <a:p>
            <a:pPr indent="0" marL="0">
              <a:buNone/>
            </a:pPr>
            <a:r>
              <a:rPr lang="en-US" sz="1450" b="1" dirty="0">
                <a:solidFill>
                  <a:schemeClr val="tx2"/>
                </a:solidFill>
              </a:rPr>
              <a:t>Farmer dashboard</a:t>
            </a:r>
            <a:endParaRPr lang="en-US" sz="1450" dirty="0"/>
          </a:p>
        </p:txBody>
      </p:sp>
      <p:sp>
        <p:nvSpPr>
          <p:cNvPr id="13" name="Text 11"/>
          <p:cNvSpPr txBox="1"/>
          <p:nvPr/>
        </p:nvSpPr>
        <p:spPr>
          <a:xfrm>
            <a:off x="1106424" y="3538728"/>
            <a:ext cx="4549140" cy="566928"/>
          </a:xfrm>
          <a:prstGeom prst="rect">
            <a:avLst/>
          </a:prstGeom>
          <a:noFill/>
          <a:ln/>
        </p:spPr>
        <p:txBody>
          <a:bodyPr wrap="square" lIns="0" tIns="0" rIns="0" bIns="0" rtlCol="0" anchor="t"/>
          <a:lstStyle/>
          <a:p>
            <a:pPr indent="0" marL="0">
              <a:buNone/>
            </a:pPr>
            <a:r>
              <a:rPr lang="en-US" sz="1200" dirty="0">
                <a:solidFill>
                  <a:schemeClr val="accent5"/>
                </a:solidFill>
              </a:rPr>
              <a:t>Prediction maps, crop growth tracking and downloadable advisory reports.</a:t>
            </a:r>
            <a:endParaRPr lang="en-US" sz="1200" dirty="0"/>
          </a:p>
        </p:txBody>
      </p:sp>
      <p:sp>
        <p:nvSpPr>
          <p:cNvPr id="14" name="applied2"/>
          <p:cNvSpPr/>
          <p:nvPr/>
        </p:nvSpPr>
        <p:spPr>
          <a:xfrm>
            <a:off x="502920" y="4379976"/>
            <a:ext cx="5372100" cy="1115568"/>
          </a:xfrm>
          <a:prstGeom prst="roundRect">
            <a:avLst>
              <a:gd name="adj" fmla="val 4918"/>
            </a:avLst>
          </a:prstGeom>
          <a:solidFill>
            <a:schemeClr val="bg2"/>
          </a:solidFill>
          <a:ln w="6350">
            <a:solidFill>
              <a:schemeClr val="accent2"/>
            </a:solidFill>
            <a:prstDash val="solid"/>
          </a:ln>
        </p:spPr>
      </p:sp>
      <p:sp>
        <p:nvSpPr>
          <p:cNvPr id="15" name="Shape 13"/>
          <p:cNvSpPr/>
          <p:nvPr/>
        </p:nvSpPr>
        <p:spPr>
          <a:xfrm>
            <a:off x="685800" y="4562856"/>
            <a:ext cx="310896" cy="310896"/>
          </a:xfrm>
          <a:prstGeom prst="ellipse">
            <a:avLst/>
          </a:prstGeom>
          <a:solidFill>
            <a:schemeClr val="accent1"/>
          </a:solidFill>
          <a:ln/>
        </p:spPr>
      </p:sp>
      <p:sp>
        <p:nvSpPr>
          <p:cNvPr id="16" name="Text 14"/>
          <p:cNvSpPr txBox="1"/>
          <p:nvPr/>
        </p:nvSpPr>
        <p:spPr>
          <a:xfrm>
            <a:off x="685800" y="45628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txBox="1"/>
          <p:nvPr/>
        </p:nvSpPr>
        <p:spPr>
          <a:xfrm>
            <a:off x="1106424" y="4535424"/>
            <a:ext cx="4549140" cy="292608"/>
          </a:xfrm>
          <a:prstGeom prst="rect">
            <a:avLst/>
          </a:prstGeom>
          <a:noFill/>
          <a:ln/>
        </p:spPr>
        <p:txBody>
          <a:bodyPr wrap="square" lIns="0" tIns="0" rIns="0" bIns="0" rtlCol="0" anchor="ctr"/>
          <a:lstStyle/>
          <a:p>
            <a:pPr indent="0" marL="0">
              <a:buNone/>
            </a:pPr>
            <a:r>
              <a:rPr lang="en-US" sz="1450" b="1" dirty="0">
                <a:solidFill>
                  <a:schemeClr val="tx2"/>
                </a:solidFill>
              </a:rPr>
              <a:t>Real-time alert system</a:t>
            </a:r>
            <a:endParaRPr lang="en-US" sz="1450" dirty="0"/>
          </a:p>
        </p:txBody>
      </p:sp>
      <p:sp>
        <p:nvSpPr>
          <p:cNvPr id="18" name="Text 16"/>
          <p:cNvSpPr txBox="1"/>
          <p:nvPr/>
        </p:nvSpPr>
        <p:spPr>
          <a:xfrm>
            <a:off x="1106424" y="4837176"/>
            <a:ext cx="4549140" cy="566928"/>
          </a:xfrm>
          <a:prstGeom prst="rect">
            <a:avLst/>
          </a:prstGeom>
          <a:noFill/>
          <a:ln/>
        </p:spPr>
        <p:txBody>
          <a:bodyPr wrap="square" lIns="0" tIns="0" rIns="0" bIns="0" rtlCol="0" anchor="t"/>
          <a:lstStyle/>
          <a:p>
            <a:pPr indent="0" marL="0">
              <a:buNone/>
            </a:pPr>
            <a:r>
              <a:rPr lang="en-US" sz="1200" dirty="0">
                <a:solidFill>
                  <a:schemeClr val="accent5"/>
                </a:solidFill>
              </a:rPr>
              <a:t>Stress and hazard alerts delivered to farmers and to agriculture authorities.</a:t>
            </a:r>
            <a:endParaRPr lang="en-US" sz="1200" dirty="0"/>
          </a:p>
        </p:txBody>
      </p:sp>
      <p:sp>
        <p:nvSpPr>
          <p:cNvPr id="19" name="Text 17"/>
          <p:cNvSpPr txBox="1"/>
          <p:nvPr/>
        </p:nvSpPr>
        <p:spPr>
          <a:xfrm>
            <a:off x="6286500" y="1371600"/>
            <a:ext cx="53721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RESEARCH OBJECTIVES</a:t>
            </a:r>
            <a:endParaRPr lang="en-US" sz="1200" dirty="0"/>
          </a:p>
        </p:txBody>
      </p:sp>
      <p:sp>
        <p:nvSpPr>
          <p:cNvPr id="20" name="research"/>
          <p:cNvSpPr/>
          <p:nvPr/>
        </p:nvSpPr>
        <p:spPr>
          <a:xfrm>
            <a:off x="6286500" y="1783080"/>
            <a:ext cx="5372100" cy="3831336"/>
          </a:xfrm>
          <a:prstGeom prst="roundRect">
            <a:avLst>
              <a:gd name="adj" fmla="val 1432"/>
            </a:avLst>
          </a:prstGeom>
          <a:solidFill>
            <a:schemeClr val="bg2"/>
          </a:solidFill>
          <a:ln w="6350">
            <a:solidFill>
              <a:schemeClr val="accent2"/>
            </a:solidFill>
            <a:prstDash val="solid"/>
          </a:ln>
        </p:spPr>
      </p:sp>
      <p:sp>
        <p:nvSpPr>
          <p:cNvPr id="21" name="Text 19"/>
          <p:cNvSpPr txBox="1"/>
          <p:nvPr/>
        </p:nvSpPr>
        <p:spPr>
          <a:xfrm>
            <a:off x="6515100" y="1993392"/>
            <a:ext cx="4914900" cy="3383280"/>
          </a:xfrm>
          <a:prstGeom prst="rect">
            <a:avLst/>
          </a:prstGeom>
          <a:noFill/>
          <a:ln/>
        </p:spPr>
        <p:txBody>
          <a:bodyPr wrap="square" rtlCol="0" anchor="ctr"/>
          <a:lstStyle/>
          <a:p>
            <a:pPr marL="342900" indent="-342900">
              <a:spcAft>
                <a:spcPts val="600"/>
              </a:spcAft>
              <a:buSzPct val="100000"/>
              <a:buChar char="•"/>
            </a:pPr>
            <a:r>
              <a:rPr lang="en-US" sz="1300" dirty="0">
                <a:solidFill>
                  <a:schemeClr val="tx1"/>
                </a:solidFill>
              </a:rPr>
              <a:t>Compare deep learning (CNN, LSTM) against tree ensembles (Random Forest, XGBoost) across agro-climatic zones.</a:t>
            </a:r>
            <a:endParaRPr lang="en-US" sz="1300" dirty="0"/>
          </a:p>
          <a:p>
            <a:pPr marL="342900" indent="-342900">
              <a:spcAft>
                <a:spcPts val="600"/>
              </a:spcAft>
              <a:buSzPct val="100000"/>
              <a:buChar char="•"/>
            </a:pPr>
            <a:r>
              <a:rPr lang="en-US" sz="1300" dirty="0">
                <a:solidFill>
                  <a:schemeClr val="tx1"/>
                </a:solidFill>
              </a:rPr>
              <a:t>Ablation study quantifying each vegetation index’s marginal contribution to accuracy.</a:t>
            </a:r>
            <a:endParaRPr lang="en-US" sz="1300" dirty="0"/>
          </a:p>
          <a:p>
            <a:pPr marL="342900" indent="-342900">
              <a:spcAft>
                <a:spcPts val="600"/>
              </a:spcAft>
              <a:buSzPct val="100000"/>
              <a:buChar char="•"/>
            </a:pPr>
            <a:r>
              <a:rPr lang="en-US" sz="1300" dirty="0">
                <a:solidFill>
                  <a:schemeClr val="tx1"/>
                </a:solidFill>
              </a:rPr>
              <a:t>Quantify the accuracy gain from adding soil and weather features over satellite-only inputs.</a:t>
            </a:r>
            <a:endParaRPr lang="en-US" sz="1300" dirty="0"/>
          </a:p>
          <a:p>
            <a:pPr marL="342900" indent="-342900">
              <a:spcAft>
                <a:spcPts val="600"/>
              </a:spcAft>
              <a:buSzPct val="100000"/>
              <a:buChar char="•"/>
            </a:pPr>
            <a:r>
              <a:rPr lang="en-US" sz="1300" dirty="0">
                <a:solidFill>
                  <a:schemeClr val="tx1"/>
                </a:solidFill>
              </a:rPr>
              <a:t>Assess the feasibility of pre-season district-level prediction, two to three months ahead of harvest.</a:t>
            </a:r>
            <a:endParaRPr lang="en-US" sz="1300" dirty="0"/>
          </a:p>
        </p:txBody>
      </p:sp>
      <p:sp>
        <p:nvSpPr>
          <p:cNvPr id="2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Major modules and features</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Seven modules, built in dependency order — acquisition first, delivery last</a:t>
            </a:r>
            <a:endParaRPr lang="en-US" sz="1300" dirty="0"/>
          </a:p>
        </p:txBody>
      </p:sp>
      <p:sp>
        <p:nvSpPr>
          <p:cNvPr id="4" name="mod0"/>
          <p:cNvSpPr/>
          <p:nvPr/>
        </p:nvSpPr>
        <p:spPr>
          <a:xfrm>
            <a:off x="502920" y="1371600"/>
            <a:ext cx="2583180" cy="2011680"/>
          </a:xfrm>
          <a:prstGeom prst="roundRect">
            <a:avLst>
              <a:gd name="adj" fmla="val 2727"/>
            </a:avLst>
          </a:prstGeom>
          <a:solidFill>
            <a:schemeClr val="bg2"/>
          </a:solidFill>
          <a:ln w="6350">
            <a:solidFill>
              <a:schemeClr val="accent2"/>
            </a:solidFill>
            <a:prstDash val="solid"/>
          </a:ln>
        </p:spPr>
      </p:sp>
      <p:sp>
        <p:nvSpPr>
          <p:cNvPr id="5" name="Shape 3"/>
          <p:cNvSpPr/>
          <p:nvPr/>
        </p:nvSpPr>
        <p:spPr>
          <a:xfrm>
            <a:off x="704088" y="1572768"/>
            <a:ext cx="329184" cy="329184"/>
          </a:xfrm>
          <a:prstGeom prst="ellipse">
            <a:avLst/>
          </a:prstGeom>
          <a:solidFill>
            <a:schemeClr val="accent1"/>
          </a:solidFill>
          <a:ln/>
        </p:spPr>
      </p:sp>
      <p:sp>
        <p:nvSpPr>
          <p:cNvPr id="6" name="Text 4"/>
          <p:cNvSpPr txBox="1"/>
          <p:nvPr/>
        </p:nvSpPr>
        <p:spPr>
          <a:xfrm>
            <a:off x="704088" y="1572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704088" y="1993392"/>
            <a:ext cx="2180844" cy="548640"/>
          </a:xfrm>
          <a:prstGeom prst="rect">
            <a:avLst/>
          </a:prstGeom>
          <a:noFill/>
          <a:ln/>
        </p:spPr>
        <p:txBody>
          <a:bodyPr wrap="square" lIns="0" tIns="0" rIns="0" bIns="0" rtlCol="0" anchor="t"/>
          <a:lstStyle/>
          <a:p>
            <a:pPr indent="0" marL="0">
              <a:buNone/>
            </a:pPr>
            <a:r>
              <a:rPr lang="en-US" sz="1400" b="1" dirty="0">
                <a:solidFill>
                  <a:schemeClr val="tx2"/>
                </a:solidFill>
              </a:rPr>
              <a:t>Satellite Data Acquisition</a:t>
            </a:r>
            <a:endParaRPr lang="en-US" sz="1400" dirty="0"/>
          </a:p>
        </p:txBody>
      </p:sp>
      <p:sp>
        <p:nvSpPr>
          <p:cNvPr id="8" name="Text 6"/>
          <p:cNvSpPr txBox="1"/>
          <p:nvPr/>
        </p:nvSpPr>
        <p:spPr>
          <a:xfrm>
            <a:off x="704088" y="2560320"/>
            <a:ext cx="2180844" cy="713232"/>
          </a:xfrm>
          <a:prstGeom prst="rect">
            <a:avLst/>
          </a:prstGeom>
          <a:noFill/>
          <a:ln/>
        </p:spPr>
        <p:txBody>
          <a:bodyPr wrap="square" lIns="0" tIns="0" rIns="0" bIns="0" rtlCol="0" anchor="t"/>
          <a:lstStyle/>
          <a:p>
            <a:pPr indent="0" marL="0">
              <a:buNone/>
            </a:pPr>
            <a:r>
              <a:rPr lang="en-US" sz="1150" dirty="0">
                <a:solidFill>
                  <a:schemeClr val="accent5"/>
                </a:solidFill>
              </a:rPr>
              <a:t>Sentinel-1/2 retrieval and cloud masking through Google Earth Engine</a:t>
            </a:r>
            <a:endParaRPr lang="en-US" sz="1150" dirty="0"/>
          </a:p>
        </p:txBody>
      </p:sp>
      <p:sp>
        <p:nvSpPr>
          <p:cNvPr id="9" name="mod1"/>
          <p:cNvSpPr/>
          <p:nvPr/>
        </p:nvSpPr>
        <p:spPr>
          <a:xfrm>
            <a:off x="3360420" y="1371600"/>
            <a:ext cx="2583180" cy="2011680"/>
          </a:xfrm>
          <a:prstGeom prst="roundRect">
            <a:avLst>
              <a:gd name="adj" fmla="val 2727"/>
            </a:avLst>
          </a:prstGeom>
          <a:solidFill>
            <a:schemeClr val="bg2"/>
          </a:solidFill>
          <a:ln w="6350">
            <a:solidFill>
              <a:schemeClr val="accent2"/>
            </a:solidFill>
            <a:prstDash val="solid"/>
          </a:ln>
        </p:spPr>
      </p:sp>
      <p:sp>
        <p:nvSpPr>
          <p:cNvPr id="10" name="Shape 8"/>
          <p:cNvSpPr/>
          <p:nvPr/>
        </p:nvSpPr>
        <p:spPr>
          <a:xfrm>
            <a:off x="3561588" y="1572768"/>
            <a:ext cx="329184" cy="329184"/>
          </a:xfrm>
          <a:prstGeom prst="ellipse">
            <a:avLst/>
          </a:prstGeom>
          <a:solidFill>
            <a:schemeClr val="accent1"/>
          </a:solidFill>
          <a:ln/>
        </p:spPr>
      </p:sp>
      <p:sp>
        <p:nvSpPr>
          <p:cNvPr id="11" name="Text 9"/>
          <p:cNvSpPr txBox="1"/>
          <p:nvPr/>
        </p:nvSpPr>
        <p:spPr>
          <a:xfrm>
            <a:off x="3561588" y="1572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txBox="1"/>
          <p:nvPr/>
        </p:nvSpPr>
        <p:spPr>
          <a:xfrm>
            <a:off x="3561588" y="1993392"/>
            <a:ext cx="2180844" cy="548640"/>
          </a:xfrm>
          <a:prstGeom prst="rect">
            <a:avLst/>
          </a:prstGeom>
          <a:noFill/>
          <a:ln/>
        </p:spPr>
        <p:txBody>
          <a:bodyPr wrap="square" lIns="0" tIns="0" rIns="0" bIns="0" rtlCol="0" anchor="t"/>
          <a:lstStyle/>
          <a:p>
            <a:pPr indent="0" marL="0">
              <a:buNone/>
            </a:pPr>
            <a:r>
              <a:rPr lang="en-US" sz="1400" b="1" dirty="0">
                <a:solidFill>
                  <a:schemeClr val="tx2"/>
                </a:solidFill>
              </a:rPr>
              <a:t>Vegetation Indices</a:t>
            </a:r>
            <a:endParaRPr lang="en-US" sz="1400" dirty="0"/>
          </a:p>
        </p:txBody>
      </p:sp>
      <p:sp>
        <p:nvSpPr>
          <p:cNvPr id="13" name="Text 11"/>
          <p:cNvSpPr txBox="1"/>
          <p:nvPr/>
        </p:nvSpPr>
        <p:spPr>
          <a:xfrm>
            <a:off x="3561588" y="2560320"/>
            <a:ext cx="2180844" cy="713232"/>
          </a:xfrm>
          <a:prstGeom prst="rect">
            <a:avLst/>
          </a:prstGeom>
          <a:noFill/>
          <a:ln/>
        </p:spPr>
        <p:txBody>
          <a:bodyPr wrap="square" lIns="0" tIns="0" rIns="0" bIns="0" rtlCol="0" anchor="t"/>
          <a:lstStyle/>
          <a:p>
            <a:pPr indent="0" marL="0">
              <a:buNone/>
            </a:pPr>
            <a:r>
              <a:rPr lang="en-US" sz="1150" dirty="0">
                <a:solidFill>
                  <a:schemeClr val="accent5"/>
                </a:solidFill>
              </a:rPr>
              <a:t>NDVI, EVI, NDWI, SAVI and NBR computed per observation and composited</a:t>
            </a:r>
            <a:endParaRPr lang="en-US" sz="1150" dirty="0"/>
          </a:p>
        </p:txBody>
      </p:sp>
      <p:sp>
        <p:nvSpPr>
          <p:cNvPr id="14" name="mod2"/>
          <p:cNvSpPr/>
          <p:nvPr/>
        </p:nvSpPr>
        <p:spPr>
          <a:xfrm>
            <a:off x="6217920" y="1371600"/>
            <a:ext cx="2583180" cy="2011680"/>
          </a:xfrm>
          <a:prstGeom prst="roundRect">
            <a:avLst>
              <a:gd name="adj" fmla="val 2727"/>
            </a:avLst>
          </a:prstGeom>
          <a:solidFill>
            <a:schemeClr val="bg2"/>
          </a:solidFill>
          <a:ln w="6350">
            <a:solidFill>
              <a:schemeClr val="accent2"/>
            </a:solidFill>
            <a:prstDash val="solid"/>
          </a:ln>
        </p:spPr>
      </p:sp>
      <p:sp>
        <p:nvSpPr>
          <p:cNvPr id="15" name="Shape 13"/>
          <p:cNvSpPr/>
          <p:nvPr/>
        </p:nvSpPr>
        <p:spPr>
          <a:xfrm>
            <a:off x="6419088" y="1572768"/>
            <a:ext cx="329184" cy="329184"/>
          </a:xfrm>
          <a:prstGeom prst="ellipse">
            <a:avLst/>
          </a:prstGeom>
          <a:solidFill>
            <a:schemeClr val="accent1"/>
          </a:solidFill>
          <a:ln/>
        </p:spPr>
      </p:sp>
      <p:sp>
        <p:nvSpPr>
          <p:cNvPr id="16" name="Text 14"/>
          <p:cNvSpPr txBox="1"/>
          <p:nvPr/>
        </p:nvSpPr>
        <p:spPr>
          <a:xfrm>
            <a:off x="6419088" y="1572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txBox="1"/>
          <p:nvPr/>
        </p:nvSpPr>
        <p:spPr>
          <a:xfrm>
            <a:off x="6419088" y="1993392"/>
            <a:ext cx="2180844" cy="548640"/>
          </a:xfrm>
          <a:prstGeom prst="rect">
            <a:avLst/>
          </a:prstGeom>
          <a:noFill/>
          <a:ln/>
        </p:spPr>
        <p:txBody>
          <a:bodyPr wrap="square" lIns="0" tIns="0" rIns="0" bIns="0" rtlCol="0" anchor="t"/>
          <a:lstStyle/>
          <a:p>
            <a:pPr indent="0" marL="0">
              <a:buNone/>
            </a:pPr>
            <a:r>
              <a:rPr lang="en-US" sz="1400" b="1" dirty="0">
                <a:solidFill>
                  <a:schemeClr val="tx2"/>
                </a:solidFill>
              </a:rPr>
              <a:t>ML Workflow</a:t>
            </a:r>
            <a:endParaRPr lang="en-US" sz="1400" dirty="0"/>
          </a:p>
        </p:txBody>
      </p:sp>
      <p:sp>
        <p:nvSpPr>
          <p:cNvPr id="18" name="Text 16"/>
          <p:cNvSpPr txBox="1"/>
          <p:nvPr/>
        </p:nvSpPr>
        <p:spPr>
          <a:xfrm>
            <a:off x="6419088" y="2560320"/>
            <a:ext cx="2180844" cy="713232"/>
          </a:xfrm>
          <a:prstGeom prst="rect">
            <a:avLst/>
          </a:prstGeom>
          <a:noFill/>
          <a:ln/>
        </p:spPr>
        <p:txBody>
          <a:bodyPr wrap="square" lIns="0" tIns="0" rIns="0" bIns="0" rtlCol="0" anchor="t"/>
          <a:lstStyle/>
          <a:p>
            <a:pPr indent="0" marL="0">
              <a:buNone/>
            </a:pPr>
            <a:r>
              <a:rPr lang="en-US" sz="1150" dirty="0">
                <a:solidFill>
                  <a:schemeClr val="accent5"/>
                </a:solidFill>
              </a:rPr>
              <a:t>Feature engineering, training, benchmarking and model versioning</a:t>
            </a:r>
            <a:endParaRPr lang="en-US" sz="1150" dirty="0"/>
          </a:p>
        </p:txBody>
      </p:sp>
      <p:sp>
        <p:nvSpPr>
          <p:cNvPr id="19" name="mod3"/>
          <p:cNvSpPr/>
          <p:nvPr/>
        </p:nvSpPr>
        <p:spPr>
          <a:xfrm>
            <a:off x="9075420" y="1371600"/>
            <a:ext cx="2583180" cy="2011680"/>
          </a:xfrm>
          <a:prstGeom prst="roundRect">
            <a:avLst>
              <a:gd name="adj" fmla="val 2727"/>
            </a:avLst>
          </a:prstGeom>
          <a:solidFill>
            <a:schemeClr val="bg2"/>
          </a:solidFill>
          <a:ln w="6350">
            <a:solidFill>
              <a:schemeClr val="accent2"/>
            </a:solidFill>
            <a:prstDash val="solid"/>
          </a:ln>
        </p:spPr>
      </p:sp>
      <p:sp>
        <p:nvSpPr>
          <p:cNvPr id="20" name="Shape 18"/>
          <p:cNvSpPr/>
          <p:nvPr/>
        </p:nvSpPr>
        <p:spPr>
          <a:xfrm>
            <a:off x="9276588" y="1572768"/>
            <a:ext cx="329184" cy="329184"/>
          </a:xfrm>
          <a:prstGeom prst="ellipse">
            <a:avLst/>
          </a:prstGeom>
          <a:solidFill>
            <a:schemeClr val="accent1"/>
          </a:solidFill>
          <a:ln/>
        </p:spPr>
      </p:sp>
      <p:sp>
        <p:nvSpPr>
          <p:cNvPr id="21" name="Text 19"/>
          <p:cNvSpPr txBox="1"/>
          <p:nvPr/>
        </p:nvSpPr>
        <p:spPr>
          <a:xfrm>
            <a:off x="9276588" y="1572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2" name="Text 20"/>
          <p:cNvSpPr txBox="1"/>
          <p:nvPr/>
        </p:nvSpPr>
        <p:spPr>
          <a:xfrm>
            <a:off x="9276588" y="1993392"/>
            <a:ext cx="2180844" cy="548640"/>
          </a:xfrm>
          <a:prstGeom prst="rect">
            <a:avLst/>
          </a:prstGeom>
          <a:noFill/>
          <a:ln/>
        </p:spPr>
        <p:txBody>
          <a:bodyPr wrap="square" lIns="0" tIns="0" rIns="0" bIns="0" rtlCol="0" anchor="t"/>
          <a:lstStyle/>
          <a:p>
            <a:pPr indent="0" marL="0">
              <a:buNone/>
            </a:pPr>
            <a:r>
              <a:rPr lang="en-US" sz="1400" b="1" dirty="0">
                <a:solidFill>
                  <a:schemeClr val="tx2"/>
                </a:solidFill>
              </a:rPr>
              <a:t>Ecosystem Monitoring</a:t>
            </a:r>
            <a:endParaRPr lang="en-US" sz="1400" dirty="0"/>
          </a:p>
        </p:txBody>
      </p:sp>
      <p:sp>
        <p:nvSpPr>
          <p:cNvPr id="23" name="Text 21"/>
          <p:cNvSpPr txBox="1"/>
          <p:nvPr/>
        </p:nvSpPr>
        <p:spPr>
          <a:xfrm>
            <a:off x="9276588" y="2560320"/>
            <a:ext cx="2180844" cy="713232"/>
          </a:xfrm>
          <a:prstGeom prst="rect">
            <a:avLst/>
          </a:prstGeom>
          <a:noFill/>
          <a:ln/>
        </p:spPr>
        <p:txBody>
          <a:bodyPr wrap="square" lIns="0" tIns="0" rIns="0" bIns="0" rtlCol="0" anchor="t"/>
          <a:lstStyle/>
          <a:p>
            <a:pPr indent="0" marL="0">
              <a:buNone/>
            </a:pPr>
            <a:r>
              <a:rPr lang="en-US" sz="1150" dirty="0">
                <a:solidFill>
                  <a:schemeClr val="accent5"/>
                </a:solidFill>
              </a:rPr>
              <a:t>Soil salinity and land-degradation tracking from MODIS and Landsat</a:t>
            </a:r>
            <a:endParaRPr lang="en-US" sz="1150" dirty="0"/>
          </a:p>
        </p:txBody>
      </p:sp>
      <p:sp>
        <p:nvSpPr>
          <p:cNvPr id="24" name="mod4"/>
          <p:cNvSpPr/>
          <p:nvPr/>
        </p:nvSpPr>
        <p:spPr>
          <a:xfrm>
            <a:off x="502920" y="3584448"/>
            <a:ext cx="2583180" cy="2011680"/>
          </a:xfrm>
          <a:prstGeom prst="roundRect">
            <a:avLst>
              <a:gd name="adj" fmla="val 2727"/>
            </a:avLst>
          </a:prstGeom>
          <a:solidFill>
            <a:schemeClr val="bg2"/>
          </a:solidFill>
          <a:ln w="6350">
            <a:solidFill>
              <a:schemeClr val="accent2"/>
            </a:solidFill>
            <a:prstDash val="solid"/>
          </a:ln>
        </p:spPr>
      </p:sp>
      <p:sp>
        <p:nvSpPr>
          <p:cNvPr id="25" name="Shape 23"/>
          <p:cNvSpPr/>
          <p:nvPr/>
        </p:nvSpPr>
        <p:spPr>
          <a:xfrm>
            <a:off x="704088" y="3785616"/>
            <a:ext cx="329184" cy="329184"/>
          </a:xfrm>
          <a:prstGeom prst="ellipse">
            <a:avLst/>
          </a:prstGeom>
          <a:solidFill>
            <a:schemeClr val="accent1"/>
          </a:solidFill>
          <a:ln/>
        </p:spPr>
      </p:sp>
      <p:sp>
        <p:nvSpPr>
          <p:cNvPr id="26" name="Text 24"/>
          <p:cNvSpPr txBox="1"/>
          <p:nvPr/>
        </p:nvSpPr>
        <p:spPr>
          <a:xfrm>
            <a:off x="704088" y="37856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7" name="Text 25"/>
          <p:cNvSpPr txBox="1"/>
          <p:nvPr/>
        </p:nvSpPr>
        <p:spPr>
          <a:xfrm>
            <a:off x="704088" y="4206240"/>
            <a:ext cx="2180844" cy="548640"/>
          </a:xfrm>
          <a:prstGeom prst="rect">
            <a:avLst/>
          </a:prstGeom>
          <a:noFill/>
          <a:ln/>
        </p:spPr>
        <p:txBody>
          <a:bodyPr wrap="square" lIns="0" tIns="0" rIns="0" bIns="0" rtlCol="0" anchor="t"/>
          <a:lstStyle/>
          <a:p>
            <a:pPr indent="0" marL="0">
              <a:buNone/>
            </a:pPr>
            <a:r>
              <a:rPr lang="en-US" sz="1400" b="1" dirty="0">
                <a:solidFill>
                  <a:schemeClr val="tx2"/>
                </a:solidFill>
              </a:rPr>
              <a:t>Data Pipeline</a:t>
            </a:r>
            <a:endParaRPr lang="en-US" sz="1400" dirty="0"/>
          </a:p>
        </p:txBody>
      </p:sp>
      <p:sp>
        <p:nvSpPr>
          <p:cNvPr id="28" name="Text 26"/>
          <p:cNvSpPr txBox="1"/>
          <p:nvPr/>
        </p:nvSpPr>
        <p:spPr>
          <a:xfrm>
            <a:off x="704088" y="477316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Ingestion, validation and storage in PostgreSQL with PostGIS</a:t>
            </a:r>
            <a:endParaRPr lang="en-US" sz="1150" dirty="0"/>
          </a:p>
        </p:txBody>
      </p:sp>
      <p:sp>
        <p:nvSpPr>
          <p:cNvPr id="29" name="mod5"/>
          <p:cNvSpPr/>
          <p:nvPr/>
        </p:nvSpPr>
        <p:spPr>
          <a:xfrm>
            <a:off x="3360420" y="3584448"/>
            <a:ext cx="2583180" cy="2011680"/>
          </a:xfrm>
          <a:prstGeom prst="roundRect">
            <a:avLst>
              <a:gd name="adj" fmla="val 2727"/>
            </a:avLst>
          </a:prstGeom>
          <a:solidFill>
            <a:schemeClr val="bg2"/>
          </a:solidFill>
          <a:ln w="6350">
            <a:solidFill>
              <a:schemeClr val="accent2"/>
            </a:solidFill>
            <a:prstDash val="solid"/>
          </a:ln>
        </p:spPr>
      </p:sp>
      <p:sp>
        <p:nvSpPr>
          <p:cNvPr id="30" name="Shape 28"/>
          <p:cNvSpPr/>
          <p:nvPr/>
        </p:nvSpPr>
        <p:spPr>
          <a:xfrm>
            <a:off x="3561588" y="3785616"/>
            <a:ext cx="329184" cy="329184"/>
          </a:xfrm>
          <a:prstGeom prst="ellipse">
            <a:avLst/>
          </a:prstGeom>
          <a:solidFill>
            <a:schemeClr val="accent1"/>
          </a:solidFill>
          <a:ln/>
        </p:spPr>
      </p:sp>
      <p:sp>
        <p:nvSpPr>
          <p:cNvPr id="31" name="Text 29"/>
          <p:cNvSpPr txBox="1"/>
          <p:nvPr/>
        </p:nvSpPr>
        <p:spPr>
          <a:xfrm>
            <a:off x="3561588" y="37856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2" name="Text 30"/>
          <p:cNvSpPr txBox="1"/>
          <p:nvPr/>
        </p:nvSpPr>
        <p:spPr>
          <a:xfrm>
            <a:off x="3561588" y="4206240"/>
            <a:ext cx="2180844" cy="548640"/>
          </a:xfrm>
          <a:prstGeom prst="rect">
            <a:avLst/>
          </a:prstGeom>
          <a:noFill/>
          <a:ln/>
        </p:spPr>
        <p:txBody>
          <a:bodyPr wrap="square" lIns="0" tIns="0" rIns="0" bIns="0" rtlCol="0" anchor="t"/>
          <a:lstStyle/>
          <a:p>
            <a:pPr indent="0" marL="0">
              <a:buNone/>
            </a:pPr>
            <a:r>
              <a:rPr lang="en-US" sz="1400" b="1" dirty="0">
                <a:solidFill>
                  <a:schemeClr val="tx2"/>
                </a:solidFill>
              </a:rPr>
              <a:t>User Dashboard</a:t>
            </a:r>
            <a:endParaRPr lang="en-US" sz="1400" dirty="0"/>
          </a:p>
        </p:txBody>
      </p:sp>
      <p:sp>
        <p:nvSpPr>
          <p:cNvPr id="33" name="Text 31"/>
          <p:cNvSpPr txBox="1"/>
          <p:nvPr/>
        </p:nvSpPr>
        <p:spPr>
          <a:xfrm>
            <a:off x="3561588" y="477316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Role-specific portals for farmers, officials and researchers</a:t>
            </a:r>
            <a:endParaRPr lang="en-US" sz="1150" dirty="0"/>
          </a:p>
        </p:txBody>
      </p:sp>
      <p:sp>
        <p:nvSpPr>
          <p:cNvPr id="34" name="mod6"/>
          <p:cNvSpPr/>
          <p:nvPr/>
        </p:nvSpPr>
        <p:spPr>
          <a:xfrm>
            <a:off x="6217920" y="3584448"/>
            <a:ext cx="2583180" cy="2011680"/>
          </a:xfrm>
          <a:prstGeom prst="roundRect">
            <a:avLst>
              <a:gd name="adj" fmla="val 2727"/>
            </a:avLst>
          </a:prstGeom>
          <a:solidFill>
            <a:schemeClr val="bg2"/>
          </a:solidFill>
          <a:ln w="6350">
            <a:solidFill>
              <a:schemeClr val="accent2"/>
            </a:solidFill>
            <a:prstDash val="solid"/>
          </a:ln>
        </p:spPr>
      </p:sp>
      <p:sp>
        <p:nvSpPr>
          <p:cNvPr id="35" name="Shape 33"/>
          <p:cNvSpPr/>
          <p:nvPr/>
        </p:nvSpPr>
        <p:spPr>
          <a:xfrm>
            <a:off x="6419088" y="3785616"/>
            <a:ext cx="329184" cy="329184"/>
          </a:xfrm>
          <a:prstGeom prst="ellipse">
            <a:avLst/>
          </a:prstGeom>
          <a:solidFill>
            <a:schemeClr val="accent1"/>
          </a:solidFill>
          <a:ln/>
        </p:spPr>
      </p:sp>
      <p:sp>
        <p:nvSpPr>
          <p:cNvPr id="36" name="Text 34"/>
          <p:cNvSpPr txBox="1"/>
          <p:nvPr/>
        </p:nvSpPr>
        <p:spPr>
          <a:xfrm>
            <a:off x="6419088" y="37856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7" name="Text 35"/>
          <p:cNvSpPr txBox="1"/>
          <p:nvPr/>
        </p:nvSpPr>
        <p:spPr>
          <a:xfrm>
            <a:off x="6419088" y="4206240"/>
            <a:ext cx="2180844" cy="548640"/>
          </a:xfrm>
          <a:prstGeom prst="rect">
            <a:avLst/>
          </a:prstGeom>
          <a:noFill/>
          <a:ln/>
        </p:spPr>
        <p:txBody>
          <a:bodyPr wrap="square" lIns="0" tIns="0" rIns="0" bIns="0" rtlCol="0" anchor="t"/>
          <a:lstStyle/>
          <a:p>
            <a:pPr indent="0" marL="0">
              <a:buNone/>
            </a:pPr>
            <a:r>
              <a:rPr lang="en-US" sz="1400" b="1" dirty="0">
                <a:solidFill>
                  <a:schemeClr val="tx2"/>
                </a:solidFill>
              </a:rPr>
              <a:t>Alerts &amp; Notifications</a:t>
            </a:r>
            <a:endParaRPr lang="en-US" sz="1400" dirty="0"/>
          </a:p>
        </p:txBody>
      </p:sp>
      <p:sp>
        <p:nvSpPr>
          <p:cNvPr id="38" name="Text 36"/>
          <p:cNvSpPr txBox="1"/>
          <p:nvPr/>
        </p:nvSpPr>
        <p:spPr>
          <a:xfrm>
            <a:off x="6419088" y="4773168"/>
            <a:ext cx="2180844" cy="713232"/>
          </a:xfrm>
          <a:prstGeom prst="rect">
            <a:avLst/>
          </a:prstGeom>
          <a:noFill/>
          <a:ln/>
        </p:spPr>
        <p:txBody>
          <a:bodyPr wrap="square" lIns="0" tIns="0" rIns="0" bIns="0" rtlCol="0" anchor="t"/>
          <a:lstStyle/>
          <a:p>
            <a:pPr indent="0" marL="0">
              <a:buNone/>
            </a:pPr>
            <a:r>
              <a:rPr lang="en-US" sz="1150" dirty="0">
                <a:solidFill>
                  <a:schemeClr val="accent5"/>
                </a:solidFill>
              </a:rPr>
              <a:t>Threshold and anomaly driven warnings for stress and hazard events</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System architecture</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Three tiers plus external services — anything needing Python lives behind the API, anything that is a plain table read goes direct to Postgres</a:t>
            </a:r>
            <a:endParaRPr lang="en-US" sz="1300" dirty="0"/>
          </a:p>
        </p:txBody>
      </p:sp>
      <p:sp>
        <p:nvSpPr>
          <p:cNvPr id="4" name="tier0"/>
          <p:cNvSpPr/>
          <p:nvPr/>
        </p:nvSpPr>
        <p:spPr>
          <a:xfrm>
            <a:off x="502920" y="1371600"/>
            <a:ext cx="11155680" cy="1133856"/>
          </a:xfrm>
          <a:prstGeom prst="roundRect">
            <a:avLst>
              <a:gd name="adj" fmla="val 4839"/>
            </a:avLst>
          </a:prstGeom>
          <a:solidFill>
            <a:schemeClr val="accent2"/>
          </a:solidFill>
          <a:ln w="6350">
            <a:solidFill>
              <a:schemeClr val="accent2"/>
            </a:solidFill>
            <a:prstDash val="solid"/>
          </a:ln>
        </p:spPr>
      </p:sp>
      <p:sp>
        <p:nvSpPr>
          <p:cNvPr id="5" name="Text 3"/>
          <p:cNvSpPr txBox="1"/>
          <p:nvPr/>
        </p:nvSpPr>
        <p:spPr>
          <a:xfrm>
            <a:off x="777240" y="1517904"/>
            <a:ext cx="3017520" cy="274320"/>
          </a:xfrm>
          <a:prstGeom prst="rect">
            <a:avLst/>
          </a:prstGeom>
          <a:noFill/>
          <a:ln/>
        </p:spPr>
        <p:txBody>
          <a:bodyPr wrap="square" lIns="0" tIns="0" rIns="0" bIns="0" rtlCol="0" anchor="ctr"/>
          <a:lstStyle/>
          <a:p>
            <a:pPr indent="0" marL="0">
              <a:buNone/>
            </a:pPr>
            <a:r>
              <a:rPr lang="en-US" sz="1150" b="1" spc="150" kern="0" dirty="0">
                <a:solidFill>
                  <a:srgbClr val="14281A"/>
                </a:solidFill>
              </a:rPr>
              <a:t>PRESENTATION TIER</a:t>
            </a:r>
            <a:endParaRPr lang="en-US" sz="1150" dirty="0"/>
          </a:p>
        </p:txBody>
      </p:sp>
      <p:sp>
        <p:nvSpPr>
          <p:cNvPr id="6" name="Shape 4"/>
          <p:cNvSpPr/>
          <p:nvPr/>
        </p:nvSpPr>
        <p:spPr>
          <a:xfrm>
            <a:off x="777240" y="1865376"/>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7" name="Text 5"/>
          <p:cNvSpPr txBox="1"/>
          <p:nvPr/>
        </p:nvSpPr>
        <p:spPr>
          <a:xfrm>
            <a:off x="777240" y="1865376"/>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React JS 18</a:t>
            </a:r>
            <a:endParaRPr lang="en-US" sz="1200" dirty="0"/>
          </a:p>
        </p:txBody>
      </p:sp>
      <p:sp>
        <p:nvSpPr>
          <p:cNvPr id="8" name="Shape 6"/>
          <p:cNvSpPr/>
          <p:nvPr/>
        </p:nvSpPr>
        <p:spPr>
          <a:xfrm>
            <a:off x="3474720" y="1865376"/>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9" name="Text 7"/>
          <p:cNvSpPr txBox="1"/>
          <p:nvPr/>
        </p:nvSpPr>
        <p:spPr>
          <a:xfrm>
            <a:off x="3474720" y="1865376"/>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Leaflet.js maps</a:t>
            </a:r>
            <a:endParaRPr lang="en-US" sz="1200" dirty="0"/>
          </a:p>
        </p:txBody>
      </p:sp>
      <p:sp>
        <p:nvSpPr>
          <p:cNvPr id="10" name="Shape 8"/>
          <p:cNvSpPr/>
          <p:nvPr/>
        </p:nvSpPr>
        <p:spPr>
          <a:xfrm>
            <a:off x="6172200" y="1865376"/>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11" name="Text 9"/>
          <p:cNvSpPr txBox="1"/>
          <p:nvPr/>
        </p:nvSpPr>
        <p:spPr>
          <a:xfrm>
            <a:off x="6172200" y="1865376"/>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Charting layer</a:t>
            </a:r>
            <a:endParaRPr lang="en-US" sz="1200" dirty="0"/>
          </a:p>
        </p:txBody>
      </p:sp>
      <p:sp>
        <p:nvSpPr>
          <p:cNvPr id="12" name="Shape 10"/>
          <p:cNvSpPr/>
          <p:nvPr/>
        </p:nvSpPr>
        <p:spPr>
          <a:xfrm>
            <a:off x="8869680" y="1865376"/>
            <a:ext cx="2514600" cy="475488"/>
          </a:xfrm>
          <a:prstGeom prst="roundRect">
            <a:avLst>
              <a:gd name="adj" fmla="val 13462"/>
            </a:avLst>
          </a:prstGeom>
          <a:solidFill>
            <a:srgbClr val="FFFFFF">
              <a:alpha val="55000"/>
            </a:srgbClr>
          </a:solidFill>
          <a:ln w="9525">
            <a:solidFill>
              <a:srgbClr val="FFFFFF">
                <a:alpha val="60000"/>
              </a:srgbClr>
            </a:solidFill>
            <a:prstDash val="solid"/>
          </a:ln>
        </p:spPr>
      </p:sp>
      <p:sp>
        <p:nvSpPr>
          <p:cNvPr id="13" name="Text 11"/>
          <p:cNvSpPr txBox="1"/>
          <p:nvPr/>
        </p:nvSpPr>
        <p:spPr>
          <a:xfrm>
            <a:off x="8869680" y="1865376"/>
            <a:ext cx="2514600" cy="475488"/>
          </a:xfrm>
          <a:prstGeom prst="rect">
            <a:avLst/>
          </a:prstGeom>
          <a:noFill/>
          <a:ln/>
        </p:spPr>
        <p:txBody>
          <a:bodyPr wrap="square" lIns="0" tIns="0" rIns="0" bIns="0" rtlCol="0" anchor="ctr"/>
          <a:lstStyle/>
          <a:p>
            <a:pPr algn="ctr" indent="0" marL="0">
              <a:buNone/>
            </a:pPr>
            <a:r>
              <a:rPr lang="en-US" sz="1200" b="1" dirty="0">
                <a:solidFill>
                  <a:srgbClr val="14281A"/>
                </a:solidFill>
              </a:rPr>
              <a:t>Tailwind CSS</a:t>
            </a:r>
            <a:endParaRPr lang="en-US" sz="1200" dirty="0"/>
          </a:p>
        </p:txBody>
      </p:sp>
      <p:sp>
        <p:nvSpPr>
          <p:cNvPr id="14" name="Shape 12"/>
          <p:cNvSpPr/>
          <p:nvPr/>
        </p:nvSpPr>
        <p:spPr>
          <a:xfrm>
            <a:off x="5989320" y="2523744"/>
            <a:ext cx="182880" cy="128016"/>
          </a:xfrm>
          <a:prstGeom prst="downArrow">
            <a:avLst/>
          </a:prstGeom>
          <a:solidFill>
            <a:schemeClr val="accent2"/>
          </a:solidFill>
          <a:ln/>
        </p:spPr>
      </p:sp>
      <p:sp>
        <p:nvSpPr>
          <p:cNvPr id="15" name="tier1"/>
          <p:cNvSpPr/>
          <p:nvPr/>
        </p:nvSpPr>
        <p:spPr>
          <a:xfrm>
            <a:off x="502920" y="2670048"/>
            <a:ext cx="11155680" cy="1133856"/>
          </a:xfrm>
          <a:prstGeom prst="roundRect">
            <a:avLst>
              <a:gd name="adj" fmla="val 4839"/>
            </a:avLst>
          </a:prstGeom>
          <a:solidFill>
            <a:schemeClr val="accent1"/>
          </a:solidFill>
          <a:ln w="6350">
            <a:solidFill>
              <a:schemeClr val="accent1"/>
            </a:solidFill>
            <a:prstDash val="solid"/>
          </a:ln>
        </p:spPr>
      </p:sp>
      <p:sp>
        <p:nvSpPr>
          <p:cNvPr id="16" name="Text 14"/>
          <p:cNvSpPr txBox="1"/>
          <p:nvPr/>
        </p:nvSpPr>
        <p:spPr>
          <a:xfrm>
            <a:off x="777240" y="2816352"/>
            <a:ext cx="3017520" cy="274320"/>
          </a:xfrm>
          <a:prstGeom prst="rect">
            <a:avLst/>
          </a:prstGeom>
          <a:noFill/>
          <a:ln/>
        </p:spPr>
        <p:txBody>
          <a:bodyPr wrap="square" lIns="0" tIns="0" rIns="0" bIns="0" rtlCol="0" anchor="ctr"/>
          <a:lstStyle/>
          <a:p>
            <a:pPr indent="0" marL="0">
              <a:buNone/>
            </a:pPr>
            <a:r>
              <a:rPr lang="en-US" sz="1150" b="1" spc="150" kern="0" dirty="0">
                <a:solidFill>
                  <a:srgbClr val="FFFFFF"/>
                </a:solidFill>
              </a:rPr>
              <a:t>APPLICATION TIER</a:t>
            </a:r>
            <a:endParaRPr lang="en-US" sz="1150" dirty="0"/>
          </a:p>
        </p:txBody>
      </p:sp>
      <p:sp>
        <p:nvSpPr>
          <p:cNvPr id="17" name="Shape 15"/>
          <p:cNvSpPr/>
          <p:nvPr/>
        </p:nvSpPr>
        <p:spPr>
          <a:xfrm>
            <a:off x="777240" y="3163824"/>
            <a:ext cx="341376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18" name="Text 16"/>
          <p:cNvSpPr txBox="1"/>
          <p:nvPr/>
        </p:nvSpPr>
        <p:spPr>
          <a:xfrm>
            <a:off x="777240" y="3163824"/>
            <a:ext cx="3413760" cy="475488"/>
          </a:xfrm>
          <a:prstGeom prst="rect">
            <a:avLst/>
          </a:prstGeom>
          <a:noFill/>
          <a:ln/>
        </p:spPr>
        <p:txBody>
          <a:bodyPr wrap="square" lIns="0" tIns="0" rIns="0" bIns="0" rtlCol="0" anchor="ctr"/>
          <a:lstStyle/>
          <a:p>
            <a:pPr algn="ctr" indent="0" marL="0">
              <a:buNone/>
            </a:pPr>
            <a:r>
              <a:rPr lang="en-US" sz="1200" b="1" dirty="0">
                <a:solidFill>
                  <a:srgbClr val="FFFFFF"/>
                </a:solidFill>
              </a:rPr>
              <a:t>FastAPI — ML &amp; GEE service</a:t>
            </a:r>
            <a:endParaRPr lang="en-US" sz="1200" dirty="0"/>
          </a:p>
        </p:txBody>
      </p:sp>
      <p:sp>
        <p:nvSpPr>
          <p:cNvPr id="19" name="Shape 17"/>
          <p:cNvSpPr/>
          <p:nvPr/>
        </p:nvSpPr>
        <p:spPr>
          <a:xfrm>
            <a:off x="4373880" y="3163824"/>
            <a:ext cx="341376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0" name="Text 18"/>
          <p:cNvSpPr txBox="1"/>
          <p:nvPr/>
        </p:nvSpPr>
        <p:spPr>
          <a:xfrm>
            <a:off x="4373880" y="3163824"/>
            <a:ext cx="3413760" cy="475488"/>
          </a:xfrm>
          <a:prstGeom prst="rect">
            <a:avLst/>
          </a:prstGeom>
          <a:noFill/>
          <a:ln/>
        </p:spPr>
        <p:txBody>
          <a:bodyPr wrap="square" lIns="0" tIns="0" rIns="0" bIns="0" rtlCol="0" anchor="ctr"/>
          <a:lstStyle/>
          <a:p>
            <a:pPr algn="ctr" indent="0" marL="0">
              <a:buNone/>
            </a:pPr>
            <a:r>
              <a:rPr lang="en-US" sz="1200" b="1" dirty="0">
                <a:solidFill>
                  <a:srgbClr val="FFFFFF"/>
                </a:solidFill>
              </a:rPr>
              <a:t>Supabase Auth</a:t>
            </a:r>
            <a:endParaRPr lang="en-US" sz="1200" dirty="0"/>
          </a:p>
        </p:txBody>
      </p:sp>
      <p:sp>
        <p:nvSpPr>
          <p:cNvPr id="21" name="Shape 19"/>
          <p:cNvSpPr/>
          <p:nvPr/>
        </p:nvSpPr>
        <p:spPr>
          <a:xfrm>
            <a:off x="7970520" y="3163824"/>
            <a:ext cx="341376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2" name="Text 20"/>
          <p:cNvSpPr txBox="1"/>
          <p:nvPr/>
        </p:nvSpPr>
        <p:spPr>
          <a:xfrm>
            <a:off x="7970520" y="3163824"/>
            <a:ext cx="3413760" cy="475488"/>
          </a:xfrm>
          <a:prstGeom prst="rect">
            <a:avLst/>
          </a:prstGeom>
          <a:noFill/>
          <a:ln/>
        </p:spPr>
        <p:txBody>
          <a:bodyPr wrap="square" lIns="0" tIns="0" rIns="0" bIns="0" rtlCol="0" anchor="ctr"/>
          <a:lstStyle/>
          <a:p>
            <a:pPr algn="ctr" indent="0" marL="0">
              <a:buNone/>
            </a:pPr>
            <a:r>
              <a:rPr lang="en-US" sz="1200" b="1" dirty="0">
                <a:solidFill>
                  <a:srgbClr val="FFFFFF"/>
                </a:solidFill>
              </a:rPr>
              <a:t>Row-level access control</a:t>
            </a:r>
            <a:endParaRPr lang="en-US" sz="1200" dirty="0"/>
          </a:p>
        </p:txBody>
      </p:sp>
      <p:sp>
        <p:nvSpPr>
          <p:cNvPr id="23" name="Shape 21"/>
          <p:cNvSpPr/>
          <p:nvPr/>
        </p:nvSpPr>
        <p:spPr>
          <a:xfrm>
            <a:off x="5989320" y="3822192"/>
            <a:ext cx="182880" cy="128016"/>
          </a:xfrm>
          <a:prstGeom prst="downArrow">
            <a:avLst/>
          </a:prstGeom>
          <a:solidFill>
            <a:schemeClr val="accent2"/>
          </a:solidFill>
          <a:ln/>
        </p:spPr>
      </p:sp>
      <p:sp>
        <p:nvSpPr>
          <p:cNvPr id="24" name="tier2"/>
          <p:cNvSpPr/>
          <p:nvPr/>
        </p:nvSpPr>
        <p:spPr>
          <a:xfrm>
            <a:off x="502920" y="3968496"/>
            <a:ext cx="11155680" cy="1133856"/>
          </a:xfrm>
          <a:prstGeom prst="roundRect">
            <a:avLst>
              <a:gd name="adj" fmla="val 4839"/>
            </a:avLst>
          </a:prstGeom>
          <a:solidFill>
            <a:schemeClr val="accent4"/>
          </a:solidFill>
          <a:ln w="6350">
            <a:solidFill>
              <a:schemeClr val="accent4"/>
            </a:solidFill>
            <a:prstDash val="solid"/>
          </a:ln>
        </p:spPr>
      </p:sp>
      <p:sp>
        <p:nvSpPr>
          <p:cNvPr id="25" name="Text 23"/>
          <p:cNvSpPr txBox="1"/>
          <p:nvPr/>
        </p:nvSpPr>
        <p:spPr>
          <a:xfrm>
            <a:off x="777240" y="4114800"/>
            <a:ext cx="3017520" cy="274320"/>
          </a:xfrm>
          <a:prstGeom prst="rect">
            <a:avLst/>
          </a:prstGeom>
          <a:noFill/>
          <a:ln/>
        </p:spPr>
        <p:txBody>
          <a:bodyPr wrap="square" lIns="0" tIns="0" rIns="0" bIns="0" rtlCol="0" anchor="ctr"/>
          <a:lstStyle/>
          <a:p>
            <a:pPr indent="0" marL="0">
              <a:buNone/>
            </a:pPr>
            <a:r>
              <a:rPr lang="en-US" sz="1150" b="1" spc="150" kern="0" dirty="0">
                <a:solidFill>
                  <a:srgbClr val="FFFFFF"/>
                </a:solidFill>
              </a:rPr>
              <a:t>DATA &amp; INTELLIGENCE TIER</a:t>
            </a:r>
            <a:endParaRPr lang="en-US" sz="1150" dirty="0"/>
          </a:p>
        </p:txBody>
      </p:sp>
      <p:sp>
        <p:nvSpPr>
          <p:cNvPr id="26" name="Shape 24"/>
          <p:cNvSpPr/>
          <p:nvPr/>
        </p:nvSpPr>
        <p:spPr>
          <a:xfrm>
            <a:off x="777240" y="4462272"/>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7" name="Text 25"/>
          <p:cNvSpPr txBox="1"/>
          <p:nvPr/>
        </p:nvSpPr>
        <p:spPr>
          <a:xfrm>
            <a:off x="777240" y="4462272"/>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Supabase Postgres + PostGIS</a:t>
            </a:r>
            <a:endParaRPr lang="en-US" sz="1200" dirty="0"/>
          </a:p>
        </p:txBody>
      </p:sp>
      <p:sp>
        <p:nvSpPr>
          <p:cNvPr id="28" name="Shape 26"/>
          <p:cNvSpPr/>
          <p:nvPr/>
        </p:nvSpPr>
        <p:spPr>
          <a:xfrm>
            <a:off x="3474720" y="4462272"/>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29" name="Text 27"/>
          <p:cNvSpPr txBox="1"/>
          <p:nvPr/>
        </p:nvSpPr>
        <p:spPr>
          <a:xfrm>
            <a:off x="3474720" y="4462272"/>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Python ML models</a:t>
            </a:r>
            <a:endParaRPr lang="en-US" sz="1200" dirty="0"/>
          </a:p>
        </p:txBody>
      </p:sp>
      <p:sp>
        <p:nvSpPr>
          <p:cNvPr id="30" name="Shape 28"/>
          <p:cNvSpPr/>
          <p:nvPr/>
        </p:nvSpPr>
        <p:spPr>
          <a:xfrm>
            <a:off x="6172200" y="4462272"/>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31" name="Text 29"/>
          <p:cNvSpPr txBox="1"/>
          <p:nvPr/>
        </p:nvSpPr>
        <p:spPr>
          <a:xfrm>
            <a:off x="6172200" y="4462272"/>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Google Earth Engine</a:t>
            </a:r>
            <a:endParaRPr lang="en-US" sz="1200" dirty="0"/>
          </a:p>
        </p:txBody>
      </p:sp>
      <p:sp>
        <p:nvSpPr>
          <p:cNvPr id="32" name="Shape 30"/>
          <p:cNvSpPr/>
          <p:nvPr/>
        </p:nvSpPr>
        <p:spPr>
          <a:xfrm>
            <a:off x="8869680" y="4462272"/>
            <a:ext cx="2514600" cy="475488"/>
          </a:xfrm>
          <a:prstGeom prst="roundRect">
            <a:avLst>
              <a:gd name="adj" fmla="val 13462"/>
            </a:avLst>
          </a:prstGeom>
          <a:solidFill>
            <a:srgbClr val="FFFFFF">
              <a:alpha val="14000"/>
            </a:srgbClr>
          </a:solidFill>
          <a:ln w="9525">
            <a:solidFill>
              <a:srgbClr val="FFFFFF">
                <a:alpha val="45000"/>
              </a:srgbClr>
            </a:solidFill>
            <a:prstDash val="solid"/>
          </a:ln>
        </p:spPr>
      </p:sp>
      <p:sp>
        <p:nvSpPr>
          <p:cNvPr id="33" name="Text 31"/>
          <p:cNvSpPr txBox="1"/>
          <p:nvPr/>
        </p:nvSpPr>
        <p:spPr>
          <a:xfrm>
            <a:off x="8869680" y="4462272"/>
            <a:ext cx="2514600" cy="475488"/>
          </a:xfrm>
          <a:prstGeom prst="rect">
            <a:avLst/>
          </a:prstGeom>
          <a:noFill/>
          <a:ln/>
        </p:spPr>
        <p:txBody>
          <a:bodyPr wrap="square" lIns="0" tIns="0" rIns="0" bIns="0" rtlCol="0" anchor="ctr"/>
          <a:lstStyle/>
          <a:p>
            <a:pPr algn="ctr" indent="0" marL="0">
              <a:buNone/>
            </a:pPr>
            <a:r>
              <a:rPr lang="en-US" sz="1200" b="1" dirty="0">
                <a:solidFill>
                  <a:srgbClr val="FFFFFF"/>
                </a:solidFill>
              </a:rPr>
              <a:t>Cloud storage</a:t>
            </a:r>
            <a:endParaRPr lang="en-US" sz="1200" dirty="0"/>
          </a:p>
        </p:txBody>
      </p:sp>
      <p:sp>
        <p:nvSpPr>
          <p:cNvPr id="34" name="external"/>
          <p:cNvSpPr/>
          <p:nvPr/>
        </p:nvSpPr>
        <p:spPr>
          <a:xfrm>
            <a:off x="502920" y="5266944"/>
            <a:ext cx="11155680" cy="749808"/>
          </a:xfrm>
          <a:prstGeom prst="roundRect">
            <a:avLst>
              <a:gd name="adj" fmla="val 7317"/>
            </a:avLst>
          </a:prstGeom>
          <a:solidFill>
            <a:schemeClr val="bg2"/>
          </a:solidFill>
          <a:ln w="6350">
            <a:solidFill>
              <a:schemeClr val="accent2"/>
            </a:solidFill>
            <a:prstDash val="solid"/>
          </a:ln>
        </p:spPr>
      </p:sp>
      <p:sp>
        <p:nvSpPr>
          <p:cNvPr id="35" name="Text 33"/>
          <p:cNvSpPr txBox="1"/>
          <p:nvPr/>
        </p:nvSpPr>
        <p:spPr>
          <a:xfrm>
            <a:off x="777240" y="5358384"/>
            <a:ext cx="3017520" cy="237744"/>
          </a:xfrm>
          <a:prstGeom prst="rect">
            <a:avLst/>
          </a:prstGeom>
          <a:noFill/>
          <a:ln/>
        </p:spPr>
        <p:txBody>
          <a:bodyPr wrap="square" lIns="0" tIns="0" rIns="0" bIns="0" rtlCol="0" anchor="ctr"/>
          <a:lstStyle/>
          <a:p>
            <a:pPr indent="0" marL="0">
              <a:buNone/>
            </a:pPr>
            <a:r>
              <a:rPr lang="en-US" sz="1050" b="1" spc="150" kern="0" dirty="0">
                <a:solidFill>
                  <a:schemeClr val="accent5"/>
                </a:solidFill>
              </a:rPr>
              <a:t>EXTERNAL SERVICES</a:t>
            </a:r>
            <a:endParaRPr lang="en-US" sz="1050" dirty="0"/>
          </a:p>
        </p:txBody>
      </p:sp>
      <p:sp>
        <p:nvSpPr>
          <p:cNvPr id="36" name="Text 34"/>
          <p:cNvSpPr txBox="1"/>
          <p:nvPr/>
        </p:nvSpPr>
        <p:spPr>
          <a:xfrm>
            <a:off x="777240" y="5614416"/>
            <a:ext cx="10607040" cy="310896"/>
          </a:xfrm>
          <a:prstGeom prst="rect">
            <a:avLst/>
          </a:prstGeom>
          <a:noFill/>
          <a:ln/>
        </p:spPr>
        <p:txBody>
          <a:bodyPr wrap="square" lIns="0" tIns="0" rIns="0" bIns="0" rtlCol="0" anchor="ctr"/>
          <a:lstStyle/>
          <a:p>
            <a:pPr indent="0" marL="0">
              <a:buNone/>
            </a:pPr>
            <a:r>
              <a:rPr lang="en-US" sz="1300" dirty="0">
                <a:solidFill>
                  <a:schemeClr val="tx1"/>
                </a:solidFill>
              </a:rPr>
              <a:t>Google Earth Engine   ·   PMD Weather API   ·   FAO SoilGrids   ·   Cloud deployment</a:t>
            </a: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Portal overview</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Three separate authenticated portals over one database — no shared sign-in, each with its own access hierarchy</a:t>
            </a:r>
            <a:endParaRPr lang="en-US" sz="1300" dirty="0"/>
          </a:p>
        </p:txBody>
      </p:sp>
      <p:sp>
        <p:nvSpPr>
          <p:cNvPr id="4" name="portal0"/>
          <p:cNvSpPr/>
          <p:nvPr/>
        </p:nvSpPr>
        <p:spPr>
          <a:xfrm>
            <a:off x="502920" y="1371600"/>
            <a:ext cx="11155680" cy="1298448"/>
          </a:xfrm>
          <a:prstGeom prst="roundRect">
            <a:avLst>
              <a:gd name="adj" fmla="val 4225"/>
            </a:avLst>
          </a:prstGeom>
          <a:solidFill>
            <a:schemeClr val="bg2"/>
          </a:solidFill>
          <a:ln w="6350">
            <a:solidFill>
              <a:schemeClr val="accent2"/>
            </a:solidFill>
            <a:prstDash val="solid"/>
          </a:ln>
        </p:spPr>
      </p:sp>
      <p:sp>
        <p:nvSpPr>
          <p:cNvPr id="5" name="Text 3"/>
          <p:cNvSpPr txBox="1"/>
          <p:nvPr/>
        </p:nvSpPr>
        <p:spPr>
          <a:xfrm>
            <a:off x="777240" y="1554480"/>
            <a:ext cx="2926080" cy="329184"/>
          </a:xfrm>
          <a:prstGeom prst="rect">
            <a:avLst/>
          </a:prstGeom>
          <a:noFill/>
          <a:ln/>
        </p:spPr>
        <p:txBody>
          <a:bodyPr wrap="square" lIns="0" tIns="0" rIns="0" bIns="0" rtlCol="0" anchor="ctr"/>
          <a:lstStyle/>
          <a:p>
            <a:pPr indent="0" marL="0">
              <a:buNone/>
            </a:pPr>
            <a:r>
              <a:rPr lang="en-US" sz="1800" b="1" dirty="0">
                <a:solidFill>
                  <a:schemeClr val="tx2"/>
                </a:solidFill>
              </a:rPr>
              <a:t>Farmer Portal</a:t>
            </a:r>
            <a:endParaRPr lang="en-US" sz="1800" dirty="0"/>
          </a:p>
        </p:txBody>
      </p:sp>
      <p:sp>
        <p:nvSpPr>
          <p:cNvPr id="6" name="Shape 4"/>
          <p:cNvSpPr/>
          <p:nvPr/>
        </p:nvSpPr>
        <p:spPr>
          <a:xfrm>
            <a:off x="3794760" y="1591056"/>
            <a:ext cx="1389888" cy="274320"/>
          </a:xfrm>
          <a:prstGeom prst="roundRect">
            <a:avLst>
              <a:gd name="adj" fmla="val 30000"/>
            </a:avLst>
          </a:prstGeom>
          <a:solidFill>
            <a:schemeClr val="accent3"/>
          </a:solidFill>
          <a:ln/>
        </p:spPr>
      </p:sp>
      <p:sp>
        <p:nvSpPr>
          <p:cNvPr id="7" name="Text 5"/>
          <p:cNvSpPr txBox="1"/>
          <p:nvPr/>
        </p:nvSpPr>
        <p:spPr>
          <a:xfrm>
            <a:off x="3794760" y="1591056"/>
            <a:ext cx="1389888" cy="274320"/>
          </a:xfrm>
          <a:prstGeom prst="rect">
            <a:avLst/>
          </a:prstGeom>
          <a:noFill/>
          <a:ln/>
        </p:spPr>
        <p:txBody>
          <a:bodyPr wrap="square" lIns="0" tIns="0" rIns="0" bIns="0" rtlCol="0" anchor="ctr"/>
          <a:lstStyle/>
          <a:p>
            <a:pPr algn="ctr" indent="0" marL="0">
              <a:buNone/>
            </a:pPr>
            <a:r>
              <a:rPr lang="en-US" sz="950" b="1" dirty="0">
                <a:solidFill>
                  <a:srgbClr val="14281A"/>
                </a:solidFill>
              </a:rPr>
              <a:t>IN PROGRESS</a:t>
            </a:r>
            <a:endParaRPr lang="en-US" sz="950" dirty="0"/>
          </a:p>
        </p:txBody>
      </p:sp>
      <p:sp>
        <p:nvSpPr>
          <p:cNvPr id="8" name="Text 6"/>
          <p:cNvSpPr txBox="1"/>
          <p:nvPr/>
        </p:nvSpPr>
        <p:spPr>
          <a:xfrm>
            <a:off x="5349240" y="1572768"/>
            <a:ext cx="5943600" cy="310896"/>
          </a:xfrm>
          <a:prstGeom prst="rect">
            <a:avLst/>
          </a:prstGeom>
          <a:noFill/>
          <a:ln/>
        </p:spPr>
        <p:txBody>
          <a:bodyPr wrap="square" lIns="0" tIns="0" rIns="0" bIns="0" rtlCol="0" anchor="ctr"/>
          <a:lstStyle/>
          <a:p>
            <a:pPr indent="0" marL="0">
              <a:buNone/>
            </a:pPr>
            <a:r>
              <a:rPr lang="en-US" sz="1250" b="1" dirty="0">
                <a:solidFill>
                  <a:schemeClr val="accent1"/>
                </a:solidFill>
              </a:rPr>
              <a:t>Core dashboard UI and data wiring underway</a:t>
            </a:r>
            <a:endParaRPr lang="en-US" sz="1250" dirty="0"/>
          </a:p>
        </p:txBody>
      </p:sp>
      <p:sp>
        <p:nvSpPr>
          <p:cNvPr id="9" name="Text 7"/>
          <p:cNvSpPr txBox="1"/>
          <p:nvPr/>
        </p:nvSpPr>
        <p:spPr>
          <a:xfrm>
            <a:off x="777240" y="1975104"/>
            <a:ext cx="10607040" cy="548640"/>
          </a:xfrm>
          <a:prstGeom prst="rect">
            <a:avLst/>
          </a:prstGeom>
          <a:noFill/>
          <a:ln/>
        </p:spPr>
        <p:txBody>
          <a:bodyPr wrap="square" lIns="0" tIns="0" rIns="0" bIns="0" rtlCol="0" anchor="t"/>
          <a:lstStyle/>
          <a:p>
            <a:pPr indent="0" marL="0">
              <a:buNone/>
            </a:pPr>
            <a:r>
              <a:rPr lang="en-US" sz="1250" dirty="0">
                <a:solidFill>
                  <a:schemeClr val="accent5"/>
                </a:solidFill>
              </a:rPr>
              <a:t>Satellite crop monitoring, yield forecasts, stress alerts and per-farm advisory reports.</a:t>
            </a:r>
            <a:endParaRPr lang="en-US" sz="1250" dirty="0"/>
          </a:p>
        </p:txBody>
      </p:sp>
      <p:sp>
        <p:nvSpPr>
          <p:cNvPr id="10" name="portal1"/>
          <p:cNvSpPr/>
          <p:nvPr/>
        </p:nvSpPr>
        <p:spPr>
          <a:xfrm>
            <a:off x="502920" y="2852928"/>
            <a:ext cx="11155680" cy="1298448"/>
          </a:xfrm>
          <a:prstGeom prst="roundRect">
            <a:avLst>
              <a:gd name="adj" fmla="val 4225"/>
            </a:avLst>
          </a:prstGeom>
          <a:solidFill>
            <a:schemeClr val="bg2"/>
          </a:solidFill>
          <a:ln w="6350">
            <a:solidFill>
              <a:schemeClr val="accent2"/>
            </a:solidFill>
            <a:prstDash val="solid"/>
          </a:ln>
        </p:spPr>
      </p:sp>
      <p:sp>
        <p:nvSpPr>
          <p:cNvPr id="11" name="Text 9"/>
          <p:cNvSpPr txBox="1"/>
          <p:nvPr/>
        </p:nvSpPr>
        <p:spPr>
          <a:xfrm>
            <a:off x="777240" y="3035808"/>
            <a:ext cx="2926080" cy="329184"/>
          </a:xfrm>
          <a:prstGeom prst="rect">
            <a:avLst/>
          </a:prstGeom>
          <a:noFill/>
          <a:ln/>
        </p:spPr>
        <p:txBody>
          <a:bodyPr wrap="square" lIns="0" tIns="0" rIns="0" bIns="0" rtlCol="0" anchor="ctr"/>
          <a:lstStyle/>
          <a:p>
            <a:pPr indent="0" marL="0">
              <a:buNone/>
            </a:pPr>
            <a:r>
              <a:rPr lang="en-US" sz="1800" b="1" dirty="0">
                <a:solidFill>
                  <a:schemeClr val="tx2"/>
                </a:solidFill>
              </a:rPr>
              <a:t>Government Portal</a:t>
            </a:r>
            <a:endParaRPr lang="en-US" sz="1800" dirty="0"/>
          </a:p>
        </p:txBody>
      </p:sp>
      <p:sp>
        <p:nvSpPr>
          <p:cNvPr id="12" name="Shape 10"/>
          <p:cNvSpPr/>
          <p:nvPr/>
        </p:nvSpPr>
        <p:spPr>
          <a:xfrm>
            <a:off x="3794760" y="3072384"/>
            <a:ext cx="1389888" cy="274320"/>
          </a:xfrm>
          <a:prstGeom prst="roundRect">
            <a:avLst>
              <a:gd name="adj" fmla="val 30000"/>
            </a:avLst>
          </a:prstGeom>
          <a:solidFill>
            <a:schemeClr val="accent1"/>
          </a:solidFill>
          <a:ln/>
        </p:spPr>
      </p:sp>
      <p:sp>
        <p:nvSpPr>
          <p:cNvPr id="13" name="Text 11"/>
          <p:cNvSpPr txBox="1"/>
          <p:nvPr/>
        </p:nvSpPr>
        <p:spPr>
          <a:xfrm>
            <a:off x="3794760" y="3072384"/>
            <a:ext cx="1389888" cy="274320"/>
          </a:xfrm>
          <a:prstGeom prst="rect">
            <a:avLst/>
          </a:prstGeom>
          <a:noFill/>
          <a:ln/>
        </p:spPr>
        <p:txBody>
          <a:bodyPr wrap="square" lIns="0" tIns="0" rIns="0" bIns="0" rtlCol="0" anchor="ctr"/>
          <a:lstStyle/>
          <a:p>
            <a:pPr algn="ctr" indent="0" marL="0">
              <a:buNone/>
            </a:pPr>
            <a:r>
              <a:rPr lang="en-US" sz="950" b="1" dirty="0">
                <a:solidFill>
                  <a:srgbClr val="FFFFFF"/>
                </a:solidFill>
              </a:rPr>
              <a:t>COMPLETED</a:t>
            </a:r>
            <a:endParaRPr lang="en-US" sz="950" dirty="0"/>
          </a:p>
        </p:txBody>
      </p:sp>
      <p:sp>
        <p:nvSpPr>
          <p:cNvPr id="14" name="Text 12"/>
          <p:cNvSpPr txBox="1"/>
          <p:nvPr/>
        </p:nvSpPr>
        <p:spPr>
          <a:xfrm>
            <a:off x="5349240" y="3054096"/>
            <a:ext cx="5943600" cy="310896"/>
          </a:xfrm>
          <a:prstGeom prst="rect">
            <a:avLst/>
          </a:prstGeom>
          <a:noFill/>
          <a:ln/>
        </p:spPr>
        <p:txBody>
          <a:bodyPr wrap="square" lIns="0" tIns="0" rIns="0" bIns="0" rtlCol="0" anchor="ctr"/>
          <a:lstStyle/>
          <a:p>
            <a:pPr indent="0" marL="0">
              <a:buNone/>
            </a:pPr>
            <a:r>
              <a:rPr lang="en-US" sz="1250" b="1" dirty="0">
                <a:solidFill>
                  <a:schemeClr val="accent1"/>
                </a:solidFill>
              </a:rPr>
              <a:t>14 screens · 3-tier access hierarchy</a:t>
            </a:r>
            <a:endParaRPr lang="en-US" sz="1250" dirty="0"/>
          </a:p>
        </p:txBody>
      </p:sp>
      <p:sp>
        <p:nvSpPr>
          <p:cNvPr id="15" name="Text 13"/>
          <p:cNvSpPr txBox="1"/>
          <p:nvPr/>
        </p:nvSpPr>
        <p:spPr>
          <a:xfrm>
            <a:off x="777240" y="3456432"/>
            <a:ext cx="10607040" cy="548640"/>
          </a:xfrm>
          <a:prstGeom prst="rect">
            <a:avLst/>
          </a:prstGeom>
          <a:noFill/>
          <a:ln/>
        </p:spPr>
        <p:txBody>
          <a:bodyPr wrap="square" lIns="0" tIns="0" rIns="0" bIns="0" rtlCol="0" anchor="t"/>
          <a:lstStyle/>
          <a:p>
            <a:pPr indent="0" marL="0">
              <a:buNone/>
            </a:pPr>
            <a:r>
              <a:rPr lang="en-US" sz="1250" dirty="0">
                <a:solidFill>
                  <a:schemeClr val="accent5"/>
                </a:solidFill>
              </a:rPr>
              <a:t>District-level analysis for policymakers. Super Admin → District Manager → Employee, invite-only.</a:t>
            </a:r>
            <a:endParaRPr lang="en-US" sz="1250" dirty="0"/>
          </a:p>
        </p:txBody>
      </p:sp>
      <p:sp>
        <p:nvSpPr>
          <p:cNvPr id="16" name="portal2"/>
          <p:cNvSpPr/>
          <p:nvPr/>
        </p:nvSpPr>
        <p:spPr>
          <a:xfrm>
            <a:off x="502920" y="4334256"/>
            <a:ext cx="11155680" cy="1298448"/>
          </a:xfrm>
          <a:prstGeom prst="roundRect">
            <a:avLst>
              <a:gd name="adj" fmla="val 4225"/>
            </a:avLst>
          </a:prstGeom>
          <a:solidFill>
            <a:schemeClr val="bg2"/>
          </a:solidFill>
          <a:ln w="6350">
            <a:solidFill>
              <a:schemeClr val="accent2"/>
            </a:solidFill>
            <a:prstDash val="solid"/>
          </a:ln>
        </p:spPr>
      </p:sp>
      <p:sp>
        <p:nvSpPr>
          <p:cNvPr id="17" name="Text 15"/>
          <p:cNvSpPr txBox="1"/>
          <p:nvPr/>
        </p:nvSpPr>
        <p:spPr>
          <a:xfrm>
            <a:off x="777240" y="4517136"/>
            <a:ext cx="2926080" cy="329184"/>
          </a:xfrm>
          <a:prstGeom prst="rect">
            <a:avLst/>
          </a:prstGeom>
          <a:noFill/>
          <a:ln/>
        </p:spPr>
        <p:txBody>
          <a:bodyPr wrap="square" lIns="0" tIns="0" rIns="0" bIns="0" rtlCol="0" anchor="ctr"/>
          <a:lstStyle/>
          <a:p>
            <a:pPr indent="0" marL="0">
              <a:buNone/>
            </a:pPr>
            <a:r>
              <a:rPr lang="en-US" sz="1800" b="1" dirty="0">
                <a:solidFill>
                  <a:schemeClr val="tx2"/>
                </a:solidFill>
              </a:rPr>
              <a:t>Researcher Portal</a:t>
            </a:r>
            <a:endParaRPr lang="en-US" sz="1800" dirty="0"/>
          </a:p>
        </p:txBody>
      </p:sp>
      <p:sp>
        <p:nvSpPr>
          <p:cNvPr id="18" name="Shape 16"/>
          <p:cNvSpPr/>
          <p:nvPr/>
        </p:nvSpPr>
        <p:spPr>
          <a:xfrm>
            <a:off x="3794760" y="4553712"/>
            <a:ext cx="1389888" cy="274320"/>
          </a:xfrm>
          <a:prstGeom prst="roundRect">
            <a:avLst>
              <a:gd name="adj" fmla="val 30000"/>
            </a:avLst>
          </a:prstGeom>
          <a:solidFill>
            <a:schemeClr val="accent1"/>
          </a:solidFill>
          <a:ln/>
        </p:spPr>
      </p:sp>
      <p:sp>
        <p:nvSpPr>
          <p:cNvPr id="19" name="Text 17"/>
          <p:cNvSpPr txBox="1"/>
          <p:nvPr/>
        </p:nvSpPr>
        <p:spPr>
          <a:xfrm>
            <a:off x="3794760" y="4553712"/>
            <a:ext cx="1389888" cy="274320"/>
          </a:xfrm>
          <a:prstGeom prst="rect">
            <a:avLst/>
          </a:prstGeom>
          <a:noFill/>
          <a:ln/>
        </p:spPr>
        <p:txBody>
          <a:bodyPr wrap="square" lIns="0" tIns="0" rIns="0" bIns="0" rtlCol="0" anchor="ctr"/>
          <a:lstStyle/>
          <a:p>
            <a:pPr algn="ctr" indent="0" marL="0">
              <a:buNone/>
            </a:pPr>
            <a:r>
              <a:rPr lang="en-US" sz="950" b="1" dirty="0">
                <a:solidFill>
                  <a:srgbClr val="FFFFFF"/>
                </a:solidFill>
              </a:rPr>
              <a:t>COMPLETED</a:t>
            </a:r>
            <a:endParaRPr lang="en-US" sz="950" dirty="0"/>
          </a:p>
        </p:txBody>
      </p:sp>
      <p:sp>
        <p:nvSpPr>
          <p:cNvPr id="20" name="Text 18"/>
          <p:cNvSpPr txBox="1"/>
          <p:nvPr/>
        </p:nvSpPr>
        <p:spPr>
          <a:xfrm>
            <a:off x="5349240" y="4535424"/>
            <a:ext cx="5943600" cy="310896"/>
          </a:xfrm>
          <a:prstGeom prst="rect">
            <a:avLst/>
          </a:prstGeom>
          <a:noFill/>
          <a:ln/>
        </p:spPr>
        <p:txBody>
          <a:bodyPr wrap="square" lIns="0" tIns="0" rIns="0" bIns="0" rtlCol="0" anchor="ctr"/>
          <a:lstStyle/>
          <a:p>
            <a:pPr indent="0" marL="0">
              <a:buNone/>
            </a:pPr>
            <a:r>
              <a:rPr lang="en-US" sz="1250" b="1" dirty="0">
                <a:solidFill>
                  <a:schemeClr val="accent1"/>
                </a:solidFill>
              </a:rPr>
              <a:t>11 screens · 2-tier access hierarchy</a:t>
            </a:r>
            <a:endParaRPr lang="en-US" sz="1250" dirty="0"/>
          </a:p>
        </p:txBody>
      </p:sp>
      <p:sp>
        <p:nvSpPr>
          <p:cNvPr id="21" name="Text 19"/>
          <p:cNvSpPr txBox="1"/>
          <p:nvPr/>
        </p:nvSpPr>
        <p:spPr>
          <a:xfrm>
            <a:off x="777240" y="4937760"/>
            <a:ext cx="10607040" cy="548640"/>
          </a:xfrm>
          <a:prstGeom prst="rect">
            <a:avLst/>
          </a:prstGeom>
          <a:noFill/>
          <a:ln/>
        </p:spPr>
        <p:txBody>
          <a:bodyPr wrap="square" lIns="0" tIns="0" rIns="0" bIns="0" rtlCol="0" anchor="t"/>
          <a:lstStyle/>
          <a:p>
            <a:pPr indent="0" marL="0">
              <a:buNone/>
            </a:pPr>
            <a:r>
              <a:rPr lang="en-US" sz="1250" dirty="0">
                <a:solidFill>
                  <a:schemeClr val="accent5"/>
                </a:solidFill>
              </a:rPr>
              <a:t>Dataset access, model training and evaluation. Research Lead → Researcher, permission-gated.</a:t>
            </a:r>
            <a:endParaRPr lang="en-US" sz="1250" dirty="0"/>
          </a:p>
        </p:txBody>
      </p:sp>
      <p:sp>
        <p:nvSpPr>
          <p:cNvPr id="22" name="Text 20"/>
          <p:cNvSpPr txBox="1"/>
          <p:nvPr/>
        </p:nvSpPr>
        <p:spPr>
          <a:xfrm>
            <a:off x="502920" y="5897880"/>
            <a:ext cx="11155680" cy="310896"/>
          </a:xfrm>
          <a:prstGeom prst="rect">
            <a:avLst/>
          </a:prstGeom>
          <a:noFill/>
          <a:ln/>
        </p:spPr>
        <p:txBody>
          <a:bodyPr wrap="square" lIns="0" tIns="0" rIns="0" bIns="0" rtlCol="0" anchor="ctr"/>
          <a:lstStyle/>
          <a:p>
            <a:pPr indent="0" marL="0">
              <a:buNone/>
            </a:pPr>
            <a:r>
              <a:rPr lang="en-US" sz="1200" i="1" dirty="0">
                <a:solidFill>
                  <a:schemeClr val="accent5"/>
                </a:solidFill>
              </a:rPr>
              <a:t>Access is enforced by row-level policies in the database, not by hiding buttons in the interface.</a:t>
            </a:r>
            <a:endParaRPr lang="en-US" sz="12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Government Portal</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14 screens in five groups · Super Admin → District Manager → Employee</a:t>
            </a:r>
            <a:endParaRPr lang="en-US" sz="1300" dirty="0"/>
          </a:p>
        </p:txBody>
      </p:sp>
      <p:sp>
        <p:nvSpPr>
          <p:cNvPr id="4" name="grp0"/>
          <p:cNvSpPr/>
          <p:nvPr/>
        </p:nvSpPr>
        <p:spPr>
          <a:xfrm>
            <a:off x="502920" y="1371600"/>
            <a:ext cx="739358" cy="2743200"/>
          </a:xfrm>
          <a:prstGeom prst="roundRect">
            <a:avLst>
              <a:gd name="adj" fmla="val 7420"/>
            </a:avLst>
          </a:prstGeom>
          <a:solidFill>
            <a:schemeClr val="bg2"/>
          </a:solidFill>
          <a:ln w="6350">
            <a:solidFill>
              <a:schemeClr val="accent2"/>
            </a:solidFill>
            <a:prstDash val="solid"/>
          </a:ln>
        </p:spPr>
      </p:sp>
      <p:sp>
        <p:nvSpPr>
          <p:cNvPr id="5" name="Text 3"/>
          <p:cNvSpPr txBox="1"/>
          <p:nvPr/>
        </p:nvSpPr>
        <p:spPr>
          <a:xfrm>
            <a:off x="649224" y="1517904"/>
            <a:ext cx="446750"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OVERVIEW</a:t>
            </a:r>
            <a:endParaRPr lang="en-US" sz="1050" dirty="0"/>
          </a:p>
        </p:txBody>
      </p:sp>
      <p:sp>
        <p:nvSpPr>
          <p:cNvPr id="6" name="Shape 4"/>
          <p:cNvSpPr/>
          <p:nvPr/>
        </p:nvSpPr>
        <p:spPr>
          <a:xfrm>
            <a:off x="649224" y="1993392"/>
            <a:ext cx="446750" cy="420624"/>
          </a:xfrm>
          <a:prstGeom prst="roundRect">
            <a:avLst>
              <a:gd name="adj" fmla="val 15217"/>
            </a:avLst>
          </a:prstGeom>
          <a:solidFill>
            <a:srgbClr val="FFFFFF"/>
          </a:solidFill>
          <a:ln w="6350">
            <a:solidFill>
              <a:schemeClr val="accent2"/>
            </a:solidFill>
            <a:prstDash val="solid"/>
          </a:ln>
        </p:spPr>
      </p:sp>
      <p:sp>
        <p:nvSpPr>
          <p:cNvPr id="7" name="Text 5"/>
          <p:cNvSpPr txBox="1"/>
          <p:nvPr/>
        </p:nvSpPr>
        <p:spPr>
          <a:xfrm>
            <a:off x="722376" y="1993392"/>
            <a:ext cx="300446" cy="420624"/>
          </a:xfrm>
          <a:prstGeom prst="rect">
            <a:avLst/>
          </a:prstGeom>
          <a:noFill/>
          <a:ln/>
        </p:spPr>
        <p:txBody>
          <a:bodyPr wrap="square" lIns="0" tIns="0" rIns="0" bIns="0" rtlCol="0" anchor="ctr"/>
          <a:lstStyle/>
          <a:p>
            <a:pPr indent="0" marL="0">
              <a:buNone/>
            </a:pPr>
            <a:r>
              <a:rPr lang="en-US" sz="1050" dirty="0">
                <a:solidFill>
                  <a:schemeClr val="tx1"/>
                </a:solidFill>
              </a:rPr>
              <a:t>Dashboard</a:t>
            </a:r>
            <a:endParaRPr lang="en-US" sz="1050" dirty="0"/>
          </a:p>
        </p:txBody>
      </p:sp>
      <p:sp>
        <p:nvSpPr>
          <p:cNvPr id="8" name="grp1"/>
          <p:cNvSpPr/>
          <p:nvPr/>
        </p:nvSpPr>
        <p:spPr>
          <a:xfrm>
            <a:off x="1443446" y="1371600"/>
            <a:ext cx="2218073" cy="2743200"/>
          </a:xfrm>
          <a:prstGeom prst="roundRect">
            <a:avLst>
              <a:gd name="adj" fmla="val 2473"/>
            </a:avLst>
          </a:prstGeom>
          <a:solidFill>
            <a:schemeClr val="bg2"/>
          </a:solidFill>
          <a:ln w="6350">
            <a:solidFill>
              <a:schemeClr val="accent2"/>
            </a:solidFill>
            <a:prstDash val="solid"/>
          </a:ln>
        </p:spPr>
      </p:sp>
      <p:sp>
        <p:nvSpPr>
          <p:cNvPr id="9" name="Text 7"/>
          <p:cNvSpPr txBox="1"/>
          <p:nvPr/>
        </p:nvSpPr>
        <p:spPr>
          <a:xfrm>
            <a:off x="1589750" y="1517904"/>
            <a:ext cx="1925465"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MONITORING</a:t>
            </a:r>
            <a:endParaRPr lang="en-US" sz="1050" dirty="0"/>
          </a:p>
        </p:txBody>
      </p:sp>
      <p:sp>
        <p:nvSpPr>
          <p:cNvPr id="10" name="Shape 8"/>
          <p:cNvSpPr/>
          <p:nvPr/>
        </p:nvSpPr>
        <p:spPr>
          <a:xfrm>
            <a:off x="1589750" y="1993392"/>
            <a:ext cx="1925465" cy="420624"/>
          </a:xfrm>
          <a:prstGeom prst="roundRect">
            <a:avLst>
              <a:gd name="adj" fmla="val 15217"/>
            </a:avLst>
          </a:prstGeom>
          <a:solidFill>
            <a:srgbClr val="FFFFFF"/>
          </a:solidFill>
          <a:ln w="6350">
            <a:solidFill>
              <a:schemeClr val="accent2"/>
            </a:solidFill>
            <a:prstDash val="solid"/>
          </a:ln>
        </p:spPr>
      </p:sp>
      <p:sp>
        <p:nvSpPr>
          <p:cNvPr id="11" name="Text 9"/>
          <p:cNvSpPr txBox="1"/>
          <p:nvPr/>
        </p:nvSpPr>
        <p:spPr>
          <a:xfrm>
            <a:off x="1662902" y="1993392"/>
            <a:ext cx="1779161" cy="420624"/>
          </a:xfrm>
          <a:prstGeom prst="rect">
            <a:avLst/>
          </a:prstGeom>
          <a:noFill/>
          <a:ln/>
        </p:spPr>
        <p:txBody>
          <a:bodyPr wrap="square" lIns="0" tIns="0" rIns="0" bIns="0" rtlCol="0" anchor="ctr"/>
          <a:lstStyle/>
          <a:p>
            <a:pPr indent="0" marL="0">
              <a:buNone/>
            </a:pPr>
            <a:r>
              <a:rPr lang="en-US" sz="1050" dirty="0">
                <a:solidFill>
                  <a:schemeClr val="tx1"/>
                </a:solidFill>
              </a:rPr>
              <a:t>District Monitoring</a:t>
            </a:r>
            <a:endParaRPr lang="en-US" sz="1050" dirty="0"/>
          </a:p>
        </p:txBody>
      </p:sp>
      <p:sp>
        <p:nvSpPr>
          <p:cNvPr id="12" name="Shape 10"/>
          <p:cNvSpPr/>
          <p:nvPr/>
        </p:nvSpPr>
        <p:spPr>
          <a:xfrm>
            <a:off x="1589750" y="2487168"/>
            <a:ext cx="1925465" cy="420624"/>
          </a:xfrm>
          <a:prstGeom prst="roundRect">
            <a:avLst>
              <a:gd name="adj" fmla="val 15217"/>
            </a:avLst>
          </a:prstGeom>
          <a:solidFill>
            <a:srgbClr val="FFFFFF"/>
          </a:solidFill>
          <a:ln w="6350">
            <a:solidFill>
              <a:schemeClr val="accent2"/>
            </a:solidFill>
            <a:prstDash val="solid"/>
          </a:ln>
        </p:spPr>
      </p:sp>
      <p:sp>
        <p:nvSpPr>
          <p:cNvPr id="13" name="Text 11"/>
          <p:cNvSpPr txBox="1"/>
          <p:nvPr/>
        </p:nvSpPr>
        <p:spPr>
          <a:xfrm>
            <a:off x="1662902" y="2487168"/>
            <a:ext cx="1779161" cy="420624"/>
          </a:xfrm>
          <a:prstGeom prst="rect">
            <a:avLst/>
          </a:prstGeom>
          <a:noFill/>
          <a:ln/>
        </p:spPr>
        <p:txBody>
          <a:bodyPr wrap="square" lIns="0" tIns="0" rIns="0" bIns="0" rtlCol="0" anchor="ctr"/>
          <a:lstStyle/>
          <a:p>
            <a:pPr indent="0" marL="0">
              <a:buNone/>
            </a:pPr>
            <a:r>
              <a:rPr lang="en-US" sz="1050" dirty="0">
                <a:solidFill>
                  <a:schemeClr val="tx1"/>
                </a:solidFill>
              </a:rPr>
              <a:t>Crop Monitoring</a:t>
            </a:r>
            <a:endParaRPr lang="en-US" sz="1050" dirty="0"/>
          </a:p>
        </p:txBody>
      </p:sp>
      <p:sp>
        <p:nvSpPr>
          <p:cNvPr id="14" name="Shape 12"/>
          <p:cNvSpPr/>
          <p:nvPr/>
        </p:nvSpPr>
        <p:spPr>
          <a:xfrm>
            <a:off x="1589750" y="2980944"/>
            <a:ext cx="1925465" cy="420624"/>
          </a:xfrm>
          <a:prstGeom prst="roundRect">
            <a:avLst>
              <a:gd name="adj" fmla="val 15217"/>
            </a:avLst>
          </a:prstGeom>
          <a:solidFill>
            <a:srgbClr val="FFFFFF"/>
          </a:solidFill>
          <a:ln w="6350">
            <a:solidFill>
              <a:schemeClr val="accent2"/>
            </a:solidFill>
            <a:prstDash val="solid"/>
          </a:ln>
        </p:spPr>
      </p:sp>
      <p:sp>
        <p:nvSpPr>
          <p:cNvPr id="15" name="Text 13"/>
          <p:cNvSpPr txBox="1"/>
          <p:nvPr/>
        </p:nvSpPr>
        <p:spPr>
          <a:xfrm>
            <a:off x="1662902" y="2980944"/>
            <a:ext cx="1779161" cy="420624"/>
          </a:xfrm>
          <a:prstGeom prst="rect">
            <a:avLst/>
          </a:prstGeom>
          <a:noFill/>
          <a:ln/>
        </p:spPr>
        <p:txBody>
          <a:bodyPr wrap="square" lIns="0" tIns="0" rIns="0" bIns="0" rtlCol="0" anchor="ctr"/>
          <a:lstStyle/>
          <a:p>
            <a:pPr indent="0" marL="0">
              <a:buNone/>
            </a:pPr>
            <a:r>
              <a:rPr lang="en-US" sz="1050" dirty="0">
                <a:solidFill>
                  <a:schemeClr val="tx1"/>
                </a:solidFill>
              </a:rPr>
              <a:t>Satellite Monitoring</a:t>
            </a:r>
            <a:endParaRPr lang="en-US" sz="1050" dirty="0"/>
          </a:p>
        </p:txBody>
      </p:sp>
      <p:sp>
        <p:nvSpPr>
          <p:cNvPr id="16" name="grp2"/>
          <p:cNvSpPr/>
          <p:nvPr/>
        </p:nvSpPr>
        <p:spPr>
          <a:xfrm>
            <a:off x="3862687" y="1371600"/>
            <a:ext cx="2957431" cy="2743200"/>
          </a:xfrm>
          <a:prstGeom prst="roundRect">
            <a:avLst>
              <a:gd name="adj" fmla="val 2000"/>
            </a:avLst>
          </a:prstGeom>
          <a:solidFill>
            <a:schemeClr val="bg2"/>
          </a:solidFill>
          <a:ln w="6350">
            <a:solidFill>
              <a:schemeClr val="accent2"/>
            </a:solidFill>
            <a:prstDash val="solid"/>
          </a:ln>
        </p:spPr>
      </p:sp>
      <p:sp>
        <p:nvSpPr>
          <p:cNvPr id="17" name="Text 15"/>
          <p:cNvSpPr txBox="1"/>
          <p:nvPr/>
        </p:nvSpPr>
        <p:spPr>
          <a:xfrm>
            <a:off x="4008991" y="1517904"/>
            <a:ext cx="2664823"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ESTIMATION &amp; STATISTICS</a:t>
            </a:r>
            <a:endParaRPr lang="en-US" sz="1050" dirty="0"/>
          </a:p>
        </p:txBody>
      </p:sp>
      <p:sp>
        <p:nvSpPr>
          <p:cNvPr id="18" name="Shape 16"/>
          <p:cNvSpPr/>
          <p:nvPr/>
        </p:nvSpPr>
        <p:spPr>
          <a:xfrm>
            <a:off x="4008991" y="1993392"/>
            <a:ext cx="2664823" cy="420624"/>
          </a:xfrm>
          <a:prstGeom prst="roundRect">
            <a:avLst>
              <a:gd name="adj" fmla="val 15217"/>
            </a:avLst>
          </a:prstGeom>
          <a:solidFill>
            <a:srgbClr val="FFFFFF"/>
          </a:solidFill>
          <a:ln w="6350">
            <a:solidFill>
              <a:schemeClr val="accent2"/>
            </a:solidFill>
            <a:prstDash val="solid"/>
          </a:ln>
        </p:spPr>
      </p:sp>
      <p:sp>
        <p:nvSpPr>
          <p:cNvPr id="19" name="Text 17"/>
          <p:cNvSpPr txBox="1"/>
          <p:nvPr/>
        </p:nvSpPr>
        <p:spPr>
          <a:xfrm>
            <a:off x="4082143" y="1993392"/>
            <a:ext cx="2518519" cy="420624"/>
          </a:xfrm>
          <a:prstGeom prst="rect">
            <a:avLst/>
          </a:prstGeom>
          <a:noFill/>
          <a:ln/>
        </p:spPr>
        <p:txBody>
          <a:bodyPr wrap="square" lIns="0" tIns="0" rIns="0" bIns="0" rtlCol="0" anchor="ctr"/>
          <a:lstStyle/>
          <a:p>
            <a:pPr indent="0" marL="0">
              <a:buNone/>
            </a:pPr>
            <a:r>
              <a:rPr lang="en-US" sz="1050" dirty="0">
                <a:solidFill>
                  <a:schemeClr val="tx1"/>
                </a:solidFill>
              </a:rPr>
              <a:t>Crop Area Estimation</a:t>
            </a:r>
            <a:endParaRPr lang="en-US" sz="1050" dirty="0"/>
          </a:p>
        </p:txBody>
      </p:sp>
      <p:sp>
        <p:nvSpPr>
          <p:cNvPr id="20" name="Shape 18"/>
          <p:cNvSpPr/>
          <p:nvPr/>
        </p:nvSpPr>
        <p:spPr>
          <a:xfrm>
            <a:off x="4008991" y="2487168"/>
            <a:ext cx="2664823" cy="420624"/>
          </a:xfrm>
          <a:prstGeom prst="roundRect">
            <a:avLst>
              <a:gd name="adj" fmla="val 15217"/>
            </a:avLst>
          </a:prstGeom>
          <a:solidFill>
            <a:srgbClr val="FFFFFF"/>
          </a:solidFill>
          <a:ln w="6350">
            <a:solidFill>
              <a:schemeClr val="accent2"/>
            </a:solidFill>
            <a:prstDash val="solid"/>
          </a:ln>
        </p:spPr>
      </p:sp>
      <p:sp>
        <p:nvSpPr>
          <p:cNvPr id="21" name="Text 19"/>
          <p:cNvSpPr txBox="1"/>
          <p:nvPr/>
        </p:nvSpPr>
        <p:spPr>
          <a:xfrm>
            <a:off x="4082143" y="2487168"/>
            <a:ext cx="2518519" cy="420624"/>
          </a:xfrm>
          <a:prstGeom prst="rect">
            <a:avLst/>
          </a:prstGeom>
          <a:noFill/>
          <a:ln/>
        </p:spPr>
        <p:txBody>
          <a:bodyPr wrap="square" lIns="0" tIns="0" rIns="0" bIns="0" rtlCol="0" anchor="ctr"/>
          <a:lstStyle/>
          <a:p>
            <a:pPr indent="0" marL="0">
              <a:buNone/>
            </a:pPr>
            <a:r>
              <a:rPr lang="en-US" sz="1050" dirty="0">
                <a:solidFill>
                  <a:schemeClr val="tx1"/>
                </a:solidFill>
              </a:rPr>
              <a:t>Production &amp; Yield Statistics</a:t>
            </a:r>
            <a:endParaRPr lang="en-US" sz="1050" dirty="0"/>
          </a:p>
        </p:txBody>
      </p:sp>
      <p:sp>
        <p:nvSpPr>
          <p:cNvPr id="22" name="Shape 20"/>
          <p:cNvSpPr/>
          <p:nvPr/>
        </p:nvSpPr>
        <p:spPr>
          <a:xfrm>
            <a:off x="4008991" y="2980944"/>
            <a:ext cx="2664823" cy="420624"/>
          </a:xfrm>
          <a:prstGeom prst="roundRect">
            <a:avLst>
              <a:gd name="adj" fmla="val 15217"/>
            </a:avLst>
          </a:prstGeom>
          <a:solidFill>
            <a:srgbClr val="FFFFFF"/>
          </a:solidFill>
          <a:ln w="6350">
            <a:solidFill>
              <a:schemeClr val="accent2"/>
            </a:solidFill>
            <a:prstDash val="solid"/>
          </a:ln>
        </p:spPr>
      </p:sp>
      <p:sp>
        <p:nvSpPr>
          <p:cNvPr id="23" name="Text 21"/>
          <p:cNvSpPr txBox="1"/>
          <p:nvPr/>
        </p:nvSpPr>
        <p:spPr>
          <a:xfrm>
            <a:off x="4082143" y="2980944"/>
            <a:ext cx="2518519" cy="420624"/>
          </a:xfrm>
          <a:prstGeom prst="rect">
            <a:avLst/>
          </a:prstGeom>
          <a:noFill/>
          <a:ln/>
        </p:spPr>
        <p:txBody>
          <a:bodyPr wrap="square" lIns="0" tIns="0" rIns="0" bIns="0" rtlCol="0" anchor="ctr"/>
          <a:lstStyle/>
          <a:p>
            <a:pPr indent="0" marL="0">
              <a:buNone/>
            </a:pPr>
            <a:r>
              <a:rPr lang="en-US" sz="1050" dirty="0">
                <a:solidFill>
                  <a:schemeClr val="tx1"/>
                </a:solidFill>
              </a:rPr>
              <a:t>Pre-Season Forecasting</a:t>
            </a:r>
            <a:endParaRPr lang="en-US" sz="1050" dirty="0"/>
          </a:p>
        </p:txBody>
      </p:sp>
      <p:sp>
        <p:nvSpPr>
          <p:cNvPr id="24" name="Shape 22"/>
          <p:cNvSpPr/>
          <p:nvPr/>
        </p:nvSpPr>
        <p:spPr>
          <a:xfrm>
            <a:off x="4008991" y="3474720"/>
            <a:ext cx="2664823" cy="420624"/>
          </a:xfrm>
          <a:prstGeom prst="roundRect">
            <a:avLst>
              <a:gd name="adj" fmla="val 15217"/>
            </a:avLst>
          </a:prstGeom>
          <a:solidFill>
            <a:srgbClr val="FFFFFF"/>
          </a:solidFill>
          <a:ln w="6350">
            <a:solidFill>
              <a:schemeClr val="accent2"/>
            </a:solidFill>
            <a:prstDash val="solid"/>
          </a:ln>
        </p:spPr>
      </p:sp>
      <p:sp>
        <p:nvSpPr>
          <p:cNvPr id="25" name="Text 23"/>
          <p:cNvSpPr txBox="1"/>
          <p:nvPr/>
        </p:nvSpPr>
        <p:spPr>
          <a:xfrm>
            <a:off x="4082143" y="3474720"/>
            <a:ext cx="2518519" cy="420624"/>
          </a:xfrm>
          <a:prstGeom prst="rect">
            <a:avLst/>
          </a:prstGeom>
          <a:noFill/>
          <a:ln/>
        </p:spPr>
        <p:txBody>
          <a:bodyPr wrap="square" lIns="0" tIns="0" rIns="0" bIns="0" rtlCol="0" anchor="ctr"/>
          <a:lstStyle/>
          <a:p>
            <a:pPr indent="0" marL="0">
              <a:buNone/>
            </a:pPr>
            <a:r>
              <a:rPr lang="en-US" sz="1050" dirty="0">
                <a:solidFill>
                  <a:schemeClr val="tx1"/>
                </a:solidFill>
              </a:rPr>
              <a:t>Harvest Monitoring</a:t>
            </a:r>
            <a:endParaRPr lang="en-US" sz="1050" dirty="0"/>
          </a:p>
        </p:txBody>
      </p:sp>
      <p:sp>
        <p:nvSpPr>
          <p:cNvPr id="26" name="grp3"/>
          <p:cNvSpPr/>
          <p:nvPr/>
        </p:nvSpPr>
        <p:spPr>
          <a:xfrm>
            <a:off x="7021286" y="1371600"/>
            <a:ext cx="1478715" cy="2743200"/>
          </a:xfrm>
          <a:prstGeom prst="roundRect">
            <a:avLst>
              <a:gd name="adj" fmla="val 3710"/>
            </a:avLst>
          </a:prstGeom>
          <a:solidFill>
            <a:schemeClr val="bg2"/>
          </a:solidFill>
          <a:ln w="6350">
            <a:solidFill>
              <a:schemeClr val="accent2"/>
            </a:solidFill>
            <a:prstDash val="solid"/>
          </a:ln>
        </p:spPr>
      </p:sp>
      <p:sp>
        <p:nvSpPr>
          <p:cNvPr id="27" name="Text 25"/>
          <p:cNvSpPr txBox="1"/>
          <p:nvPr/>
        </p:nvSpPr>
        <p:spPr>
          <a:xfrm>
            <a:off x="7167590" y="1517904"/>
            <a:ext cx="1186107"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POLICY TOOLS</a:t>
            </a:r>
            <a:endParaRPr lang="en-US" sz="1050" dirty="0"/>
          </a:p>
        </p:txBody>
      </p:sp>
      <p:sp>
        <p:nvSpPr>
          <p:cNvPr id="28" name="Shape 26"/>
          <p:cNvSpPr/>
          <p:nvPr/>
        </p:nvSpPr>
        <p:spPr>
          <a:xfrm>
            <a:off x="7167590" y="1993392"/>
            <a:ext cx="1186107" cy="420624"/>
          </a:xfrm>
          <a:prstGeom prst="roundRect">
            <a:avLst>
              <a:gd name="adj" fmla="val 15217"/>
            </a:avLst>
          </a:prstGeom>
          <a:solidFill>
            <a:srgbClr val="FFFFFF"/>
          </a:solidFill>
          <a:ln w="6350">
            <a:solidFill>
              <a:schemeClr val="accent2"/>
            </a:solidFill>
            <a:prstDash val="solid"/>
          </a:ln>
        </p:spPr>
      </p:sp>
      <p:sp>
        <p:nvSpPr>
          <p:cNvPr id="29" name="Text 27"/>
          <p:cNvSpPr txBox="1"/>
          <p:nvPr/>
        </p:nvSpPr>
        <p:spPr>
          <a:xfrm>
            <a:off x="7240742" y="1993392"/>
            <a:ext cx="1039803" cy="420624"/>
          </a:xfrm>
          <a:prstGeom prst="rect">
            <a:avLst/>
          </a:prstGeom>
          <a:noFill/>
          <a:ln/>
        </p:spPr>
        <p:txBody>
          <a:bodyPr wrap="square" lIns="0" tIns="0" rIns="0" bIns="0" rtlCol="0" anchor="ctr"/>
          <a:lstStyle/>
          <a:p>
            <a:pPr indent="0" marL="0">
              <a:buNone/>
            </a:pPr>
            <a:r>
              <a:rPr lang="en-US" sz="1050" dirty="0">
                <a:solidFill>
                  <a:schemeClr val="tx1"/>
                </a:solidFill>
              </a:rPr>
              <a:t>Subsidy &amp; Resource Targeting</a:t>
            </a:r>
            <a:endParaRPr lang="en-US" sz="1050" dirty="0"/>
          </a:p>
        </p:txBody>
      </p:sp>
      <p:sp>
        <p:nvSpPr>
          <p:cNvPr id="30" name="Shape 28"/>
          <p:cNvSpPr/>
          <p:nvPr/>
        </p:nvSpPr>
        <p:spPr>
          <a:xfrm>
            <a:off x="7167590" y="2487168"/>
            <a:ext cx="1186107" cy="420624"/>
          </a:xfrm>
          <a:prstGeom prst="roundRect">
            <a:avLst>
              <a:gd name="adj" fmla="val 15217"/>
            </a:avLst>
          </a:prstGeom>
          <a:solidFill>
            <a:srgbClr val="FFFFFF"/>
          </a:solidFill>
          <a:ln w="6350">
            <a:solidFill>
              <a:schemeClr val="accent2"/>
            </a:solidFill>
            <a:prstDash val="solid"/>
          </a:ln>
        </p:spPr>
      </p:sp>
      <p:sp>
        <p:nvSpPr>
          <p:cNvPr id="31" name="Text 29"/>
          <p:cNvSpPr txBox="1"/>
          <p:nvPr/>
        </p:nvSpPr>
        <p:spPr>
          <a:xfrm>
            <a:off x="7240742" y="2487168"/>
            <a:ext cx="1039803" cy="420624"/>
          </a:xfrm>
          <a:prstGeom prst="rect">
            <a:avLst/>
          </a:prstGeom>
          <a:noFill/>
          <a:ln/>
        </p:spPr>
        <p:txBody>
          <a:bodyPr wrap="square" lIns="0" tIns="0" rIns="0" bIns="0" rtlCol="0" anchor="ctr"/>
          <a:lstStyle/>
          <a:p>
            <a:pPr indent="0" marL="0">
              <a:buNone/>
            </a:pPr>
            <a:r>
              <a:rPr lang="en-US" sz="1050" dirty="0">
                <a:solidFill>
                  <a:schemeClr val="tx1"/>
                </a:solidFill>
              </a:rPr>
              <a:t>Risk &amp; Alerts</a:t>
            </a:r>
            <a:endParaRPr lang="en-US" sz="1050" dirty="0"/>
          </a:p>
        </p:txBody>
      </p:sp>
      <p:sp>
        <p:nvSpPr>
          <p:cNvPr id="32" name="grp4"/>
          <p:cNvSpPr/>
          <p:nvPr/>
        </p:nvSpPr>
        <p:spPr>
          <a:xfrm>
            <a:off x="8701169" y="1371600"/>
            <a:ext cx="2957431" cy="2743200"/>
          </a:xfrm>
          <a:prstGeom prst="roundRect">
            <a:avLst>
              <a:gd name="adj" fmla="val 2000"/>
            </a:avLst>
          </a:prstGeom>
          <a:solidFill>
            <a:schemeClr val="bg2"/>
          </a:solidFill>
          <a:ln w="6350">
            <a:solidFill>
              <a:schemeClr val="accent2"/>
            </a:solidFill>
            <a:prstDash val="solid"/>
          </a:ln>
        </p:spPr>
      </p:sp>
      <p:sp>
        <p:nvSpPr>
          <p:cNvPr id="33" name="Text 31"/>
          <p:cNvSpPr txBox="1"/>
          <p:nvPr/>
        </p:nvSpPr>
        <p:spPr>
          <a:xfrm>
            <a:off x="8847473" y="1517904"/>
            <a:ext cx="2664823" cy="420624"/>
          </a:xfrm>
          <a:prstGeom prst="rect">
            <a:avLst/>
          </a:prstGeom>
          <a:noFill/>
          <a:ln/>
        </p:spPr>
        <p:txBody>
          <a:bodyPr wrap="square" lIns="0" tIns="0" rIns="0" bIns="0" rtlCol="0" anchor="ctr"/>
          <a:lstStyle/>
          <a:p>
            <a:pPr indent="0" marL="0">
              <a:buNone/>
            </a:pPr>
            <a:r>
              <a:rPr lang="en-US" sz="1050" b="1" spc="120" kern="0" dirty="0">
                <a:solidFill>
                  <a:schemeClr val="accent1"/>
                </a:solidFill>
              </a:rPr>
              <a:t>DATA &amp; ADMINISTRATION</a:t>
            </a:r>
            <a:endParaRPr lang="en-US" sz="1050" dirty="0"/>
          </a:p>
        </p:txBody>
      </p:sp>
      <p:sp>
        <p:nvSpPr>
          <p:cNvPr id="34" name="Shape 32"/>
          <p:cNvSpPr/>
          <p:nvPr/>
        </p:nvSpPr>
        <p:spPr>
          <a:xfrm>
            <a:off x="8847473" y="1993392"/>
            <a:ext cx="2664823" cy="420624"/>
          </a:xfrm>
          <a:prstGeom prst="roundRect">
            <a:avLst>
              <a:gd name="adj" fmla="val 15217"/>
            </a:avLst>
          </a:prstGeom>
          <a:solidFill>
            <a:srgbClr val="FFFFFF"/>
          </a:solidFill>
          <a:ln w="6350">
            <a:solidFill>
              <a:schemeClr val="accent2"/>
            </a:solidFill>
            <a:prstDash val="solid"/>
          </a:ln>
        </p:spPr>
      </p:sp>
      <p:sp>
        <p:nvSpPr>
          <p:cNvPr id="35" name="Text 33"/>
          <p:cNvSpPr txBox="1"/>
          <p:nvPr/>
        </p:nvSpPr>
        <p:spPr>
          <a:xfrm>
            <a:off x="8920625" y="1993392"/>
            <a:ext cx="2518519" cy="420624"/>
          </a:xfrm>
          <a:prstGeom prst="rect">
            <a:avLst/>
          </a:prstGeom>
          <a:noFill/>
          <a:ln/>
        </p:spPr>
        <p:txBody>
          <a:bodyPr wrap="square" lIns="0" tIns="0" rIns="0" bIns="0" rtlCol="0" anchor="ctr"/>
          <a:lstStyle/>
          <a:p>
            <a:pPr indent="0" marL="0">
              <a:buNone/>
            </a:pPr>
            <a:r>
              <a:rPr lang="en-US" sz="1050" dirty="0">
                <a:solidFill>
                  <a:schemeClr val="tx1"/>
                </a:solidFill>
              </a:rPr>
              <a:t>Field Survey</a:t>
            </a:r>
            <a:endParaRPr lang="en-US" sz="1050" dirty="0"/>
          </a:p>
        </p:txBody>
      </p:sp>
      <p:sp>
        <p:nvSpPr>
          <p:cNvPr id="36" name="Shape 34"/>
          <p:cNvSpPr/>
          <p:nvPr/>
        </p:nvSpPr>
        <p:spPr>
          <a:xfrm>
            <a:off x="8847473" y="2487168"/>
            <a:ext cx="2664823" cy="420624"/>
          </a:xfrm>
          <a:prstGeom prst="roundRect">
            <a:avLst>
              <a:gd name="adj" fmla="val 15217"/>
            </a:avLst>
          </a:prstGeom>
          <a:solidFill>
            <a:srgbClr val="FFFFFF"/>
          </a:solidFill>
          <a:ln w="6350">
            <a:solidFill>
              <a:schemeClr val="accent2"/>
            </a:solidFill>
            <a:prstDash val="solid"/>
          </a:ln>
        </p:spPr>
      </p:sp>
      <p:sp>
        <p:nvSpPr>
          <p:cNvPr id="37" name="Text 35"/>
          <p:cNvSpPr txBox="1"/>
          <p:nvPr/>
        </p:nvSpPr>
        <p:spPr>
          <a:xfrm>
            <a:off x="8920625" y="2487168"/>
            <a:ext cx="2518519" cy="420624"/>
          </a:xfrm>
          <a:prstGeom prst="rect">
            <a:avLst/>
          </a:prstGeom>
          <a:noFill/>
          <a:ln/>
        </p:spPr>
        <p:txBody>
          <a:bodyPr wrap="square" lIns="0" tIns="0" rIns="0" bIns="0" rtlCol="0" anchor="ctr"/>
          <a:lstStyle/>
          <a:p>
            <a:pPr indent="0" marL="0">
              <a:buNone/>
            </a:pPr>
            <a:r>
              <a:rPr lang="en-US" sz="1050" dirty="0">
                <a:solidFill>
                  <a:schemeClr val="tx1"/>
                </a:solidFill>
              </a:rPr>
              <a:t>Data Management</a:t>
            </a:r>
            <a:endParaRPr lang="en-US" sz="1050" dirty="0"/>
          </a:p>
        </p:txBody>
      </p:sp>
      <p:sp>
        <p:nvSpPr>
          <p:cNvPr id="38" name="Shape 36"/>
          <p:cNvSpPr/>
          <p:nvPr/>
        </p:nvSpPr>
        <p:spPr>
          <a:xfrm>
            <a:off x="8847473" y="2980944"/>
            <a:ext cx="2664823" cy="420624"/>
          </a:xfrm>
          <a:prstGeom prst="roundRect">
            <a:avLst>
              <a:gd name="adj" fmla="val 15217"/>
            </a:avLst>
          </a:prstGeom>
          <a:solidFill>
            <a:srgbClr val="FFFFFF"/>
          </a:solidFill>
          <a:ln w="6350">
            <a:solidFill>
              <a:schemeClr val="accent2"/>
            </a:solidFill>
            <a:prstDash val="solid"/>
          </a:ln>
        </p:spPr>
      </p:sp>
      <p:sp>
        <p:nvSpPr>
          <p:cNvPr id="39" name="Text 37"/>
          <p:cNvSpPr txBox="1"/>
          <p:nvPr/>
        </p:nvSpPr>
        <p:spPr>
          <a:xfrm>
            <a:off x="8920625" y="2980944"/>
            <a:ext cx="2518519" cy="420624"/>
          </a:xfrm>
          <a:prstGeom prst="rect">
            <a:avLst/>
          </a:prstGeom>
          <a:noFill/>
          <a:ln/>
        </p:spPr>
        <p:txBody>
          <a:bodyPr wrap="square" lIns="0" tIns="0" rIns="0" bIns="0" rtlCol="0" anchor="ctr"/>
          <a:lstStyle/>
          <a:p>
            <a:pPr indent="0" marL="0">
              <a:buNone/>
            </a:pPr>
            <a:r>
              <a:rPr lang="en-US" sz="1050" dirty="0">
                <a:solidFill>
                  <a:schemeClr val="tx1"/>
                </a:solidFill>
              </a:rPr>
              <a:t>Reports &amp; Analytics</a:t>
            </a:r>
            <a:endParaRPr lang="en-US" sz="1050" dirty="0"/>
          </a:p>
        </p:txBody>
      </p:sp>
      <p:sp>
        <p:nvSpPr>
          <p:cNvPr id="40" name="Shape 38"/>
          <p:cNvSpPr/>
          <p:nvPr/>
        </p:nvSpPr>
        <p:spPr>
          <a:xfrm>
            <a:off x="8847473" y="3474720"/>
            <a:ext cx="2664823" cy="420624"/>
          </a:xfrm>
          <a:prstGeom prst="roundRect">
            <a:avLst>
              <a:gd name="adj" fmla="val 15217"/>
            </a:avLst>
          </a:prstGeom>
          <a:solidFill>
            <a:srgbClr val="FFFFFF"/>
          </a:solidFill>
          <a:ln w="6350">
            <a:solidFill>
              <a:schemeClr val="accent2"/>
            </a:solidFill>
            <a:prstDash val="solid"/>
          </a:ln>
        </p:spPr>
      </p:sp>
      <p:sp>
        <p:nvSpPr>
          <p:cNvPr id="41" name="Text 39"/>
          <p:cNvSpPr txBox="1"/>
          <p:nvPr/>
        </p:nvSpPr>
        <p:spPr>
          <a:xfrm>
            <a:off x="8920625" y="3474720"/>
            <a:ext cx="2518519" cy="420624"/>
          </a:xfrm>
          <a:prstGeom prst="rect">
            <a:avLst/>
          </a:prstGeom>
          <a:noFill/>
          <a:ln/>
        </p:spPr>
        <p:txBody>
          <a:bodyPr wrap="square" lIns="0" tIns="0" rIns="0" bIns="0" rtlCol="0" anchor="ctr"/>
          <a:lstStyle/>
          <a:p>
            <a:pPr indent="0" marL="0">
              <a:buNone/>
            </a:pPr>
            <a:r>
              <a:rPr lang="en-US" sz="1050" dirty="0">
                <a:solidFill>
                  <a:schemeClr val="tx1"/>
                </a:solidFill>
              </a:rPr>
              <a:t>User &amp; Access Management</a:t>
            </a:r>
            <a:endParaRPr lang="en-US" sz="1050" dirty="0"/>
          </a:p>
        </p:txBody>
      </p:sp>
      <p:sp>
        <p:nvSpPr>
          <p:cNvPr id="42" name="govHighlight"/>
          <p:cNvSpPr/>
          <p:nvPr/>
        </p:nvSpPr>
        <p:spPr>
          <a:xfrm>
            <a:off x="502920" y="4389120"/>
            <a:ext cx="11155680" cy="1371600"/>
          </a:xfrm>
          <a:prstGeom prst="roundRect">
            <a:avLst>
              <a:gd name="adj" fmla="val 4000"/>
            </a:avLst>
          </a:prstGeom>
          <a:solidFill>
            <a:schemeClr val="bg2"/>
          </a:solidFill>
          <a:ln w="6350">
            <a:solidFill>
              <a:schemeClr val="accent2"/>
            </a:solidFill>
            <a:prstDash val="solid"/>
          </a:ln>
        </p:spPr>
      </p:sp>
      <p:sp>
        <p:nvSpPr>
          <p:cNvPr id="43" name="Text 41"/>
          <p:cNvSpPr txBox="1"/>
          <p:nvPr/>
        </p:nvSpPr>
        <p:spPr>
          <a:xfrm>
            <a:off x="777240" y="4535424"/>
            <a:ext cx="3657600"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ACCESS CONTROL</a:t>
            </a:r>
            <a:endParaRPr lang="en-US" sz="1050" dirty="0"/>
          </a:p>
        </p:txBody>
      </p:sp>
      <p:sp>
        <p:nvSpPr>
          <p:cNvPr id="44" name="Text 42"/>
          <p:cNvSpPr txBox="1"/>
          <p:nvPr/>
        </p:nvSpPr>
        <p:spPr>
          <a:xfrm>
            <a:off x="777240" y="4846320"/>
            <a:ext cx="3352800" cy="420624"/>
          </a:xfrm>
          <a:prstGeom prst="rect">
            <a:avLst/>
          </a:prstGeom>
          <a:noFill/>
          <a:ln/>
        </p:spPr>
        <p:txBody>
          <a:bodyPr wrap="square" lIns="0" tIns="0" rIns="0" bIns="0" rtlCol="0" anchor="t"/>
          <a:lstStyle/>
          <a:p>
            <a:pPr indent="0" marL="0">
              <a:buNone/>
            </a:pPr>
            <a:r>
              <a:rPr lang="en-US" sz="1200" b="1" dirty="0">
                <a:solidFill>
                  <a:schemeClr val="tx2"/>
                </a:solidFill>
              </a:rPr>
              <a:t>Super Admin → District Manager → Employee</a:t>
            </a:r>
            <a:endParaRPr lang="en-US" sz="1200" dirty="0"/>
          </a:p>
        </p:txBody>
      </p:sp>
      <p:sp>
        <p:nvSpPr>
          <p:cNvPr id="45" name="Text 43"/>
          <p:cNvSpPr txBox="1"/>
          <p:nvPr/>
        </p:nvSpPr>
        <p:spPr>
          <a:xfrm>
            <a:off x="777240" y="5266944"/>
            <a:ext cx="3352800" cy="402336"/>
          </a:xfrm>
          <a:prstGeom prst="rect">
            <a:avLst/>
          </a:prstGeom>
          <a:noFill/>
          <a:ln/>
        </p:spPr>
        <p:txBody>
          <a:bodyPr wrap="square" lIns="0" tIns="0" rIns="0" bIns="0" rtlCol="0" anchor="t"/>
          <a:lstStyle/>
          <a:p>
            <a:pPr indent="0" marL="0">
              <a:buNone/>
            </a:pPr>
            <a:r>
              <a:rPr lang="en-US" sz="1050" dirty="0">
                <a:solidFill>
                  <a:schemeClr val="accent5"/>
                </a:solidFill>
              </a:rPr>
              <a:t>Three tiers, each scoped more narrowly than the one above</a:t>
            </a:r>
            <a:endParaRPr lang="en-US" sz="1050" dirty="0"/>
          </a:p>
        </p:txBody>
      </p:sp>
      <p:sp>
        <p:nvSpPr>
          <p:cNvPr id="46" name="Text 44"/>
          <p:cNvSpPr txBox="1"/>
          <p:nvPr/>
        </p:nvSpPr>
        <p:spPr>
          <a:xfrm>
            <a:off x="4404360" y="4846320"/>
            <a:ext cx="3352800" cy="420624"/>
          </a:xfrm>
          <a:prstGeom prst="rect">
            <a:avLst/>
          </a:prstGeom>
          <a:noFill/>
          <a:ln/>
        </p:spPr>
        <p:txBody>
          <a:bodyPr wrap="square" lIns="0" tIns="0" rIns="0" bIns="0" rtlCol="0" anchor="t"/>
          <a:lstStyle/>
          <a:p>
            <a:pPr indent="0" marL="0">
              <a:buNone/>
            </a:pPr>
            <a:r>
              <a:rPr lang="en-US" sz="1200" b="1" dirty="0">
                <a:solidFill>
                  <a:schemeClr val="tx2"/>
                </a:solidFill>
              </a:rPr>
              <a:t>Invite-only provisioning</a:t>
            </a:r>
            <a:endParaRPr lang="en-US" sz="1200" dirty="0"/>
          </a:p>
        </p:txBody>
      </p:sp>
      <p:sp>
        <p:nvSpPr>
          <p:cNvPr id="47" name="Text 45"/>
          <p:cNvSpPr txBox="1"/>
          <p:nvPr/>
        </p:nvSpPr>
        <p:spPr>
          <a:xfrm>
            <a:off x="4404360" y="5266944"/>
            <a:ext cx="3352800" cy="402336"/>
          </a:xfrm>
          <a:prstGeom prst="rect">
            <a:avLst/>
          </a:prstGeom>
          <a:noFill/>
          <a:ln/>
        </p:spPr>
        <p:txBody>
          <a:bodyPr wrap="square" lIns="0" tIns="0" rIns="0" bIns="0" rtlCol="0" anchor="t"/>
          <a:lstStyle/>
          <a:p>
            <a:pPr indent="0" marL="0">
              <a:buNone/>
            </a:pPr>
            <a:r>
              <a:rPr lang="en-US" sz="1050" dirty="0">
                <a:solidFill>
                  <a:schemeClr val="accent5"/>
                </a:solidFill>
              </a:rPr>
              <a:t>No public sign-up exists; accounts are issued by an administrator</a:t>
            </a:r>
            <a:endParaRPr lang="en-US" sz="1050" dirty="0"/>
          </a:p>
        </p:txBody>
      </p:sp>
      <p:sp>
        <p:nvSpPr>
          <p:cNvPr id="48" name="Text 46"/>
          <p:cNvSpPr txBox="1"/>
          <p:nvPr/>
        </p:nvSpPr>
        <p:spPr>
          <a:xfrm>
            <a:off x="8031480" y="4846320"/>
            <a:ext cx="3352800" cy="420624"/>
          </a:xfrm>
          <a:prstGeom prst="rect">
            <a:avLst/>
          </a:prstGeom>
          <a:noFill/>
          <a:ln/>
        </p:spPr>
        <p:txBody>
          <a:bodyPr wrap="square" lIns="0" tIns="0" rIns="0" bIns="0" rtlCol="0" anchor="t"/>
          <a:lstStyle/>
          <a:p>
            <a:pPr indent="0" marL="0">
              <a:buNone/>
            </a:pPr>
            <a:r>
              <a:rPr lang="en-US" sz="1200" b="1" dirty="0">
                <a:solidFill>
                  <a:schemeClr val="tx2"/>
                </a:solidFill>
              </a:rPr>
              <a:t>Cross-district isolation</a:t>
            </a:r>
            <a:endParaRPr lang="en-US" sz="1200" dirty="0"/>
          </a:p>
        </p:txBody>
      </p:sp>
      <p:sp>
        <p:nvSpPr>
          <p:cNvPr id="49" name="Text 47"/>
          <p:cNvSpPr txBox="1"/>
          <p:nvPr/>
        </p:nvSpPr>
        <p:spPr>
          <a:xfrm>
            <a:off x="8031480" y="5266944"/>
            <a:ext cx="3352800" cy="402336"/>
          </a:xfrm>
          <a:prstGeom prst="rect">
            <a:avLst/>
          </a:prstGeom>
          <a:noFill/>
          <a:ln/>
        </p:spPr>
        <p:txBody>
          <a:bodyPr wrap="square" lIns="0" tIns="0" rIns="0" bIns="0" rtlCol="0" anchor="t"/>
          <a:lstStyle/>
          <a:p>
            <a:pPr indent="0" marL="0">
              <a:buNone/>
            </a:pPr>
            <a:r>
              <a:rPr lang="en-US" sz="1050" dirty="0">
                <a:solidFill>
                  <a:schemeClr val="accent5"/>
                </a:solidFill>
              </a:rPr>
              <a:t>Enforced by row-level policies, so a manager cannot read another district</a:t>
            </a:r>
            <a:endParaRPr lang="en-US" sz="10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Researcher Portal</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11 screens in six groups · Research Lead → Researcher, gated by independent permission flags</a:t>
            </a:r>
            <a:endParaRPr lang="en-US" sz="1300" dirty="0"/>
          </a:p>
        </p:txBody>
      </p:sp>
      <p:sp>
        <p:nvSpPr>
          <p:cNvPr id="4" name="rgrp0"/>
          <p:cNvSpPr/>
          <p:nvPr/>
        </p:nvSpPr>
        <p:spPr>
          <a:xfrm>
            <a:off x="502920" y="1371600"/>
            <a:ext cx="931025" cy="2249424"/>
          </a:xfrm>
          <a:prstGeom prst="roundRect">
            <a:avLst>
              <a:gd name="adj" fmla="val 5893"/>
            </a:avLst>
          </a:prstGeom>
          <a:solidFill>
            <a:schemeClr val="bg2"/>
          </a:solidFill>
          <a:ln w="6350">
            <a:solidFill>
              <a:schemeClr val="accent2"/>
            </a:solidFill>
            <a:prstDash val="solid"/>
          </a:ln>
        </p:spPr>
      </p:sp>
      <p:sp>
        <p:nvSpPr>
          <p:cNvPr id="5" name="Text 3"/>
          <p:cNvSpPr txBox="1"/>
          <p:nvPr/>
        </p:nvSpPr>
        <p:spPr>
          <a:xfrm>
            <a:off x="630936" y="1499616"/>
            <a:ext cx="674993"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OVERVIEW</a:t>
            </a:r>
            <a:endParaRPr lang="en-US" sz="1000" dirty="0"/>
          </a:p>
        </p:txBody>
      </p:sp>
      <p:sp>
        <p:nvSpPr>
          <p:cNvPr id="6" name="Shape 4"/>
          <p:cNvSpPr/>
          <p:nvPr/>
        </p:nvSpPr>
        <p:spPr>
          <a:xfrm>
            <a:off x="630936" y="1956816"/>
            <a:ext cx="674993" cy="438912"/>
          </a:xfrm>
          <a:prstGeom prst="roundRect">
            <a:avLst>
              <a:gd name="adj" fmla="val 14583"/>
            </a:avLst>
          </a:prstGeom>
          <a:solidFill>
            <a:srgbClr val="FFFFFF"/>
          </a:solidFill>
          <a:ln w="6350">
            <a:solidFill>
              <a:schemeClr val="accent2"/>
            </a:solidFill>
            <a:prstDash val="solid"/>
          </a:ln>
        </p:spPr>
      </p:sp>
      <p:sp>
        <p:nvSpPr>
          <p:cNvPr id="7" name="Text 5"/>
          <p:cNvSpPr txBox="1"/>
          <p:nvPr/>
        </p:nvSpPr>
        <p:spPr>
          <a:xfrm>
            <a:off x="685800" y="1956816"/>
            <a:ext cx="565265" cy="438912"/>
          </a:xfrm>
          <a:prstGeom prst="rect">
            <a:avLst/>
          </a:prstGeom>
          <a:noFill/>
          <a:ln/>
        </p:spPr>
        <p:txBody>
          <a:bodyPr wrap="square" lIns="0" tIns="0" rIns="0" bIns="0" rtlCol="0" anchor="ctr"/>
          <a:lstStyle/>
          <a:p>
            <a:pPr indent="0" marL="0">
              <a:buNone/>
            </a:pPr>
            <a:r>
              <a:rPr lang="en-US" sz="1000" dirty="0">
                <a:solidFill>
                  <a:schemeClr val="tx1"/>
                </a:solidFill>
              </a:rPr>
              <a:t>Research Dashboard</a:t>
            </a:r>
            <a:endParaRPr lang="en-US" sz="1000" dirty="0"/>
          </a:p>
        </p:txBody>
      </p:sp>
      <p:sp>
        <p:nvSpPr>
          <p:cNvPr id="8" name="rgrp1"/>
          <p:cNvSpPr/>
          <p:nvPr/>
        </p:nvSpPr>
        <p:spPr>
          <a:xfrm>
            <a:off x="1616825" y="1371600"/>
            <a:ext cx="1862051" cy="2249424"/>
          </a:xfrm>
          <a:prstGeom prst="roundRect">
            <a:avLst>
              <a:gd name="adj" fmla="val 2946"/>
            </a:avLst>
          </a:prstGeom>
          <a:solidFill>
            <a:schemeClr val="bg2"/>
          </a:solidFill>
          <a:ln w="6350">
            <a:solidFill>
              <a:schemeClr val="accent2"/>
            </a:solidFill>
            <a:prstDash val="solid"/>
          </a:ln>
        </p:spPr>
      </p:sp>
      <p:sp>
        <p:nvSpPr>
          <p:cNvPr id="9" name="Text 7"/>
          <p:cNvSpPr txBox="1"/>
          <p:nvPr/>
        </p:nvSpPr>
        <p:spPr>
          <a:xfrm>
            <a:off x="1744841" y="1499616"/>
            <a:ext cx="1606019"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DATASETS</a:t>
            </a:r>
            <a:endParaRPr lang="en-US" sz="1000" dirty="0"/>
          </a:p>
        </p:txBody>
      </p:sp>
      <p:sp>
        <p:nvSpPr>
          <p:cNvPr id="10" name="Shape 8"/>
          <p:cNvSpPr/>
          <p:nvPr/>
        </p:nvSpPr>
        <p:spPr>
          <a:xfrm>
            <a:off x="1744841" y="1956816"/>
            <a:ext cx="1606019" cy="438912"/>
          </a:xfrm>
          <a:prstGeom prst="roundRect">
            <a:avLst>
              <a:gd name="adj" fmla="val 14583"/>
            </a:avLst>
          </a:prstGeom>
          <a:solidFill>
            <a:srgbClr val="FFFFFF"/>
          </a:solidFill>
          <a:ln w="6350">
            <a:solidFill>
              <a:schemeClr val="accent2"/>
            </a:solidFill>
            <a:prstDash val="solid"/>
          </a:ln>
        </p:spPr>
      </p:sp>
      <p:sp>
        <p:nvSpPr>
          <p:cNvPr id="11" name="Text 9"/>
          <p:cNvSpPr txBox="1"/>
          <p:nvPr/>
        </p:nvSpPr>
        <p:spPr>
          <a:xfrm>
            <a:off x="1799705" y="1956816"/>
            <a:ext cx="1496291" cy="438912"/>
          </a:xfrm>
          <a:prstGeom prst="rect">
            <a:avLst/>
          </a:prstGeom>
          <a:noFill/>
          <a:ln/>
        </p:spPr>
        <p:txBody>
          <a:bodyPr wrap="square" lIns="0" tIns="0" rIns="0" bIns="0" rtlCol="0" anchor="ctr"/>
          <a:lstStyle/>
          <a:p>
            <a:pPr indent="0" marL="0">
              <a:buNone/>
            </a:pPr>
            <a:r>
              <a:rPr lang="en-US" sz="1000" dirty="0">
                <a:solidFill>
                  <a:schemeClr val="tx1"/>
                </a:solidFill>
              </a:rPr>
              <a:t>Dataset Explorer</a:t>
            </a:r>
            <a:endParaRPr lang="en-US" sz="1000" dirty="0"/>
          </a:p>
        </p:txBody>
      </p:sp>
      <p:sp>
        <p:nvSpPr>
          <p:cNvPr id="12" name="Shape 10"/>
          <p:cNvSpPr/>
          <p:nvPr/>
        </p:nvSpPr>
        <p:spPr>
          <a:xfrm>
            <a:off x="1744841" y="2468880"/>
            <a:ext cx="1606019" cy="438912"/>
          </a:xfrm>
          <a:prstGeom prst="roundRect">
            <a:avLst>
              <a:gd name="adj" fmla="val 14583"/>
            </a:avLst>
          </a:prstGeom>
          <a:solidFill>
            <a:srgbClr val="FFFFFF"/>
          </a:solidFill>
          <a:ln w="6350">
            <a:solidFill>
              <a:schemeClr val="accent2"/>
            </a:solidFill>
            <a:prstDash val="solid"/>
          </a:ln>
        </p:spPr>
      </p:sp>
      <p:sp>
        <p:nvSpPr>
          <p:cNvPr id="13" name="Text 11"/>
          <p:cNvSpPr txBox="1"/>
          <p:nvPr/>
        </p:nvSpPr>
        <p:spPr>
          <a:xfrm>
            <a:off x="1799705" y="2468880"/>
            <a:ext cx="1496291" cy="438912"/>
          </a:xfrm>
          <a:prstGeom prst="rect">
            <a:avLst/>
          </a:prstGeom>
          <a:noFill/>
          <a:ln/>
        </p:spPr>
        <p:txBody>
          <a:bodyPr wrap="square" lIns="0" tIns="0" rIns="0" bIns="0" rtlCol="0" anchor="ctr"/>
          <a:lstStyle/>
          <a:p>
            <a:pPr indent="0" marL="0">
              <a:buNone/>
            </a:pPr>
            <a:r>
              <a:rPr lang="en-US" sz="1000" dirty="0">
                <a:solidFill>
                  <a:schemeClr val="tx1"/>
                </a:solidFill>
              </a:rPr>
              <a:t>Dataset Versioning</a:t>
            </a:r>
            <a:endParaRPr lang="en-US" sz="1000" dirty="0"/>
          </a:p>
        </p:txBody>
      </p:sp>
      <p:sp>
        <p:nvSpPr>
          <p:cNvPr id="14" name="rgrp2"/>
          <p:cNvSpPr/>
          <p:nvPr/>
        </p:nvSpPr>
        <p:spPr>
          <a:xfrm>
            <a:off x="3661756" y="1371600"/>
            <a:ext cx="2793076" cy="2249424"/>
          </a:xfrm>
          <a:prstGeom prst="roundRect">
            <a:avLst>
              <a:gd name="adj" fmla="val 2439"/>
            </a:avLst>
          </a:prstGeom>
          <a:solidFill>
            <a:schemeClr val="bg2"/>
          </a:solidFill>
          <a:ln w="6350">
            <a:solidFill>
              <a:schemeClr val="accent2"/>
            </a:solidFill>
            <a:prstDash val="solid"/>
          </a:ln>
        </p:spPr>
      </p:sp>
      <p:sp>
        <p:nvSpPr>
          <p:cNvPr id="15" name="Text 13"/>
          <p:cNvSpPr txBox="1"/>
          <p:nvPr/>
        </p:nvSpPr>
        <p:spPr>
          <a:xfrm>
            <a:off x="3789772" y="1499616"/>
            <a:ext cx="2537044"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MODEL ANALYSIS</a:t>
            </a:r>
            <a:endParaRPr lang="en-US" sz="1000" dirty="0"/>
          </a:p>
        </p:txBody>
      </p:sp>
      <p:sp>
        <p:nvSpPr>
          <p:cNvPr id="16" name="Shape 14"/>
          <p:cNvSpPr/>
          <p:nvPr/>
        </p:nvSpPr>
        <p:spPr>
          <a:xfrm>
            <a:off x="3789772" y="1956816"/>
            <a:ext cx="2537044" cy="438912"/>
          </a:xfrm>
          <a:prstGeom prst="roundRect">
            <a:avLst>
              <a:gd name="adj" fmla="val 14583"/>
            </a:avLst>
          </a:prstGeom>
          <a:solidFill>
            <a:srgbClr val="FFFFFF"/>
          </a:solidFill>
          <a:ln w="6350">
            <a:solidFill>
              <a:schemeClr val="accent2"/>
            </a:solidFill>
            <a:prstDash val="solid"/>
          </a:ln>
        </p:spPr>
      </p:sp>
      <p:sp>
        <p:nvSpPr>
          <p:cNvPr id="17" name="Text 15"/>
          <p:cNvSpPr txBox="1"/>
          <p:nvPr/>
        </p:nvSpPr>
        <p:spPr>
          <a:xfrm>
            <a:off x="3844636" y="1956816"/>
            <a:ext cx="2427316" cy="438912"/>
          </a:xfrm>
          <a:prstGeom prst="rect">
            <a:avLst/>
          </a:prstGeom>
          <a:noFill/>
          <a:ln/>
        </p:spPr>
        <p:txBody>
          <a:bodyPr wrap="square" lIns="0" tIns="0" rIns="0" bIns="0" rtlCol="0" anchor="ctr"/>
          <a:lstStyle/>
          <a:p>
            <a:pPr indent="0" marL="0">
              <a:buNone/>
            </a:pPr>
            <a:r>
              <a:rPr lang="en-US" sz="1000" dirty="0">
                <a:solidFill>
                  <a:schemeClr val="tx1"/>
                </a:solidFill>
              </a:rPr>
              <a:t>Model Performance Comparison</a:t>
            </a:r>
            <a:endParaRPr lang="en-US" sz="1000" dirty="0"/>
          </a:p>
        </p:txBody>
      </p:sp>
      <p:sp>
        <p:nvSpPr>
          <p:cNvPr id="18" name="Shape 16"/>
          <p:cNvSpPr/>
          <p:nvPr/>
        </p:nvSpPr>
        <p:spPr>
          <a:xfrm>
            <a:off x="3789772" y="2468880"/>
            <a:ext cx="2537044" cy="438912"/>
          </a:xfrm>
          <a:prstGeom prst="roundRect">
            <a:avLst>
              <a:gd name="adj" fmla="val 14583"/>
            </a:avLst>
          </a:prstGeom>
          <a:solidFill>
            <a:srgbClr val="FFFFFF"/>
          </a:solidFill>
          <a:ln w="6350">
            <a:solidFill>
              <a:schemeClr val="accent2"/>
            </a:solidFill>
            <a:prstDash val="solid"/>
          </a:ln>
        </p:spPr>
      </p:sp>
      <p:sp>
        <p:nvSpPr>
          <p:cNvPr id="19" name="Text 17"/>
          <p:cNvSpPr txBox="1"/>
          <p:nvPr/>
        </p:nvSpPr>
        <p:spPr>
          <a:xfrm>
            <a:off x="3844636" y="2468880"/>
            <a:ext cx="2427316" cy="438912"/>
          </a:xfrm>
          <a:prstGeom prst="rect">
            <a:avLst/>
          </a:prstGeom>
          <a:noFill/>
          <a:ln/>
        </p:spPr>
        <p:txBody>
          <a:bodyPr wrap="square" lIns="0" tIns="0" rIns="0" bIns="0" rtlCol="0" anchor="ctr"/>
          <a:lstStyle/>
          <a:p>
            <a:pPr indent="0" marL="0">
              <a:buNone/>
            </a:pPr>
            <a:r>
              <a:rPr lang="en-US" sz="1000" dirty="0">
                <a:solidFill>
                  <a:schemeClr val="tx1"/>
                </a:solidFill>
              </a:rPr>
              <a:t>Feature Importance</a:t>
            </a:r>
            <a:endParaRPr lang="en-US" sz="1000" dirty="0"/>
          </a:p>
        </p:txBody>
      </p:sp>
      <p:sp>
        <p:nvSpPr>
          <p:cNvPr id="20" name="Shape 18"/>
          <p:cNvSpPr/>
          <p:nvPr/>
        </p:nvSpPr>
        <p:spPr>
          <a:xfrm>
            <a:off x="3789772" y="2980944"/>
            <a:ext cx="2537044" cy="438912"/>
          </a:xfrm>
          <a:prstGeom prst="roundRect">
            <a:avLst>
              <a:gd name="adj" fmla="val 14583"/>
            </a:avLst>
          </a:prstGeom>
          <a:solidFill>
            <a:srgbClr val="FFFFFF"/>
          </a:solidFill>
          <a:ln w="6350">
            <a:solidFill>
              <a:schemeClr val="accent2"/>
            </a:solidFill>
            <a:prstDash val="solid"/>
          </a:ln>
        </p:spPr>
      </p:sp>
      <p:sp>
        <p:nvSpPr>
          <p:cNvPr id="21" name="Text 19"/>
          <p:cNvSpPr txBox="1"/>
          <p:nvPr/>
        </p:nvSpPr>
        <p:spPr>
          <a:xfrm>
            <a:off x="3844636" y="2980944"/>
            <a:ext cx="2427316" cy="438912"/>
          </a:xfrm>
          <a:prstGeom prst="rect">
            <a:avLst/>
          </a:prstGeom>
          <a:noFill/>
          <a:ln/>
        </p:spPr>
        <p:txBody>
          <a:bodyPr wrap="square" lIns="0" tIns="0" rIns="0" bIns="0" rtlCol="0" anchor="ctr"/>
          <a:lstStyle/>
          <a:p>
            <a:pPr indent="0" marL="0">
              <a:buNone/>
            </a:pPr>
            <a:r>
              <a:rPr lang="en-US" sz="1000" dirty="0">
                <a:solidFill>
                  <a:schemeClr val="tx1"/>
                </a:solidFill>
              </a:rPr>
              <a:t>Prediction vs Actual</a:t>
            </a:r>
            <a:endParaRPr lang="en-US" sz="1000" dirty="0"/>
          </a:p>
        </p:txBody>
      </p:sp>
      <p:sp>
        <p:nvSpPr>
          <p:cNvPr id="22" name="rgrp3"/>
          <p:cNvSpPr/>
          <p:nvPr/>
        </p:nvSpPr>
        <p:spPr>
          <a:xfrm>
            <a:off x="6637713" y="1371600"/>
            <a:ext cx="2793076" cy="2249424"/>
          </a:xfrm>
          <a:prstGeom prst="roundRect">
            <a:avLst>
              <a:gd name="adj" fmla="val 2439"/>
            </a:avLst>
          </a:prstGeom>
          <a:solidFill>
            <a:schemeClr val="bg2"/>
          </a:solidFill>
          <a:ln w="6350">
            <a:solidFill>
              <a:schemeClr val="accent2"/>
            </a:solidFill>
            <a:prstDash val="solid"/>
          </a:ln>
        </p:spPr>
      </p:sp>
      <p:sp>
        <p:nvSpPr>
          <p:cNvPr id="23" name="Text 21"/>
          <p:cNvSpPr txBox="1"/>
          <p:nvPr/>
        </p:nvSpPr>
        <p:spPr>
          <a:xfrm>
            <a:off x="6765729" y="1499616"/>
            <a:ext cx="2537044"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MODEL OPERATIONS</a:t>
            </a:r>
            <a:endParaRPr lang="en-US" sz="1000" dirty="0"/>
          </a:p>
        </p:txBody>
      </p:sp>
      <p:sp>
        <p:nvSpPr>
          <p:cNvPr id="24" name="Shape 22"/>
          <p:cNvSpPr/>
          <p:nvPr/>
        </p:nvSpPr>
        <p:spPr>
          <a:xfrm>
            <a:off x="6765729" y="1956816"/>
            <a:ext cx="2537044" cy="438912"/>
          </a:xfrm>
          <a:prstGeom prst="roundRect">
            <a:avLst>
              <a:gd name="adj" fmla="val 14583"/>
            </a:avLst>
          </a:prstGeom>
          <a:solidFill>
            <a:srgbClr val="FFFFFF"/>
          </a:solidFill>
          <a:ln w="6350">
            <a:solidFill>
              <a:schemeClr val="accent2"/>
            </a:solidFill>
            <a:prstDash val="solid"/>
          </a:ln>
        </p:spPr>
      </p:sp>
      <p:sp>
        <p:nvSpPr>
          <p:cNvPr id="25" name="Text 23"/>
          <p:cNvSpPr txBox="1"/>
          <p:nvPr/>
        </p:nvSpPr>
        <p:spPr>
          <a:xfrm>
            <a:off x="6820593" y="1956816"/>
            <a:ext cx="2427316" cy="438912"/>
          </a:xfrm>
          <a:prstGeom prst="rect">
            <a:avLst/>
          </a:prstGeom>
          <a:noFill/>
          <a:ln/>
        </p:spPr>
        <p:txBody>
          <a:bodyPr wrap="square" lIns="0" tIns="0" rIns="0" bIns="0" rtlCol="0" anchor="ctr"/>
          <a:lstStyle/>
          <a:p>
            <a:pPr indent="0" marL="0">
              <a:buNone/>
            </a:pPr>
            <a:r>
              <a:rPr lang="en-US" sz="1000" dirty="0">
                <a:solidFill>
                  <a:schemeClr val="tx1"/>
                </a:solidFill>
              </a:rPr>
              <a:t>Train &amp; Run Models</a:t>
            </a:r>
            <a:endParaRPr lang="en-US" sz="1000" dirty="0"/>
          </a:p>
        </p:txBody>
      </p:sp>
      <p:sp>
        <p:nvSpPr>
          <p:cNvPr id="26" name="Shape 24"/>
          <p:cNvSpPr/>
          <p:nvPr/>
        </p:nvSpPr>
        <p:spPr>
          <a:xfrm>
            <a:off x="6765729" y="2468880"/>
            <a:ext cx="2537044" cy="438912"/>
          </a:xfrm>
          <a:prstGeom prst="roundRect">
            <a:avLst>
              <a:gd name="adj" fmla="val 14583"/>
            </a:avLst>
          </a:prstGeom>
          <a:solidFill>
            <a:srgbClr val="FFFFFF"/>
          </a:solidFill>
          <a:ln w="6350">
            <a:solidFill>
              <a:schemeClr val="accent2"/>
            </a:solidFill>
            <a:prstDash val="solid"/>
          </a:ln>
        </p:spPr>
      </p:sp>
      <p:sp>
        <p:nvSpPr>
          <p:cNvPr id="27" name="Text 25"/>
          <p:cNvSpPr txBox="1"/>
          <p:nvPr/>
        </p:nvSpPr>
        <p:spPr>
          <a:xfrm>
            <a:off x="6820593" y="2468880"/>
            <a:ext cx="2427316" cy="438912"/>
          </a:xfrm>
          <a:prstGeom prst="rect">
            <a:avLst/>
          </a:prstGeom>
          <a:noFill/>
          <a:ln/>
        </p:spPr>
        <p:txBody>
          <a:bodyPr wrap="square" lIns="0" tIns="0" rIns="0" bIns="0" rtlCol="0" anchor="ctr"/>
          <a:lstStyle/>
          <a:p>
            <a:pPr indent="0" marL="0">
              <a:buNone/>
            </a:pPr>
            <a:r>
              <a:rPr lang="en-US" sz="1000" dirty="0">
                <a:solidFill>
                  <a:schemeClr val="tx1"/>
                </a:solidFill>
              </a:rPr>
              <a:t>Model Version History</a:t>
            </a:r>
            <a:endParaRPr lang="en-US" sz="1000" dirty="0"/>
          </a:p>
        </p:txBody>
      </p:sp>
      <p:sp>
        <p:nvSpPr>
          <p:cNvPr id="28" name="Shape 26"/>
          <p:cNvSpPr/>
          <p:nvPr/>
        </p:nvSpPr>
        <p:spPr>
          <a:xfrm>
            <a:off x="6765729" y="2980944"/>
            <a:ext cx="2537044" cy="438912"/>
          </a:xfrm>
          <a:prstGeom prst="roundRect">
            <a:avLst>
              <a:gd name="adj" fmla="val 14583"/>
            </a:avLst>
          </a:prstGeom>
          <a:solidFill>
            <a:srgbClr val="FFFFFF"/>
          </a:solidFill>
          <a:ln w="6350">
            <a:solidFill>
              <a:schemeClr val="accent2"/>
            </a:solidFill>
            <a:prstDash val="solid"/>
          </a:ln>
        </p:spPr>
      </p:sp>
      <p:sp>
        <p:nvSpPr>
          <p:cNvPr id="29" name="Text 27"/>
          <p:cNvSpPr txBox="1"/>
          <p:nvPr/>
        </p:nvSpPr>
        <p:spPr>
          <a:xfrm>
            <a:off x="6820593" y="2980944"/>
            <a:ext cx="2427316" cy="438912"/>
          </a:xfrm>
          <a:prstGeom prst="rect">
            <a:avLst/>
          </a:prstGeom>
          <a:noFill/>
          <a:ln/>
        </p:spPr>
        <p:txBody>
          <a:bodyPr wrap="square" lIns="0" tIns="0" rIns="0" bIns="0" rtlCol="0" anchor="ctr"/>
          <a:lstStyle/>
          <a:p>
            <a:pPr indent="0" marL="0">
              <a:buNone/>
            </a:pPr>
            <a:r>
              <a:rPr lang="en-US" sz="1000" dirty="0">
                <a:solidFill>
                  <a:schemeClr val="tx1"/>
                </a:solidFill>
              </a:rPr>
              <a:t>Benchmark Comparison</a:t>
            </a:r>
            <a:endParaRPr lang="en-US" sz="1000" dirty="0"/>
          </a:p>
        </p:txBody>
      </p:sp>
      <p:sp>
        <p:nvSpPr>
          <p:cNvPr id="30" name="rgrp4"/>
          <p:cNvSpPr/>
          <p:nvPr/>
        </p:nvSpPr>
        <p:spPr>
          <a:xfrm>
            <a:off x="9613669" y="1371600"/>
            <a:ext cx="931025" cy="2249424"/>
          </a:xfrm>
          <a:prstGeom prst="roundRect">
            <a:avLst>
              <a:gd name="adj" fmla="val 5893"/>
            </a:avLst>
          </a:prstGeom>
          <a:solidFill>
            <a:schemeClr val="bg2"/>
          </a:solidFill>
          <a:ln w="6350">
            <a:solidFill>
              <a:schemeClr val="accent2"/>
            </a:solidFill>
            <a:prstDash val="solid"/>
          </a:ln>
        </p:spPr>
      </p:sp>
      <p:sp>
        <p:nvSpPr>
          <p:cNvPr id="31" name="Text 29"/>
          <p:cNvSpPr txBox="1"/>
          <p:nvPr/>
        </p:nvSpPr>
        <p:spPr>
          <a:xfrm>
            <a:off x="9741685" y="1499616"/>
            <a:ext cx="674993"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PUBLICATIONS</a:t>
            </a:r>
            <a:endParaRPr lang="en-US" sz="1000" dirty="0"/>
          </a:p>
        </p:txBody>
      </p:sp>
      <p:sp>
        <p:nvSpPr>
          <p:cNvPr id="32" name="Shape 30"/>
          <p:cNvSpPr/>
          <p:nvPr/>
        </p:nvSpPr>
        <p:spPr>
          <a:xfrm>
            <a:off x="9741685" y="1956816"/>
            <a:ext cx="674993" cy="438912"/>
          </a:xfrm>
          <a:prstGeom prst="roundRect">
            <a:avLst>
              <a:gd name="adj" fmla="val 14583"/>
            </a:avLst>
          </a:prstGeom>
          <a:solidFill>
            <a:srgbClr val="FFFFFF"/>
          </a:solidFill>
          <a:ln w="6350">
            <a:solidFill>
              <a:schemeClr val="accent2"/>
            </a:solidFill>
            <a:prstDash val="solid"/>
          </a:ln>
        </p:spPr>
      </p:sp>
      <p:sp>
        <p:nvSpPr>
          <p:cNvPr id="33" name="Text 31"/>
          <p:cNvSpPr txBox="1"/>
          <p:nvPr/>
        </p:nvSpPr>
        <p:spPr>
          <a:xfrm>
            <a:off x="9796549" y="1956816"/>
            <a:ext cx="565265" cy="438912"/>
          </a:xfrm>
          <a:prstGeom prst="rect">
            <a:avLst/>
          </a:prstGeom>
          <a:noFill/>
          <a:ln/>
        </p:spPr>
        <p:txBody>
          <a:bodyPr wrap="square" lIns="0" tIns="0" rIns="0" bIns="0" rtlCol="0" anchor="ctr"/>
          <a:lstStyle/>
          <a:p>
            <a:pPr indent="0" marL="0">
              <a:buNone/>
            </a:pPr>
            <a:r>
              <a:rPr lang="en-US" sz="1000" dirty="0">
                <a:solidFill>
                  <a:schemeClr val="tx1"/>
                </a:solidFill>
              </a:rPr>
              <a:t>Report &amp; Export Center</a:t>
            </a:r>
            <a:endParaRPr lang="en-US" sz="1000" dirty="0"/>
          </a:p>
        </p:txBody>
      </p:sp>
      <p:sp>
        <p:nvSpPr>
          <p:cNvPr id="34" name="rgrp5"/>
          <p:cNvSpPr/>
          <p:nvPr/>
        </p:nvSpPr>
        <p:spPr>
          <a:xfrm>
            <a:off x="10727575" y="1371600"/>
            <a:ext cx="931025" cy="2249424"/>
          </a:xfrm>
          <a:prstGeom prst="roundRect">
            <a:avLst>
              <a:gd name="adj" fmla="val 5893"/>
            </a:avLst>
          </a:prstGeom>
          <a:solidFill>
            <a:schemeClr val="bg2"/>
          </a:solidFill>
          <a:ln w="6350">
            <a:solidFill>
              <a:schemeClr val="accent2"/>
            </a:solidFill>
            <a:prstDash val="solid"/>
          </a:ln>
        </p:spPr>
      </p:sp>
      <p:sp>
        <p:nvSpPr>
          <p:cNvPr id="35" name="Text 33"/>
          <p:cNvSpPr txBox="1"/>
          <p:nvPr/>
        </p:nvSpPr>
        <p:spPr>
          <a:xfrm>
            <a:off x="10855591" y="1499616"/>
            <a:ext cx="674993" cy="402336"/>
          </a:xfrm>
          <a:prstGeom prst="rect">
            <a:avLst/>
          </a:prstGeom>
          <a:noFill/>
          <a:ln/>
        </p:spPr>
        <p:txBody>
          <a:bodyPr wrap="square" lIns="0" tIns="0" rIns="0" bIns="0" rtlCol="0" anchor="ctr"/>
          <a:lstStyle/>
          <a:p>
            <a:pPr indent="0" marL="0">
              <a:buNone/>
            </a:pPr>
            <a:r>
              <a:rPr lang="en-US" sz="1000" b="1" spc="110" kern="0" dirty="0">
                <a:solidFill>
                  <a:schemeClr val="accent1"/>
                </a:solidFill>
              </a:rPr>
              <a:t>ADMIN</a:t>
            </a:r>
            <a:endParaRPr lang="en-US" sz="1000" dirty="0"/>
          </a:p>
        </p:txBody>
      </p:sp>
      <p:sp>
        <p:nvSpPr>
          <p:cNvPr id="36" name="Shape 34"/>
          <p:cNvSpPr/>
          <p:nvPr/>
        </p:nvSpPr>
        <p:spPr>
          <a:xfrm>
            <a:off x="10855591" y="1956816"/>
            <a:ext cx="674993" cy="438912"/>
          </a:xfrm>
          <a:prstGeom prst="roundRect">
            <a:avLst>
              <a:gd name="adj" fmla="val 14583"/>
            </a:avLst>
          </a:prstGeom>
          <a:solidFill>
            <a:srgbClr val="FFFFFF"/>
          </a:solidFill>
          <a:ln w="6350">
            <a:solidFill>
              <a:schemeClr val="accent2"/>
            </a:solidFill>
            <a:prstDash val="solid"/>
          </a:ln>
        </p:spPr>
      </p:sp>
      <p:sp>
        <p:nvSpPr>
          <p:cNvPr id="37" name="Text 35"/>
          <p:cNvSpPr txBox="1"/>
          <p:nvPr/>
        </p:nvSpPr>
        <p:spPr>
          <a:xfrm>
            <a:off x="10910455" y="1956816"/>
            <a:ext cx="565265" cy="438912"/>
          </a:xfrm>
          <a:prstGeom prst="rect">
            <a:avLst/>
          </a:prstGeom>
          <a:noFill/>
          <a:ln/>
        </p:spPr>
        <p:txBody>
          <a:bodyPr wrap="square" lIns="0" tIns="0" rIns="0" bIns="0" rtlCol="0" anchor="ctr"/>
          <a:lstStyle/>
          <a:p>
            <a:pPr indent="0" marL="0">
              <a:buNone/>
            </a:pPr>
            <a:r>
              <a:rPr lang="en-US" sz="1000" dirty="0">
                <a:solidFill>
                  <a:schemeClr val="tx1"/>
                </a:solidFill>
              </a:rPr>
              <a:t>User &amp; Access Management</a:t>
            </a:r>
            <a:endParaRPr lang="en-US" sz="1000" dirty="0"/>
          </a:p>
        </p:txBody>
      </p:sp>
      <p:sp>
        <p:nvSpPr>
          <p:cNvPr id="38" name="resHighlight"/>
          <p:cNvSpPr/>
          <p:nvPr/>
        </p:nvSpPr>
        <p:spPr>
          <a:xfrm>
            <a:off x="502920" y="3895344"/>
            <a:ext cx="11155680" cy="1865376"/>
          </a:xfrm>
          <a:prstGeom prst="roundRect">
            <a:avLst>
              <a:gd name="adj" fmla="val 2941"/>
            </a:avLst>
          </a:prstGeom>
          <a:solidFill>
            <a:schemeClr val="bg2"/>
          </a:solidFill>
          <a:ln w="6350">
            <a:solidFill>
              <a:schemeClr val="accent2"/>
            </a:solidFill>
            <a:prstDash val="solid"/>
          </a:ln>
        </p:spPr>
      </p:sp>
      <p:sp>
        <p:nvSpPr>
          <p:cNvPr id="39" name="Text 37"/>
          <p:cNvSpPr txBox="1"/>
          <p:nvPr/>
        </p:nvSpPr>
        <p:spPr>
          <a:xfrm>
            <a:off x="777240" y="4041648"/>
            <a:ext cx="3657600"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PERMISSION MODEL</a:t>
            </a:r>
            <a:endParaRPr lang="en-US" sz="1050" dirty="0"/>
          </a:p>
        </p:txBody>
      </p:sp>
      <p:sp>
        <p:nvSpPr>
          <p:cNvPr id="40" name="Text 38"/>
          <p:cNvSpPr txBox="1"/>
          <p:nvPr/>
        </p:nvSpPr>
        <p:spPr>
          <a:xfrm>
            <a:off x="777240" y="4352544"/>
            <a:ext cx="10607040" cy="1316736"/>
          </a:xfrm>
          <a:prstGeom prst="rect">
            <a:avLst/>
          </a:prstGeom>
          <a:noFill/>
          <a:ln/>
        </p:spPr>
        <p:txBody>
          <a:bodyPr wrap="square" rtlCol="0" anchor="ctr"/>
          <a:lstStyle/>
          <a:p>
            <a:pPr marL="342900" indent="-342900">
              <a:spcAft>
                <a:spcPts val="600"/>
              </a:spcAft>
              <a:buSzPct val="100000"/>
              <a:buChar char="•"/>
            </a:pPr>
            <a:r>
              <a:rPr lang="en-US" sz="1250" dirty="0">
                <a:solidFill>
                  <a:schemeClr val="tx1"/>
                </a:solidFill>
              </a:rPr>
              <a:t>Research Lead → Researcher hierarchy, with can_run_models and can_train_models as independent flags — a researcher may be granted one without the other.</a:t>
            </a:r>
            <a:endParaRPr lang="en-US" sz="1250" dirty="0"/>
          </a:p>
          <a:p>
            <a:pPr marL="342900" indent="-342900">
              <a:spcAft>
                <a:spcPts val="600"/>
              </a:spcAft>
              <a:buSzPct val="100000"/>
              <a:buChar char="•"/>
            </a:pPr>
            <a:r>
              <a:rPr lang="en-US" sz="1250" dirty="0">
                <a:solidFill>
                  <a:schemeClr val="tx1"/>
                </a:solidFill>
              </a:rPr>
              <a:t>Run, Train and Promote are strictly separated actions. Running a model and training a model are different permissions, not one “model access” switch.</a:t>
            </a:r>
            <a:endParaRPr lang="en-US" sz="1250" dirty="0"/>
          </a:p>
          <a:p>
            <a:pPr marL="342900" indent="-342900">
              <a:spcAft>
                <a:spcPts val="600"/>
              </a:spcAft>
              <a:buSzPct val="100000"/>
              <a:buChar char="•"/>
            </a:pPr>
            <a:r>
              <a:rPr lang="en-US" sz="1250" dirty="0">
                <a:solidFill>
                  <a:schemeClr val="tx1"/>
                </a:solidFill>
              </a:rPr>
              <a:t>Promoting to production is the only action that changes what the live pipeline serves. It requires explicit confirmation and is restricted to Research Lead or Super Admin.</a:t>
            </a:r>
            <a:endParaRPr lang="en-US" sz="12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Experiments — temporal data approach</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How the training format was arrived at. Each attempt was abandoned for a measured reason, not a guess</a:t>
            </a:r>
            <a:endParaRPr lang="en-US" sz="1300" dirty="0"/>
          </a:p>
        </p:txBody>
      </p:sp>
      <p:sp>
        <p:nvSpPr>
          <p:cNvPr id="4" name="att0"/>
          <p:cNvSpPr/>
          <p:nvPr/>
        </p:nvSpPr>
        <p:spPr>
          <a:xfrm>
            <a:off x="502920" y="1371600"/>
            <a:ext cx="2610612" cy="3767328"/>
          </a:xfrm>
          <a:prstGeom prst="roundRect">
            <a:avLst>
              <a:gd name="adj" fmla="val 2102"/>
            </a:avLst>
          </a:prstGeom>
          <a:solidFill>
            <a:schemeClr val="bg2"/>
          </a:solidFill>
          <a:ln w="6350">
            <a:solidFill>
              <a:schemeClr val="accent2"/>
            </a:solidFill>
            <a:prstDash val="solid"/>
          </a:ln>
        </p:spPr>
      </p:sp>
      <p:sp>
        <p:nvSpPr>
          <p:cNvPr id="5" name="Shape 3"/>
          <p:cNvSpPr/>
          <p:nvPr/>
        </p:nvSpPr>
        <p:spPr>
          <a:xfrm>
            <a:off x="685800" y="1554480"/>
            <a:ext cx="310896" cy="310896"/>
          </a:xfrm>
          <a:prstGeom prst="ellipse">
            <a:avLst/>
          </a:prstGeom>
          <a:solidFill>
            <a:schemeClr val="accent1"/>
          </a:solidFill>
          <a:ln/>
        </p:spPr>
      </p:sp>
      <p:sp>
        <p:nvSpPr>
          <p:cNvPr id="6" name="Text 4"/>
          <p:cNvSpPr txBox="1"/>
          <p:nvPr/>
        </p:nvSpPr>
        <p:spPr>
          <a:xfrm>
            <a:off x="68580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Shape 5"/>
          <p:cNvSpPr/>
          <p:nvPr/>
        </p:nvSpPr>
        <p:spPr>
          <a:xfrm>
            <a:off x="1069848" y="1572768"/>
            <a:ext cx="1097280" cy="274320"/>
          </a:xfrm>
          <a:prstGeom prst="roundRect">
            <a:avLst>
              <a:gd name="adj" fmla="val 30000"/>
            </a:avLst>
          </a:prstGeom>
          <a:solidFill>
            <a:schemeClr val="accent3"/>
          </a:solidFill>
          <a:ln/>
        </p:spPr>
      </p:sp>
      <p:sp>
        <p:nvSpPr>
          <p:cNvPr id="8" name="Text 6"/>
          <p:cNvSpPr txBox="1"/>
          <p:nvPr/>
        </p:nvSpPr>
        <p:spPr>
          <a:xfrm>
            <a:off x="1069848" y="1572768"/>
            <a:ext cx="1097280" cy="274320"/>
          </a:xfrm>
          <a:prstGeom prst="rect">
            <a:avLst/>
          </a:prstGeom>
          <a:noFill/>
          <a:ln/>
        </p:spPr>
        <p:txBody>
          <a:bodyPr wrap="square" lIns="0" tIns="0" rIns="0" bIns="0" rtlCol="0" anchor="ctr"/>
          <a:lstStyle/>
          <a:p>
            <a:pPr algn="ctr" indent="0" marL="0">
              <a:buNone/>
            </a:pPr>
            <a:r>
              <a:rPr lang="en-US" sz="850" b="1" dirty="0">
                <a:solidFill>
                  <a:srgbClr val="14281A"/>
                </a:solidFill>
              </a:rPr>
              <a:t>BASELINE</a:t>
            </a:r>
            <a:endParaRPr lang="en-US" sz="850" dirty="0"/>
          </a:p>
        </p:txBody>
      </p:sp>
      <p:sp>
        <p:nvSpPr>
          <p:cNvPr id="9" name="Text 7"/>
          <p:cNvSpPr txBox="1"/>
          <p:nvPr/>
        </p:nvSpPr>
        <p:spPr>
          <a:xfrm>
            <a:off x="685800" y="1956816"/>
            <a:ext cx="2244852" cy="566928"/>
          </a:xfrm>
          <a:prstGeom prst="rect">
            <a:avLst/>
          </a:prstGeom>
          <a:noFill/>
          <a:ln/>
        </p:spPr>
        <p:txBody>
          <a:bodyPr wrap="square" lIns="0" tIns="0" rIns="0" bIns="0" rtlCol="0" anchor="t"/>
          <a:lstStyle/>
          <a:p>
            <a:pPr indent="0" marL="0">
              <a:buNone/>
            </a:pPr>
            <a:r>
              <a:rPr lang="en-US" sz="1300" b="1" dirty="0">
                <a:solidFill>
                  <a:schemeClr val="tx2"/>
                </a:solidFill>
              </a:rPr>
              <a:t>Season-median composite</a:t>
            </a:r>
            <a:endParaRPr lang="en-US" sz="1300" dirty="0"/>
          </a:p>
        </p:txBody>
      </p:sp>
      <p:sp>
        <p:nvSpPr>
          <p:cNvPr id="10" name="Text 8"/>
          <p:cNvSpPr txBox="1"/>
          <p:nvPr/>
        </p:nvSpPr>
        <p:spPr>
          <a:xfrm>
            <a:off x="685800" y="2560320"/>
            <a:ext cx="2244852" cy="786384"/>
          </a:xfrm>
          <a:prstGeom prst="rect">
            <a:avLst/>
          </a:prstGeom>
          <a:noFill/>
          <a:ln/>
        </p:spPr>
        <p:txBody>
          <a:bodyPr wrap="square" lIns="0" tIns="0" rIns="0" bIns="0" rtlCol="0" anchor="t"/>
          <a:lstStyle/>
          <a:p>
            <a:pPr indent="0" marL="0">
              <a:buNone/>
            </a:pPr>
            <a:r>
              <a:rPr lang="en-US" sz="1050" dirty="0">
                <a:solidFill>
                  <a:schemeClr val="tx1"/>
                </a:solidFill>
              </a:rPr>
              <a:t>One median composite per crop-season over five indices, reduced at 100 m.</a:t>
            </a:r>
            <a:endParaRPr lang="en-US" sz="1050" dirty="0"/>
          </a:p>
        </p:txBody>
      </p:sp>
      <p:sp>
        <p:nvSpPr>
          <p:cNvPr id="11" name="Text 9"/>
          <p:cNvSpPr txBox="1"/>
          <p:nvPr/>
        </p:nvSpPr>
        <p:spPr>
          <a:xfrm>
            <a:off x="685800" y="3383280"/>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Collapses green-up rate, peak height and senescence timing into a single number per index. A diagnostic found the model behaving largely as a crop-name lookup.</a:t>
            </a:r>
            <a:endParaRPr lang="en-US" sz="1000" dirty="0"/>
          </a:p>
        </p:txBody>
      </p:sp>
      <p:sp>
        <p:nvSpPr>
          <p:cNvPr id="12" name="Shape 10"/>
          <p:cNvSpPr/>
          <p:nvPr/>
        </p:nvSpPr>
        <p:spPr>
          <a:xfrm>
            <a:off x="3150108" y="3154680"/>
            <a:ext cx="164592" cy="146304"/>
          </a:xfrm>
          <a:prstGeom prst="rightArrow">
            <a:avLst/>
          </a:prstGeom>
          <a:solidFill>
            <a:schemeClr val="accent2"/>
          </a:solidFill>
          <a:ln/>
        </p:spPr>
      </p:sp>
      <p:sp>
        <p:nvSpPr>
          <p:cNvPr id="13" name="att1"/>
          <p:cNvSpPr/>
          <p:nvPr/>
        </p:nvSpPr>
        <p:spPr>
          <a:xfrm>
            <a:off x="3351276" y="1371600"/>
            <a:ext cx="2610612" cy="3767328"/>
          </a:xfrm>
          <a:prstGeom prst="roundRect">
            <a:avLst>
              <a:gd name="adj" fmla="val 2102"/>
            </a:avLst>
          </a:prstGeom>
          <a:solidFill>
            <a:schemeClr val="bg2"/>
          </a:solidFill>
          <a:ln w="6350">
            <a:solidFill>
              <a:schemeClr val="accent2"/>
            </a:solidFill>
            <a:prstDash val="solid"/>
          </a:ln>
        </p:spPr>
      </p:sp>
      <p:sp>
        <p:nvSpPr>
          <p:cNvPr id="14" name="Shape 12"/>
          <p:cNvSpPr/>
          <p:nvPr/>
        </p:nvSpPr>
        <p:spPr>
          <a:xfrm>
            <a:off x="3534156" y="1554480"/>
            <a:ext cx="310896" cy="310896"/>
          </a:xfrm>
          <a:prstGeom prst="ellipse">
            <a:avLst/>
          </a:prstGeom>
          <a:solidFill>
            <a:schemeClr val="accent1"/>
          </a:solidFill>
          <a:ln/>
        </p:spPr>
      </p:sp>
      <p:sp>
        <p:nvSpPr>
          <p:cNvPr id="15" name="Text 13"/>
          <p:cNvSpPr txBox="1"/>
          <p:nvPr/>
        </p:nvSpPr>
        <p:spPr>
          <a:xfrm>
            <a:off x="3534156"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Shape 14"/>
          <p:cNvSpPr/>
          <p:nvPr/>
        </p:nvSpPr>
        <p:spPr>
          <a:xfrm>
            <a:off x="3918204" y="1572768"/>
            <a:ext cx="1097280" cy="274320"/>
          </a:xfrm>
          <a:prstGeom prst="roundRect">
            <a:avLst>
              <a:gd name="adj" fmla="val 30000"/>
            </a:avLst>
          </a:prstGeom>
          <a:solidFill>
            <a:schemeClr val="accent3"/>
          </a:solidFill>
          <a:ln/>
        </p:spPr>
      </p:sp>
      <p:sp>
        <p:nvSpPr>
          <p:cNvPr id="17" name="Text 15"/>
          <p:cNvSpPr txBox="1"/>
          <p:nvPr/>
        </p:nvSpPr>
        <p:spPr>
          <a:xfrm>
            <a:off x="3918204" y="1572768"/>
            <a:ext cx="1097280" cy="274320"/>
          </a:xfrm>
          <a:prstGeom prst="rect">
            <a:avLst/>
          </a:prstGeom>
          <a:noFill/>
          <a:ln/>
        </p:spPr>
        <p:txBody>
          <a:bodyPr wrap="square" lIns="0" tIns="0" rIns="0" bIns="0" rtlCol="0" anchor="ctr"/>
          <a:lstStyle/>
          <a:p>
            <a:pPr algn="ctr" indent="0" marL="0">
              <a:buNone/>
            </a:pPr>
            <a:r>
              <a:rPr lang="en-US" sz="850" b="1" dirty="0">
                <a:solidFill>
                  <a:srgbClr val="14281A"/>
                </a:solidFill>
              </a:rPr>
              <a:t>TOO COSTLY</a:t>
            </a:r>
            <a:endParaRPr lang="en-US" sz="850" dirty="0"/>
          </a:p>
        </p:txBody>
      </p:sp>
      <p:sp>
        <p:nvSpPr>
          <p:cNvPr id="18" name="Text 16"/>
          <p:cNvSpPr txBox="1"/>
          <p:nvPr/>
        </p:nvSpPr>
        <p:spPr>
          <a:xfrm>
            <a:off x="3534156" y="1956816"/>
            <a:ext cx="2244852" cy="566928"/>
          </a:xfrm>
          <a:prstGeom prst="rect">
            <a:avLst/>
          </a:prstGeom>
          <a:noFill/>
          <a:ln/>
        </p:spPr>
        <p:txBody>
          <a:bodyPr wrap="square" lIns="0" tIns="0" rIns="0" bIns="0" rtlCol="0" anchor="t"/>
          <a:lstStyle/>
          <a:p>
            <a:pPr indent="0" marL="0">
              <a:buNone/>
            </a:pPr>
            <a:r>
              <a:rPr lang="en-US" sz="1300" b="1" dirty="0">
                <a:solidFill>
                  <a:schemeClr val="tx2"/>
                </a:solidFill>
              </a:rPr>
              <a:t>One observation per date</a:t>
            </a:r>
            <a:endParaRPr lang="en-US" sz="1300" dirty="0"/>
          </a:p>
        </p:txBody>
      </p:sp>
      <p:sp>
        <p:nvSpPr>
          <p:cNvPr id="19" name="Text 17"/>
          <p:cNvSpPr txBox="1"/>
          <p:nvPr/>
        </p:nvSpPr>
        <p:spPr>
          <a:xfrm>
            <a:off x="3534156" y="2560320"/>
            <a:ext cx="2244852" cy="786384"/>
          </a:xfrm>
          <a:prstGeom prst="rect">
            <a:avLst/>
          </a:prstGeom>
          <a:noFill/>
          <a:ln/>
        </p:spPr>
        <p:txBody>
          <a:bodyPr wrap="square" lIns="0" tIns="0" rIns="0" bIns="0" rtlCol="0" anchor="t"/>
          <a:lstStyle/>
          <a:p>
            <a:pPr indent="0" marL="0">
              <a:buNone/>
            </a:pPr>
            <a:r>
              <a:rPr lang="en-US" sz="1050" dirty="0">
                <a:solidFill>
                  <a:schemeClr val="tx1"/>
                </a:solidFill>
              </a:rPr>
              <a:t>Kept every satellite pass instead of one composite per season.</a:t>
            </a:r>
            <a:endParaRPr lang="en-US" sz="1050" dirty="0"/>
          </a:p>
        </p:txBody>
      </p:sp>
      <p:sp>
        <p:nvSpPr>
          <p:cNvPr id="20" name="Text 18"/>
          <p:cNvSpPr txBox="1"/>
          <p:nvPr/>
        </p:nvSpPr>
        <p:spPr>
          <a:xfrm>
            <a:off x="3534156" y="3383280"/>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2,378 separate Earth Engine requests at ~392 s per crop-season. Fixed by batching per crop-season and stacking dates as image bands: 85 requests, ~20 s each.</a:t>
            </a:r>
            <a:endParaRPr lang="en-US" sz="1000" dirty="0"/>
          </a:p>
        </p:txBody>
      </p:sp>
      <p:sp>
        <p:nvSpPr>
          <p:cNvPr id="21" name="Shape 19"/>
          <p:cNvSpPr/>
          <p:nvPr/>
        </p:nvSpPr>
        <p:spPr>
          <a:xfrm>
            <a:off x="5998464" y="3154680"/>
            <a:ext cx="164592" cy="146304"/>
          </a:xfrm>
          <a:prstGeom prst="rightArrow">
            <a:avLst/>
          </a:prstGeom>
          <a:solidFill>
            <a:schemeClr val="accent2"/>
          </a:solidFill>
          <a:ln/>
        </p:spPr>
      </p:sp>
      <p:sp>
        <p:nvSpPr>
          <p:cNvPr id="22" name="att2"/>
          <p:cNvSpPr/>
          <p:nvPr/>
        </p:nvSpPr>
        <p:spPr>
          <a:xfrm>
            <a:off x="6199632" y="1371600"/>
            <a:ext cx="2610612" cy="3767328"/>
          </a:xfrm>
          <a:prstGeom prst="roundRect">
            <a:avLst>
              <a:gd name="adj" fmla="val 2102"/>
            </a:avLst>
          </a:prstGeom>
          <a:solidFill>
            <a:schemeClr val="bg2"/>
          </a:solidFill>
          <a:ln w="6350">
            <a:solidFill>
              <a:schemeClr val="accent2"/>
            </a:solidFill>
            <a:prstDash val="solid"/>
          </a:ln>
        </p:spPr>
      </p:sp>
      <p:sp>
        <p:nvSpPr>
          <p:cNvPr id="23" name="Shape 21"/>
          <p:cNvSpPr/>
          <p:nvPr/>
        </p:nvSpPr>
        <p:spPr>
          <a:xfrm>
            <a:off x="6382512" y="1554480"/>
            <a:ext cx="310896" cy="310896"/>
          </a:xfrm>
          <a:prstGeom prst="ellipse">
            <a:avLst/>
          </a:prstGeom>
          <a:solidFill>
            <a:schemeClr val="accent1"/>
          </a:solidFill>
          <a:ln/>
        </p:spPr>
      </p:sp>
      <p:sp>
        <p:nvSpPr>
          <p:cNvPr id="24" name="Text 22"/>
          <p:cNvSpPr txBox="1"/>
          <p:nvPr/>
        </p:nvSpPr>
        <p:spPr>
          <a:xfrm>
            <a:off x="6382512"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5" name="Shape 23"/>
          <p:cNvSpPr/>
          <p:nvPr/>
        </p:nvSpPr>
        <p:spPr>
          <a:xfrm>
            <a:off x="6766560" y="1572768"/>
            <a:ext cx="1097280" cy="274320"/>
          </a:xfrm>
          <a:prstGeom prst="roundRect">
            <a:avLst>
              <a:gd name="adj" fmla="val 30000"/>
            </a:avLst>
          </a:prstGeom>
          <a:solidFill>
            <a:schemeClr val="accent3"/>
          </a:solidFill>
          <a:ln/>
        </p:spPr>
      </p:sp>
      <p:sp>
        <p:nvSpPr>
          <p:cNvPr id="26" name="Text 24"/>
          <p:cNvSpPr txBox="1"/>
          <p:nvPr/>
        </p:nvSpPr>
        <p:spPr>
          <a:xfrm>
            <a:off x="6766560" y="1572768"/>
            <a:ext cx="1097280" cy="274320"/>
          </a:xfrm>
          <a:prstGeom prst="rect">
            <a:avLst/>
          </a:prstGeom>
          <a:noFill/>
          <a:ln/>
        </p:spPr>
        <p:txBody>
          <a:bodyPr wrap="square" lIns="0" tIns="0" rIns="0" bIns="0" rtlCol="0" anchor="ctr"/>
          <a:lstStyle/>
          <a:p>
            <a:pPr algn="ctr" indent="0" marL="0">
              <a:buNone/>
            </a:pPr>
            <a:r>
              <a:rPr lang="en-US" sz="850" b="1" dirty="0">
                <a:solidFill>
                  <a:srgbClr val="14281A"/>
                </a:solidFill>
              </a:rPr>
              <a:t>INFLATED</a:t>
            </a:r>
            <a:endParaRPr lang="en-US" sz="850" dirty="0"/>
          </a:p>
        </p:txBody>
      </p:sp>
      <p:sp>
        <p:nvSpPr>
          <p:cNvPr id="27" name="Text 25"/>
          <p:cNvSpPr txBox="1"/>
          <p:nvPr/>
        </p:nvSpPr>
        <p:spPr>
          <a:xfrm>
            <a:off x="6382512" y="1956816"/>
            <a:ext cx="2244852" cy="566928"/>
          </a:xfrm>
          <a:prstGeom prst="rect">
            <a:avLst/>
          </a:prstGeom>
          <a:noFill/>
          <a:ln/>
        </p:spPr>
        <p:txBody>
          <a:bodyPr wrap="square" lIns="0" tIns="0" rIns="0" bIns="0" rtlCol="0" anchor="t"/>
          <a:lstStyle/>
          <a:p>
            <a:pPr indent="0" marL="0">
              <a:buNone/>
            </a:pPr>
            <a:r>
              <a:rPr lang="en-US" sz="1300" b="1" dirty="0">
                <a:solidFill>
                  <a:schemeClr val="tx2"/>
                </a:solidFill>
              </a:rPr>
              <a:t>~100 engineered temporal features</a:t>
            </a:r>
            <a:endParaRPr lang="en-US" sz="1300" dirty="0"/>
          </a:p>
        </p:txBody>
      </p:sp>
      <p:sp>
        <p:nvSpPr>
          <p:cNvPr id="28" name="Text 26"/>
          <p:cNvSpPr txBox="1"/>
          <p:nvPr/>
        </p:nvSpPr>
        <p:spPr>
          <a:xfrm>
            <a:off x="6382512" y="2560320"/>
            <a:ext cx="2244852" cy="786384"/>
          </a:xfrm>
          <a:prstGeom prst="rect">
            <a:avLst/>
          </a:prstGeom>
          <a:noFill/>
          <a:ln/>
        </p:spPr>
        <p:txBody>
          <a:bodyPr wrap="square" lIns="0" tIns="0" rIns="0" bIns="0" rtlCol="0" anchor="t"/>
          <a:lstStyle/>
          <a:p>
            <a:pPr indent="0" marL="0">
              <a:buNone/>
            </a:pPr>
            <a:r>
              <a:rPr lang="en-US" sz="1050" dirty="0">
                <a:solidFill>
                  <a:schemeClr val="tx1"/>
                </a:solidFill>
              </a:rPr>
              <a:t>Level, shape, growth slope and peak timing per index, plus coverage and quality columns.</a:t>
            </a:r>
            <a:endParaRPr lang="en-US" sz="1050" dirty="0"/>
          </a:p>
        </p:txBody>
      </p:sp>
      <p:sp>
        <p:nvSpPr>
          <p:cNvPr id="29" name="Text 27"/>
          <p:cNvSpPr txBox="1"/>
          <p:nvPr/>
        </p:nvSpPr>
        <p:spPr>
          <a:xfrm>
            <a:off x="6382512" y="3383280"/>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Holdout R² rose to 0.9465 — but ablation showed valid_px_mean was acting as a district-identity proxy. Removing that one column dropped it to 0.9311.</a:t>
            </a:r>
            <a:endParaRPr lang="en-US" sz="1000" dirty="0"/>
          </a:p>
        </p:txBody>
      </p:sp>
      <p:sp>
        <p:nvSpPr>
          <p:cNvPr id="30" name="Shape 28"/>
          <p:cNvSpPr/>
          <p:nvPr/>
        </p:nvSpPr>
        <p:spPr>
          <a:xfrm>
            <a:off x="8846820" y="3154680"/>
            <a:ext cx="164592" cy="146304"/>
          </a:xfrm>
          <a:prstGeom prst="rightArrow">
            <a:avLst/>
          </a:prstGeom>
          <a:solidFill>
            <a:schemeClr val="accent2"/>
          </a:solidFill>
          <a:ln/>
        </p:spPr>
      </p:sp>
      <p:sp>
        <p:nvSpPr>
          <p:cNvPr id="31" name="att3"/>
          <p:cNvSpPr/>
          <p:nvPr/>
        </p:nvSpPr>
        <p:spPr>
          <a:xfrm>
            <a:off x="9047988" y="1371600"/>
            <a:ext cx="2610612" cy="3767328"/>
          </a:xfrm>
          <a:prstGeom prst="roundRect">
            <a:avLst>
              <a:gd name="adj" fmla="val 2102"/>
            </a:avLst>
          </a:prstGeom>
          <a:solidFill>
            <a:schemeClr val="bg2"/>
          </a:solidFill>
          <a:ln w="6350">
            <a:solidFill>
              <a:schemeClr val="accent2"/>
            </a:solidFill>
            <a:prstDash val="solid"/>
          </a:ln>
        </p:spPr>
      </p:sp>
      <p:sp>
        <p:nvSpPr>
          <p:cNvPr id="32" name="Shape 30"/>
          <p:cNvSpPr/>
          <p:nvPr/>
        </p:nvSpPr>
        <p:spPr>
          <a:xfrm>
            <a:off x="9230868" y="1554480"/>
            <a:ext cx="310896" cy="310896"/>
          </a:xfrm>
          <a:prstGeom prst="ellipse">
            <a:avLst/>
          </a:prstGeom>
          <a:solidFill>
            <a:schemeClr val="accent1"/>
          </a:solidFill>
          <a:ln/>
        </p:spPr>
      </p:sp>
      <p:sp>
        <p:nvSpPr>
          <p:cNvPr id="33" name="Text 31"/>
          <p:cNvSpPr txBox="1"/>
          <p:nvPr/>
        </p:nvSpPr>
        <p:spPr>
          <a:xfrm>
            <a:off x="9230868"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4" name="Shape 32"/>
          <p:cNvSpPr/>
          <p:nvPr/>
        </p:nvSpPr>
        <p:spPr>
          <a:xfrm>
            <a:off x="9614916" y="1572768"/>
            <a:ext cx="1097280" cy="274320"/>
          </a:xfrm>
          <a:prstGeom prst="roundRect">
            <a:avLst>
              <a:gd name="adj" fmla="val 30000"/>
            </a:avLst>
          </a:prstGeom>
          <a:solidFill>
            <a:schemeClr val="accent1"/>
          </a:solidFill>
          <a:ln/>
        </p:spPr>
      </p:sp>
      <p:sp>
        <p:nvSpPr>
          <p:cNvPr id="35" name="Text 33"/>
          <p:cNvSpPr txBox="1"/>
          <p:nvPr/>
        </p:nvSpPr>
        <p:spPr>
          <a:xfrm>
            <a:off x="9614916" y="1572768"/>
            <a:ext cx="1097280" cy="274320"/>
          </a:xfrm>
          <a:prstGeom prst="rect">
            <a:avLst/>
          </a:prstGeom>
          <a:noFill/>
          <a:ln/>
        </p:spPr>
        <p:txBody>
          <a:bodyPr wrap="square" lIns="0" tIns="0" rIns="0" bIns="0" rtlCol="0" anchor="ctr"/>
          <a:lstStyle/>
          <a:p>
            <a:pPr algn="ctr" indent="0" marL="0">
              <a:buNone/>
            </a:pPr>
            <a:r>
              <a:rPr lang="en-US" sz="850" b="1" dirty="0">
                <a:solidFill>
                  <a:srgbClr val="FFFFFF"/>
                </a:solidFill>
              </a:rPr>
              <a:t>ADOPTED</a:t>
            </a:r>
            <a:endParaRPr lang="en-US" sz="850" dirty="0"/>
          </a:p>
        </p:txBody>
      </p:sp>
      <p:sp>
        <p:nvSpPr>
          <p:cNvPr id="36" name="Text 34"/>
          <p:cNvSpPr txBox="1"/>
          <p:nvPr/>
        </p:nvSpPr>
        <p:spPr>
          <a:xfrm>
            <a:off x="9230868" y="1956816"/>
            <a:ext cx="2244852" cy="566928"/>
          </a:xfrm>
          <a:prstGeom prst="rect">
            <a:avLst/>
          </a:prstGeom>
          <a:noFill/>
          <a:ln/>
        </p:spPr>
        <p:txBody>
          <a:bodyPr wrap="square" lIns="0" tIns="0" rIns="0" bIns="0" rtlCol="0" anchor="t"/>
          <a:lstStyle/>
          <a:p>
            <a:pPr indent="0" marL="0">
              <a:buNone/>
            </a:pPr>
            <a:r>
              <a:rPr lang="en-US" sz="1300" b="1" dirty="0">
                <a:solidFill>
                  <a:schemeClr val="tx2"/>
                </a:solidFill>
              </a:rPr>
              <a:t>Leave-one-season-out validation</a:t>
            </a:r>
            <a:endParaRPr lang="en-US" sz="1300" dirty="0"/>
          </a:p>
        </p:txBody>
      </p:sp>
      <p:sp>
        <p:nvSpPr>
          <p:cNvPr id="37" name="Text 35"/>
          <p:cNvSpPr txBox="1"/>
          <p:nvPr/>
        </p:nvSpPr>
        <p:spPr>
          <a:xfrm>
            <a:off x="9230868" y="2560320"/>
            <a:ext cx="2244852" cy="786384"/>
          </a:xfrm>
          <a:prstGeom prst="rect">
            <a:avLst/>
          </a:prstGeom>
          <a:noFill/>
          <a:ln/>
        </p:spPr>
        <p:txBody>
          <a:bodyPr wrap="square" lIns="0" tIns="0" rIns="0" bIns="0" rtlCol="0" anchor="t"/>
          <a:lstStyle/>
          <a:p>
            <a:pPr indent="0" marL="0">
              <a:buNone/>
            </a:pPr>
            <a:r>
              <a:rPr lang="en-US" sz="1050" dirty="0">
                <a:solidFill>
                  <a:schemeClr val="tx1"/>
                </a:solidFill>
              </a:rPr>
              <a:t>Re-validated across all eight Sentinel-2 seasons instead of one fixed holdout.</a:t>
            </a:r>
            <a:endParaRPr lang="en-US" sz="1050" dirty="0"/>
          </a:p>
        </p:txBody>
      </p:sp>
      <p:sp>
        <p:nvSpPr>
          <p:cNvPr id="38" name="Text 36"/>
          <p:cNvSpPr txBox="1"/>
          <p:nvPr/>
        </p:nvSpPr>
        <p:spPr>
          <a:xfrm>
            <a:off x="9230868" y="3383280"/>
            <a:ext cx="2244852" cy="1627632"/>
          </a:xfrm>
          <a:prstGeom prst="rect">
            <a:avLst/>
          </a:prstGeom>
          <a:noFill/>
          <a:ln/>
        </p:spPr>
        <p:txBody>
          <a:bodyPr wrap="square" lIns="0" tIns="0" rIns="0" bIns="0" rtlCol="0" anchor="t"/>
          <a:lstStyle/>
          <a:p>
            <a:pPr indent="0" marL="0">
              <a:buNone/>
            </a:pPr>
            <a:r>
              <a:rPr lang="en-US" sz="1000" dirty="0">
                <a:solidFill>
                  <a:schemeClr val="accent5"/>
                </a:solidFill>
              </a:rPr>
              <a:t>A single split could not separate a real gain from a lucky one; some crops had only 28–68 holdout rows. Each crop now gets eight independent estimates.</a:t>
            </a:r>
            <a:endParaRPr lang="en-US" sz="1000" dirty="0"/>
          </a:p>
        </p:txBody>
      </p:sp>
      <p:sp>
        <p:nvSpPr>
          <p:cNvPr id="39" name="Text 37"/>
          <p:cNvSpPr txBox="1"/>
          <p:nvPr/>
        </p:nvSpPr>
        <p:spPr>
          <a:xfrm>
            <a:off x="502920" y="5303520"/>
            <a:ext cx="11155680" cy="548640"/>
          </a:xfrm>
          <a:prstGeom prst="rect">
            <a:avLst/>
          </a:prstGeom>
          <a:solidFill>
            <a:schemeClr val="accent4"/>
          </a:solidFill>
          <a:ln/>
        </p:spPr>
        <p:txBody>
          <a:bodyPr wrap="square" lIns="127000" tIns="127000" rIns="127000" bIns="127000" rtlCol="0" anchor="ctr"/>
          <a:lstStyle/>
          <a:p>
            <a:pPr indent="0" marL="0">
              <a:buNone/>
            </a:pPr>
            <a:r>
              <a:rPr lang="en-US" sz="1150" b="1" dirty="0">
                <a:solidFill>
                  <a:srgbClr val="FFFFFF"/>
                </a:solidFill>
              </a:rPr>
              <a:t>Current training format:  </a:t>
            </a:r>
            <a:pPr indent="0" marL="0">
              <a:buNone/>
            </a:pPr>
            <a:r>
              <a:rPr lang="en-US" sz="1150" dirty="0">
                <a:solidFill>
                  <a:schemeClr val="accent2"/>
                </a:solidFill>
              </a:rPr>
              <a:t>the shipped model retains the season-median composite. The temporal variant was measured, documented and deliberately not promoted — several crops stayed weak, and a promising research result is not a reason to replace a tested production model.</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Experiments — dataset used</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Every row traced to a named source document and cross-checked against provincial totals</a:t>
            </a:r>
            <a:endParaRPr lang="en-US" sz="1300" dirty="0"/>
          </a:p>
        </p:txBody>
      </p:sp>
      <p:sp>
        <p:nvSpPr>
          <p:cNvPr id="4" name="ds0"/>
          <p:cNvSpPr/>
          <p:nvPr/>
        </p:nvSpPr>
        <p:spPr>
          <a:xfrm>
            <a:off x="502920" y="1371600"/>
            <a:ext cx="3535680" cy="2651760"/>
          </a:xfrm>
          <a:prstGeom prst="roundRect">
            <a:avLst>
              <a:gd name="adj" fmla="val 2069"/>
            </a:avLst>
          </a:prstGeom>
          <a:solidFill>
            <a:schemeClr val="bg2"/>
          </a:solidFill>
          <a:ln w="6350">
            <a:solidFill>
              <a:schemeClr val="accent2"/>
            </a:solidFill>
            <a:prstDash val="solid"/>
          </a:ln>
        </p:spPr>
      </p:sp>
      <p:sp>
        <p:nvSpPr>
          <p:cNvPr id="5" name="Text 3"/>
          <p:cNvSpPr txBox="1"/>
          <p:nvPr/>
        </p:nvSpPr>
        <p:spPr>
          <a:xfrm>
            <a:off x="722376" y="1554480"/>
            <a:ext cx="3096768" cy="292608"/>
          </a:xfrm>
          <a:prstGeom prst="rect">
            <a:avLst/>
          </a:prstGeom>
          <a:noFill/>
          <a:ln/>
        </p:spPr>
        <p:txBody>
          <a:bodyPr wrap="square" lIns="0" tIns="0" rIns="0" bIns="0" rtlCol="0" anchor="ctr"/>
          <a:lstStyle/>
          <a:p>
            <a:pPr indent="0" marL="0">
              <a:buNone/>
            </a:pPr>
            <a:r>
              <a:rPr lang="en-US" sz="1400" b="1" dirty="0">
                <a:solidFill>
                  <a:schemeClr val="tx2"/>
                </a:solidFill>
              </a:rPr>
              <a:t>Verified wheat dataset</a:t>
            </a:r>
            <a:endParaRPr lang="en-US" sz="1400" dirty="0"/>
          </a:p>
        </p:txBody>
      </p:sp>
      <p:sp>
        <p:nvSpPr>
          <p:cNvPr id="6" name="Text 4"/>
          <p:cNvSpPr txBox="1"/>
          <p:nvPr/>
        </p:nvSpPr>
        <p:spPr>
          <a:xfrm>
            <a:off x="722376" y="1901952"/>
            <a:ext cx="3096768" cy="512064"/>
          </a:xfrm>
          <a:prstGeom prst="rect">
            <a:avLst/>
          </a:prstGeom>
          <a:noFill/>
          <a:ln/>
        </p:spPr>
        <p:txBody>
          <a:bodyPr wrap="square" lIns="0" tIns="0" rIns="0" bIns="0" rtlCol="0" anchor="ctr"/>
          <a:lstStyle/>
          <a:p>
            <a:pPr indent="0" marL="0">
              <a:buNone/>
            </a:pPr>
            <a:r>
              <a:rPr lang="en-US" sz="3200" b="1" dirty="0">
                <a:solidFill>
                  <a:schemeClr val="accent3"/>
                </a:solidFill>
              </a:rPr>
              <a:t>436</a:t>
            </a:r>
            <a:pPr indent="0" marL="0">
              <a:buNone/>
            </a:pPr>
            <a:r>
              <a:rPr lang="en-US" sz="1150" dirty="0">
                <a:solidFill>
                  <a:schemeClr val="accent5"/>
                </a:solidFill>
              </a:rPr>
              <a:t>  rows</a:t>
            </a:r>
            <a:endParaRPr lang="en-US" sz="3200" dirty="0"/>
          </a:p>
        </p:txBody>
      </p:sp>
      <p:sp>
        <p:nvSpPr>
          <p:cNvPr id="7" name="Text 5"/>
          <p:cNvSpPr txBox="1"/>
          <p:nvPr/>
        </p:nvSpPr>
        <p:spPr>
          <a:xfrm>
            <a:off x="722376" y="2487168"/>
            <a:ext cx="3096768" cy="137160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43 Punjab districts</a:t>
            </a:r>
            <a:endParaRPr lang="en-US" sz="1100" dirty="0"/>
          </a:p>
          <a:p>
            <a:pPr marL="342900" indent="-342900">
              <a:spcAft>
                <a:spcPts val="600"/>
              </a:spcAft>
              <a:buSzPct val="100000"/>
              <a:buChar char="•"/>
            </a:pPr>
            <a:r>
              <a:rPr lang="en-US" sz="1100" dirty="0">
                <a:solidFill>
                  <a:schemeClr val="tx1"/>
                </a:solidFill>
              </a:rPr>
              <a:t>12 seasons, 2010-11 to 2022-23</a:t>
            </a:r>
            <a:endParaRPr lang="en-US" sz="1100" dirty="0"/>
          </a:p>
          <a:p>
            <a:pPr marL="342900" indent="-342900">
              <a:spcAft>
                <a:spcPts val="600"/>
              </a:spcAft>
              <a:buSzPct val="100000"/>
              <a:buChar char="•"/>
            </a:pPr>
            <a:r>
              <a:rPr lang="en-US" sz="1100" dirty="0">
                <a:solidFill>
                  <a:schemeClr val="tx1"/>
                </a:solidFill>
              </a:rPr>
              <a:t>Crop Reporting Service final estimates</a:t>
            </a:r>
            <a:endParaRPr lang="en-US" sz="1100" dirty="0"/>
          </a:p>
          <a:p>
            <a:pPr marL="342900" indent="-342900">
              <a:spcAft>
                <a:spcPts val="600"/>
              </a:spcAft>
              <a:buSzPct val="100000"/>
              <a:buChar char="•"/>
            </a:pPr>
            <a:r>
              <a:rPr lang="en-US" sz="1100" dirty="0">
                <a:solidFill>
                  <a:schemeClr val="tx1"/>
                </a:solidFill>
              </a:rPr>
              <a:t>Cross-checked against provincial totals</a:t>
            </a:r>
            <a:endParaRPr lang="en-US" sz="1100" dirty="0"/>
          </a:p>
        </p:txBody>
      </p:sp>
      <p:sp>
        <p:nvSpPr>
          <p:cNvPr id="8" name="ds1"/>
          <p:cNvSpPr/>
          <p:nvPr/>
        </p:nvSpPr>
        <p:spPr>
          <a:xfrm>
            <a:off x="4312920" y="1371600"/>
            <a:ext cx="3535680" cy="2651760"/>
          </a:xfrm>
          <a:prstGeom prst="roundRect">
            <a:avLst>
              <a:gd name="adj" fmla="val 2069"/>
            </a:avLst>
          </a:prstGeom>
          <a:solidFill>
            <a:schemeClr val="bg2"/>
          </a:solidFill>
          <a:ln w="6350">
            <a:solidFill>
              <a:schemeClr val="accent2"/>
            </a:solidFill>
            <a:prstDash val="solid"/>
          </a:ln>
        </p:spPr>
      </p:sp>
      <p:sp>
        <p:nvSpPr>
          <p:cNvPr id="9" name="Text 7"/>
          <p:cNvSpPr txBox="1"/>
          <p:nvPr/>
        </p:nvSpPr>
        <p:spPr>
          <a:xfrm>
            <a:off x="4532376" y="1554480"/>
            <a:ext cx="3096768" cy="292608"/>
          </a:xfrm>
          <a:prstGeom prst="rect">
            <a:avLst/>
          </a:prstGeom>
          <a:noFill/>
          <a:ln/>
        </p:spPr>
        <p:txBody>
          <a:bodyPr wrap="square" lIns="0" tIns="0" rIns="0" bIns="0" rtlCol="0" anchor="ctr"/>
          <a:lstStyle/>
          <a:p>
            <a:pPr indent="0" marL="0">
              <a:buNone/>
            </a:pPr>
            <a:r>
              <a:rPr lang="en-US" sz="1400" b="1" dirty="0">
                <a:solidFill>
                  <a:schemeClr val="tx2"/>
                </a:solidFill>
              </a:rPr>
              <a:t>Verified rice dataset</a:t>
            </a:r>
            <a:endParaRPr lang="en-US" sz="1400" dirty="0"/>
          </a:p>
        </p:txBody>
      </p:sp>
      <p:sp>
        <p:nvSpPr>
          <p:cNvPr id="10" name="Text 8"/>
          <p:cNvSpPr txBox="1"/>
          <p:nvPr/>
        </p:nvSpPr>
        <p:spPr>
          <a:xfrm>
            <a:off x="4532376" y="1901952"/>
            <a:ext cx="3096768" cy="512064"/>
          </a:xfrm>
          <a:prstGeom prst="rect">
            <a:avLst/>
          </a:prstGeom>
          <a:noFill/>
          <a:ln/>
        </p:spPr>
        <p:txBody>
          <a:bodyPr wrap="square" lIns="0" tIns="0" rIns="0" bIns="0" rtlCol="0" anchor="ctr"/>
          <a:lstStyle/>
          <a:p>
            <a:pPr indent="0" marL="0">
              <a:buNone/>
            </a:pPr>
            <a:r>
              <a:rPr lang="en-US" sz="3200" b="1" dirty="0">
                <a:solidFill>
                  <a:schemeClr val="accent3"/>
                </a:solidFill>
              </a:rPr>
              <a:t>216</a:t>
            </a:r>
            <a:pPr indent="0" marL="0">
              <a:buNone/>
            </a:pPr>
            <a:r>
              <a:rPr lang="en-US" sz="1150" dirty="0">
                <a:solidFill>
                  <a:schemeClr val="accent5"/>
                </a:solidFill>
              </a:rPr>
              <a:t>  rows</a:t>
            </a:r>
            <a:endParaRPr lang="en-US" sz="3200" dirty="0"/>
          </a:p>
        </p:txBody>
      </p:sp>
      <p:sp>
        <p:nvSpPr>
          <p:cNvPr id="11" name="Text 9"/>
          <p:cNvSpPr txBox="1"/>
          <p:nvPr/>
        </p:nvSpPr>
        <p:spPr>
          <a:xfrm>
            <a:off x="4532376" y="2487168"/>
            <a:ext cx="3096768" cy="137160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33 districts</a:t>
            </a:r>
            <a:endParaRPr lang="en-US" sz="1100" dirty="0"/>
          </a:p>
          <a:p>
            <a:pPr marL="342900" indent="-342900">
              <a:spcAft>
                <a:spcPts val="600"/>
              </a:spcAft>
              <a:buSzPct val="100000"/>
              <a:buChar char="•"/>
            </a:pPr>
            <a:r>
              <a:rPr lang="en-US" sz="1100" dirty="0">
                <a:solidFill>
                  <a:schemeClr val="tx1"/>
                </a:solidFill>
              </a:rPr>
              <a:t>3 seasons, 2020-21 to 2022-23</a:t>
            </a:r>
            <a:endParaRPr lang="en-US" sz="1100" dirty="0"/>
          </a:p>
          <a:p>
            <a:pPr marL="342900" indent="-342900">
              <a:spcAft>
                <a:spcPts val="600"/>
              </a:spcAft>
              <a:buSzPct val="100000"/>
              <a:buChar char="•"/>
            </a:pPr>
            <a:r>
              <a:rPr lang="en-US" sz="1100" dirty="0">
                <a:solidFill>
                  <a:schemeClr val="tx1"/>
                </a:solidFill>
              </a:rPr>
              <a:t>Split by Basmati / Non-Basmati / Total</a:t>
            </a:r>
            <a:endParaRPr lang="en-US" sz="1100" dirty="0"/>
          </a:p>
          <a:p>
            <a:pPr marL="342900" indent="-342900">
              <a:spcAft>
                <a:spcPts val="600"/>
              </a:spcAft>
              <a:buSzPct val="100000"/>
              <a:buChar char="•"/>
            </a:pPr>
            <a:r>
              <a:rPr lang="en-US" sz="1100" dirty="0">
                <a:solidFill>
                  <a:schemeClr val="tx1"/>
                </a:solidFill>
              </a:rPr>
              <a:t>0% variance against provincial totals</a:t>
            </a:r>
            <a:endParaRPr lang="en-US" sz="1100" dirty="0"/>
          </a:p>
        </p:txBody>
      </p:sp>
      <p:sp>
        <p:nvSpPr>
          <p:cNvPr id="12" name="ds2"/>
          <p:cNvSpPr/>
          <p:nvPr/>
        </p:nvSpPr>
        <p:spPr>
          <a:xfrm>
            <a:off x="8122920" y="1371600"/>
            <a:ext cx="3535680" cy="2651760"/>
          </a:xfrm>
          <a:prstGeom prst="roundRect">
            <a:avLst>
              <a:gd name="adj" fmla="val 2069"/>
            </a:avLst>
          </a:prstGeom>
          <a:solidFill>
            <a:schemeClr val="bg2"/>
          </a:solidFill>
          <a:ln w="6350">
            <a:solidFill>
              <a:schemeClr val="accent2"/>
            </a:solidFill>
            <a:prstDash val="solid"/>
          </a:ln>
        </p:spPr>
      </p:sp>
      <p:sp>
        <p:nvSpPr>
          <p:cNvPr id="13" name="Text 11"/>
          <p:cNvSpPr txBox="1"/>
          <p:nvPr/>
        </p:nvSpPr>
        <p:spPr>
          <a:xfrm>
            <a:off x="8342376" y="1554480"/>
            <a:ext cx="3096768" cy="292608"/>
          </a:xfrm>
          <a:prstGeom prst="rect">
            <a:avLst/>
          </a:prstGeom>
          <a:noFill/>
          <a:ln/>
        </p:spPr>
        <p:txBody>
          <a:bodyPr wrap="square" lIns="0" tIns="0" rIns="0" bIns="0" rtlCol="0" anchor="ctr"/>
          <a:lstStyle/>
          <a:p>
            <a:pPr indent="0" marL="0">
              <a:buNone/>
            </a:pPr>
            <a:r>
              <a:rPr lang="en-US" sz="1400" b="1" dirty="0">
                <a:solidFill>
                  <a:schemeClr val="tx2"/>
                </a:solidFill>
              </a:rPr>
              <a:t>satellite_features table</a:t>
            </a:r>
            <a:endParaRPr lang="en-US" sz="1400" dirty="0"/>
          </a:p>
        </p:txBody>
      </p:sp>
      <p:sp>
        <p:nvSpPr>
          <p:cNvPr id="14" name="Text 12"/>
          <p:cNvSpPr txBox="1"/>
          <p:nvPr/>
        </p:nvSpPr>
        <p:spPr>
          <a:xfrm>
            <a:off x="8342376" y="1901952"/>
            <a:ext cx="3096768" cy="512064"/>
          </a:xfrm>
          <a:prstGeom prst="rect">
            <a:avLst/>
          </a:prstGeom>
          <a:noFill/>
          <a:ln/>
        </p:spPr>
        <p:txBody>
          <a:bodyPr wrap="square" lIns="0" tIns="0" rIns="0" bIns="0" rtlCol="0" anchor="ctr"/>
          <a:lstStyle/>
          <a:p>
            <a:pPr indent="0" marL="0">
              <a:buNone/>
            </a:pPr>
            <a:r>
              <a:rPr lang="en-US" sz="3200" b="1" dirty="0">
                <a:solidFill>
                  <a:schemeClr val="accent3"/>
                </a:solidFill>
              </a:rPr>
              <a:t>1,296</a:t>
            </a:r>
            <a:pPr indent="0" marL="0">
              <a:buNone/>
            </a:pPr>
            <a:r>
              <a:rPr lang="en-US" sz="1150" dirty="0">
                <a:solidFill>
                  <a:schemeClr val="accent5"/>
                </a:solidFill>
              </a:rPr>
              <a:t>  farm-date rows</a:t>
            </a:r>
            <a:endParaRPr lang="en-US" sz="3200" dirty="0"/>
          </a:p>
        </p:txBody>
      </p:sp>
      <p:sp>
        <p:nvSpPr>
          <p:cNvPr id="15" name="Text 13"/>
          <p:cNvSpPr txBox="1"/>
          <p:nvPr/>
        </p:nvSpPr>
        <p:spPr>
          <a:xfrm>
            <a:off x="8342376" y="2487168"/>
            <a:ext cx="3096768" cy="1371600"/>
          </a:xfrm>
          <a:prstGeom prst="rect">
            <a:avLst/>
          </a:prstGeom>
          <a:noFill/>
          <a:ln/>
        </p:spPr>
        <p:txBody>
          <a:bodyPr wrap="square" rtlCol="0" anchor="ctr"/>
          <a:lstStyle/>
          <a:p>
            <a:pPr marL="342900" indent="-342900">
              <a:spcAft>
                <a:spcPts val="600"/>
              </a:spcAft>
              <a:buSzPct val="100000"/>
              <a:buChar char="•"/>
            </a:pPr>
            <a:r>
              <a:rPr lang="en-US" sz="1100" dirty="0">
                <a:solidFill>
                  <a:schemeClr val="tx1"/>
                </a:solidFill>
              </a:rPr>
              <a:t>Sentinel-1 + Sentinel-2 sensor fusion</a:t>
            </a:r>
            <a:endParaRPr lang="en-US" sz="1100" dirty="0"/>
          </a:p>
          <a:p>
            <a:pPr marL="342900" indent="-342900">
              <a:spcAft>
                <a:spcPts val="600"/>
              </a:spcAft>
              <a:buSzPct val="100000"/>
              <a:buChar char="•"/>
            </a:pPr>
            <a:r>
              <a:rPr lang="en-US" sz="1100" dirty="0">
                <a:solidFill>
                  <a:schemeClr val="tx1"/>
                </a:solidFill>
              </a:rPr>
              <a:t>0 orphan rows, 0 null dates</a:t>
            </a:r>
            <a:endParaRPr lang="en-US" sz="1100" dirty="0"/>
          </a:p>
          <a:p>
            <a:pPr marL="342900" indent="-342900">
              <a:spcAft>
                <a:spcPts val="600"/>
              </a:spcAft>
              <a:buSzPct val="100000"/>
              <a:buChar char="•"/>
            </a:pPr>
            <a:r>
              <a:rPr lang="en-US" sz="1100" dirty="0">
                <a:solidFill>
                  <a:schemeClr val="tx1"/>
                </a:solidFill>
              </a:rPr>
              <a:t>0 duplicate (farm_id, date) pairs</a:t>
            </a:r>
            <a:endParaRPr lang="en-US" sz="1100" dirty="0"/>
          </a:p>
          <a:p>
            <a:pPr marL="342900" indent="-342900">
              <a:spcAft>
                <a:spcPts val="600"/>
              </a:spcAft>
              <a:buSzPct val="100000"/>
              <a:buChar char="•"/>
            </a:pPr>
            <a:r>
              <a:rPr lang="en-US" sz="1100" dirty="0">
                <a:solidFill>
                  <a:schemeClr val="tx1"/>
                </a:solidFill>
              </a:rPr>
              <a:t>Full integrity audit passed</a:t>
            </a:r>
            <a:endParaRPr lang="en-US" sz="1100" dirty="0"/>
          </a:p>
        </p:txBody>
      </p:sp>
      <p:sp>
        <p:nvSpPr>
          <p:cNvPr id="16" name="matrix"/>
          <p:cNvSpPr/>
          <p:nvPr/>
        </p:nvSpPr>
        <p:spPr>
          <a:xfrm>
            <a:off x="502920" y="4297680"/>
            <a:ext cx="11155680" cy="841248"/>
          </a:xfrm>
          <a:prstGeom prst="roundRect">
            <a:avLst>
              <a:gd name="adj" fmla="val 6522"/>
            </a:avLst>
          </a:prstGeom>
          <a:solidFill>
            <a:schemeClr val="bg2"/>
          </a:solidFill>
          <a:ln w="6350">
            <a:solidFill>
              <a:schemeClr val="accent2"/>
            </a:solidFill>
            <a:prstDash val="solid"/>
          </a:ln>
        </p:spPr>
      </p:sp>
      <p:sp>
        <p:nvSpPr>
          <p:cNvPr id="17" name="Text 15"/>
          <p:cNvSpPr txBox="1"/>
          <p:nvPr/>
        </p:nvSpPr>
        <p:spPr>
          <a:xfrm>
            <a:off x="777240" y="4425696"/>
            <a:ext cx="2743200" cy="237744"/>
          </a:xfrm>
          <a:prstGeom prst="rect">
            <a:avLst/>
          </a:prstGeom>
          <a:noFill/>
          <a:ln/>
        </p:spPr>
        <p:txBody>
          <a:bodyPr wrap="square" lIns="0" tIns="0" rIns="0" bIns="0" rtlCol="0" anchor="ctr"/>
          <a:lstStyle/>
          <a:p>
            <a:pPr indent="0" marL="0">
              <a:buNone/>
            </a:pPr>
            <a:r>
              <a:rPr lang="en-US" sz="1050" b="1" spc="120" kern="0" dirty="0">
                <a:solidFill>
                  <a:schemeClr val="accent1"/>
                </a:solidFill>
              </a:rPr>
              <a:t>TRAINING MATRIX</a:t>
            </a:r>
            <a:endParaRPr lang="en-US" sz="1050" dirty="0"/>
          </a:p>
        </p:txBody>
      </p:sp>
      <p:sp>
        <p:nvSpPr>
          <p:cNvPr id="18" name="Text 16"/>
          <p:cNvSpPr txBox="1"/>
          <p:nvPr/>
        </p:nvSpPr>
        <p:spPr>
          <a:xfrm>
            <a:off x="777240" y="4700016"/>
            <a:ext cx="10607040" cy="329184"/>
          </a:xfrm>
          <a:prstGeom prst="rect">
            <a:avLst/>
          </a:prstGeom>
          <a:noFill/>
          <a:ln/>
        </p:spPr>
        <p:txBody>
          <a:bodyPr wrap="square" lIns="0" tIns="0" rIns="0" bIns="0" rtlCol="0" anchor="ctr"/>
          <a:lstStyle/>
          <a:p>
            <a:pPr indent="0" marL="0">
              <a:buNone/>
            </a:pPr>
            <a:r>
              <a:rPr lang="en-US" sz="1200" dirty="0">
                <a:solidFill>
                  <a:schemeClr val="tx1"/>
                </a:solidFill>
              </a:rPr>
              <a:t>2,378 rows — district × crop × season · 34 districts · 11 crops · 8 seasons (2017-18 to 2024-25) · 136,687 raw satellite observations collected for the temporal experiment</a:t>
            </a:r>
            <a:endParaRPr lang="en-US" sz="1200" dirty="0"/>
          </a:p>
        </p:txBody>
      </p:sp>
      <p:sp>
        <p:nvSpPr>
          <p:cNvPr id="19" name="nullNote"/>
          <p:cNvSpPr/>
          <p:nvPr/>
        </p:nvSpPr>
        <p:spPr>
          <a:xfrm>
            <a:off x="502920" y="5321808"/>
            <a:ext cx="11155680" cy="676656"/>
          </a:xfrm>
          <a:prstGeom prst="roundRect">
            <a:avLst>
              <a:gd name="adj" fmla="val 8108"/>
            </a:avLst>
          </a:prstGeom>
          <a:solidFill>
            <a:srgbClr val="FDF6E6"/>
          </a:solidFill>
          <a:ln w="6350">
            <a:solidFill>
              <a:schemeClr val="accent3"/>
            </a:solidFill>
            <a:prstDash val="solid"/>
          </a:ln>
        </p:spPr>
      </p:sp>
      <p:sp>
        <p:nvSpPr>
          <p:cNvPr id="20" name="Text 18"/>
          <p:cNvSpPr txBox="1"/>
          <p:nvPr/>
        </p:nvSpPr>
        <p:spPr>
          <a:xfrm>
            <a:off x="777240" y="5394960"/>
            <a:ext cx="10607040" cy="530352"/>
          </a:xfrm>
          <a:prstGeom prst="rect">
            <a:avLst/>
          </a:prstGeom>
          <a:noFill/>
          <a:ln/>
        </p:spPr>
        <p:txBody>
          <a:bodyPr wrap="square" lIns="0" tIns="0" rIns="0" bIns="0" rtlCol="0" anchor="ctr"/>
          <a:lstStyle/>
          <a:p>
            <a:pPr indent="0" marL="0">
              <a:buNone/>
            </a:pPr>
            <a:r>
              <a:rPr lang="en-US" sz="1150" b="1" dirty="0">
                <a:solidFill>
                  <a:schemeClr val="tx1"/>
                </a:solidFill>
              </a:rPr>
              <a:t>357 radar-only rows correctly retain a null NDVI. </a:t>
            </a:r>
            <a:pPr indent="0" marL="0">
              <a:buNone/>
            </a:pPr>
            <a:r>
              <a:rPr lang="en-US" sz="1150" dirty="0">
                <a:solidFill>
                  <a:schemeClr val="accent5"/>
                </a:solidFill>
              </a:rPr>
              <a:t>Sentinel-1 flies a different orbit from Sentinel-2, so on those dates there was no optical pass and no vegetation index to compute. Documented behaviour, confirmed by audit — not a defect.</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Model training results — Random Forest</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The one model trained and evaluated so far. Metrics read from the shipped model artefact, not re-estimated</a:t>
            </a:r>
            <a:endParaRPr lang="en-US" sz="1300" dirty="0"/>
          </a:p>
        </p:txBody>
      </p:sp>
      <p:sp>
        <p:nvSpPr>
          <p:cNvPr id="4" name="cfg"/>
          <p:cNvSpPr/>
          <p:nvPr/>
        </p:nvSpPr>
        <p:spPr>
          <a:xfrm>
            <a:off x="502920" y="1371600"/>
            <a:ext cx="3310128" cy="2743200"/>
          </a:xfrm>
          <a:prstGeom prst="roundRect">
            <a:avLst>
              <a:gd name="adj" fmla="val 2000"/>
            </a:avLst>
          </a:prstGeom>
          <a:solidFill>
            <a:schemeClr val="bg2"/>
          </a:solidFill>
          <a:ln w="6350">
            <a:solidFill>
              <a:schemeClr val="accent2"/>
            </a:solidFill>
            <a:prstDash val="solid"/>
          </a:ln>
        </p:spPr>
      </p:sp>
      <p:sp>
        <p:nvSpPr>
          <p:cNvPr id="5" name="Text 3"/>
          <p:cNvSpPr txBox="1"/>
          <p:nvPr/>
        </p:nvSpPr>
        <p:spPr>
          <a:xfrm>
            <a:off x="722376" y="1536192"/>
            <a:ext cx="2871216"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CONFIGURATION</a:t>
            </a:r>
            <a:endParaRPr lang="en-US" sz="1050" dirty="0"/>
          </a:p>
        </p:txBody>
      </p:sp>
      <p:sp>
        <p:nvSpPr>
          <p:cNvPr id="6" name="Text 4"/>
          <p:cNvSpPr txBox="1"/>
          <p:nvPr/>
        </p:nvSpPr>
        <p:spPr>
          <a:xfrm>
            <a:off x="722376" y="1865376"/>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Estimators</a:t>
            </a:r>
            <a:endParaRPr lang="en-US" sz="1100" dirty="0"/>
          </a:p>
        </p:txBody>
      </p:sp>
      <p:sp>
        <p:nvSpPr>
          <p:cNvPr id="7" name="Text 5"/>
          <p:cNvSpPr txBox="1"/>
          <p:nvPr/>
        </p:nvSpPr>
        <p:spPr>
          <a:xfrm>
            <a:off x="1956816" y="1865376"/>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500 trees</a:t>
            </a:r>
            <a:endParaRPr lang="en-US" sz="1150" dirty="0"/>
          </a:p>
        </p:txBody>
      </p:sp>
      <p:sp>
        <p:nvSpPr>
          <p:cNvPr id="8" name="Text 6"/>
          <p:cNvSpPr txBox="1"/>
          <p:nvPr/>
        </p:nvSpPr>
        <p:spPr>
          <a:xfrm>
            <a:off x="722376" y="2295144"/>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Max depth</a:t>
            </a:r>
            <a:endParaRPr lang="en-US" sz="1100" dirty="0"/>
          </a:p>
        </p:txBody>
      </p:sp>
      <p:sp>
        <p:nvSpPr>
          <p:cNvPr id="9" name="Text 7"/>
          <p:cNvSpPr txBox="1"/>
          <p:nvPr/>
        </p:nvSpPr>
        <p:spPr>
          <a:xfrm>
            <a:off x="1956816" y="2295144"/>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25</a:t>
            </a:r>
            <a:endParaRPr lang="en-US" sz="1150" dirty="0"/>
          </a:p>
        </p:txBody>
      </p:sp>
      <p:sp>
        <p:nvSpPr>
          <p:cNvPr id="10" name="Text 8"/>
          <p:cNvSpPr txBox="1"/>
          <p:nvPr/>
        </p:nvSpPr>
        <p:spPr>
          <a:xfrm>
            <a:off x="722376" y="2724912"/>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Random state</a:t>
            </a:r>
            <a:endParaRPr lang="en-US" sz="1100" dirty="0"/>
          </a:p>
        </p:txBody>
      </p:sp>
      <p:sp>
        <p:nvSpPr>
          <p:cNvPr id="11" name="Text 9"/>
          <p:cNvSpPr txBox="1"/>
          <p:nvPr/>
        </p:nvSpPr>
        <p:spPr>
          <a:xfrm>
            <a:off x="1956816" y="2724912"/>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42</a:t>
            </a:r>
            <a:endParaRPr lang="en-US" sz="1150" dirty="0"/>
          </a:p>
        </p:txBody>
      </p:sp>
      <p:sp>
        <p:nvSpPr>
          <p:cNvPr id="12" name="Text 10"/>
          <p:cNvSpPr txBox="1"/>
          <p:nvPr/>
        </p:nvSpPr>
        <p:spPr>
          <a:xfrm>
            <a:off x="722376" y="3154680"/>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Features</a:t>
            </a:r>
            <a:endParaRPr lang="en-US" sz="1100" dirty="0"/>
          </a:p>
        </p:txBody>
      </p:sp>
      <p:sp>
        <p:nvSpPr>
          <p:cNvPr id="13" name="Text 11"/>
          <p:cNvSpPr txBox="1"/>
          <p:nvPr/>
        </p:nvSpPr>
        <p:spPr>
          <a:xfrm>
            <a:off x="1956816" y="3154680"/>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15 — 5 indices + 10 crop one-hot</a:t>
            </a:r>
            <a:endParaRPr lang="en-US" sz="1150" dirty="0"/>
          </a:p>
        </p:txBody>
      </p:sp>
      <p:sp>
        <p:nvSpPr>
          <p:cNvPr id="14" name="Text 12"/>
          <p:cNvSpPr txBox="1"/>
          <p:nvPr/>
        </p:nvSpPr>
        <p:spPr>
          <a:xfrm>
            <a:off x="722376" y="3584448"/>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Artefact</a:t>
            </a:r>
            <a:endParaRPr lang="en-US" sz="1100" dirty="0"/>
          </a:p>
        </p:txBody>
      </p:sp>
      <p:sp>
        <p:nvSpPr>
          <p:cNvPr id="15" name="Text 13"/>
          <p:cNvSpPr txBox="1"/>
          <p:nvPr/>
        </p:nvSpPr>
        <p:spPr>
          <a:xfrm>
            <a:off x="1956816" y="3584448"/>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RandomForest-real-v1</a:t>
            </a:r>
            <a:endParaRPr lang="en-US" sz="1150" dirty="0"/>
          </a:p>
        </p:txBody>
      </p:sp>
      <p:sp>
        <p:nvSpPr>
          <p:cNvPr id="16" name="data"/>
          <p:cNvSpPr/>
          <p:nvPr/>
        </p:nvSpPr>
        <p:spPr>
          <a:xfrm>
            <a:off x="4087368" y="1371600"/>
            <a:ext cx="3310128" cy="2743200"/>
          </a:xfrm>
          <a:prstGeom prst="roundRect">
            <a:avLst>
              <a:gd name="adj" fmla="val 2000"/>
            </a:avLst>
          </a:prstGeom>
          <a:solidFill>
            <a:schemeClr val="bg2"/>
          </a:solidFill>
          <a:ln w="6350">
            <a:solidFill>
              <a:schemeClr val="accent2"/>
            </a:solidFill>
            <a:prstDash val="solid"/>
          </a:ln>
        </p:spPr>
      </p:sp>
      <p:sp>
        <p:nvSpPr>
          <p:cNvPr id="17" name="Text 15"/>
          <p:cNvSpPr txBox="1"/>
          <p:nvPr/>
        </p:nvSpPr>
        <p:spPr>
          <a:xfrm>
            <a:off x="4306824" y="1536192"/>
            <a:ext cx="2871216"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DATASET &amp; SPLIT</a:t>
            </a:r>
            <a:endParaRPr lang="en-US" sz="1050" dirty="0"/>
          </a:p>
        </p:txBody>
      </p:sp>
      <p:sp>
        <p:nvSpPr>
          <p:cNvPr id="18" name="Text 16"/>
          <p:cNvSpPr txBox="1"/>
          <p:nvPr/>
        </p:nvSpPr>
        <p:spPr>
          <a:xfrm>
            <a:off x="4306824" y="1865376"/>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Source</a:t>
            </a:r>
            <a:endParaRPr lang="en-US" sz="1100" dirty="0"/>
          </a:p>
        </p:txBody>
      </p:sp>
      <p:sp>
        <p:nvSpPr>
          <p:cNvPr id="19" name="Text 17"/>
          <p:cNvSpPr txBox="1"/>
          <p:nvPr/>
        </p:nvSpPr>
        <p:spPr>
          <a:xfrm>
            <a:off x="5541264" y="1865376"/>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training_data_real.csv</a:t>
            </a:r>
            <a:endParaRPr lang="en-US" sz="1150" dirty="0"/>
          </a:p>
        </p:txBody>
      </p:sp>
      <p:sp>
        <p:nvSpPr>
          <p:cNvPr id="20" name="Text 18"/>
          <p:cNvSpPr txBox="1"/>
          <p:nvPr/>
        </p:nvSpPr>
        <p:spPr>
          <a:xfrm>
            <a:off x="4306824" y="2295144"/>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Training rows</a:t>
            </a:r>
            <a:endParaRPr lang="en-US" sz="1100" dirty="0"/>
          </a:p>
        </p:txBody>
      </p:sp>
      <p:sp>
        <p:nvSpPr>
          <p:cNvPr id="21" name="Text 19"/>
          <p:cNvSpPr txBox="1"/>
          <p:nvPr/>
        </p:nvSpPr>
        <p:spPr>
          <a:xfrm>
            <a:off x="5541264" y="2295144"/>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1,705 of 2,378</a:t>
            </a:r>
            <a:endParaRPr lang="en-US" sz="1150" dirty="0"/>
          </a:p>
        </p:txBody>
      </p:sp>
      <p:sp>
        <p:nvSpPr>
          <p:cNvPr id="22" name="Text 20"/>
          <p:cNvSpPr txBox="1"/>
          <p:nvPr/>
        </p:nvSpPr>
        <p:spPr>
          <a:xfrm>
            <a:off x="4306824" y="2724912"/>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Crops</a:t>
            </a:r>
            <a:endParaRPr lang="en-US" sz="1100" dirty="0"/>
          </a:p>
        </p:txBody>
      </p:sp>
      <p:sp>
        <p:nvSpPr>
          <p:cNvPr id="23" name="Text 21"/>
          <p:cNvSpPr txBox="1"/>
          <p:nvPr/>
        </p:nvSpPr>
        <p:spPr>
          <a:xfrm>
            <a:off x="5541264" y="2724912"/>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10 (barley excluded)</a:t>
            </a:r>
            <a:endParaRPr lang="en-US" sz="1150" dirty="0"/>
          </a:p>
        </p:txBody>
      </p:sp>
      <p:sp>
        <p:nvSpPr>
          <p:cNvPr id="24" name="Text 22"/>
          <p:cNvSpPr txBox="1"/>
          <p:nvPr/>
        </p:nvSpPr>
        <p:spPr>
          <a:xfrm>
            <a:off x="4306824" y="3154680"/>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Split</a:t>
            </a:r>
            <a:endParaRPr lang="en-US" sz="1100" dirty="0"/>
          </a:p>
        </p:txBody>
      </p:sp>
      <p:sp>
        <p:nvSpPr>
          <p:cNvPr id="25" name="Text 23"/>
          <p:cNvSpPr txBox="1"/>
          <p:nvPr/>
        </p:nvSpPr>
        <p:spPr>
          <a:xfrm>
            <a:off x="5541264" y="3154680"/>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Held out by season</a:t>
            </a:r>
            <a:endParaRPr lang="en-US" sz="1150" dirty="0"/>
          </a:p>
        </p:txBody>
      </p:sp>
      <p:sp>
        <p:nvSpPr>
          <p:cNvPr id="26" name="Text 24"/>
          <p:cNvSpPr txBox="1"/>
          <p:nvPr/>
        </p:nvSpPr>
        <p:spPr>
          <a:xfrm>
            <a:off x="4306824" y="3584448"/>
            <a:ext cx="1234440" cy="365760"/>
          </a:xfrm>
          <a:prstGeom prst="rect">
            <a:avLst/>
          </a:prstGeom>
          <a:noFill/>
          <a:ln/>
        </p:spPr>
        <p:txBody>
          <a:bodyPr wrap="square" lIns="0" tIns="0" rIns="0" bIns="0" rtlCol="0" anchor="ctr"/>
          <a:lstStyle/>
          <a:p>
            <a:pPr indent="0" marL="0">
              <a:buNone/>
            </a:pPr>
            <a:r>
              <a:rPr lang="en-US" sz="1100" dirty="0">
                <a:solidFill>
                  <a:schemeClr val="accent5"/>
                </a:solidFill>
              </a:rPr>
              <a:t>Test seasons</a:t>
            </a:r>
            <a:endParaRPr lang="en-US" sz="1100" dirty="0"/>
          </a:p>
        </p:txBody>
      </p:sp>
      <p:sp>
        <p:nvSpPr>
          <p:cNvPr id="27" name="Text 25"/>
          <p:cNvSpPr txBox="1"/>
          <p:nvPr/>
        </p:nvSpPr>
        <p:spPr>
          <a:xfrm>
            <a:off x="5541264" y="3584448"/>
            <a:ext cx="1636776" cy="365760"/>
          </a:xfrm>
          <a:prstGeom prst="rect">
            <a:avLst/>
          </a:prstGeom>
          <a:noFill/>
          <a:ln/>
        </p:spPr>
        <p:txBody>
          <a:bodyPr wrap="square" lIns="0" tIns="0" rIns="0" bIns="0" rtlCol="0" anchor="ctr"/>
          <a:lstStyle/>
          <a:p>
            <a:pPr indent="0" marL="0">
              <a:buNone/>
            </a:pPr>
            <a:r>
              <a:rPr lang="en-US" sz="1150" b="1" dirty="0">
                <a:solidFill>
                  <a:schemeClr val="tx1"/>
                </a:solidFill>
              </a:rPr>
              <a:t>2021-22 and 2022-23</a:t>
            </a:r>
            <a:endParaRPr lang="en-US" sz="1150" dirty="0"/>
          </a:p>
        </p:txBody>
      </p:sp>
      <p:sp>
        <p:nvSpPr>
          <p:cNvPr id="28" name="results"/>
          <p:cNvSpPr/>
          <p:nvPr/>
        </p:nvSpPr>
        <p:spPr>
          <a:xfrm>
            <a:off x="7671816" y="1371600"/>
            <a:ext cx="3986784" cy="2743200"/>
          </a:xfrm>
          <a:prstGeom prst="roundRect">
            <a:avLst>
              <a:gd name="adj" fmla="val 2000"/>
            </a:avLst>
          </a:prstGeom>
          <a:solidFill>
            <a:schemeClr val="accent1"/>
          </a:solidFill>
          <a:ln w="6350">
            <a:solidFill>
              <a:schemeClr val="accent1"/>
            </a:solidFill>
            <a:prstDash val="solid"/>
          </a:ln>
        </p:spPr>
      </p:sp>
      <p:sp>
        <p:nvSpPr>
          <p:cNvPr id="29" name="Text 27"/>
          <p:cNvSpPr txBox="1"/>
          <p:nvPr/>
        </p:nvSpPr>
        <p:spPr>
          <a:xfrm>
            <a:off x="7909560" y="1536192"/>
            <a:ext cx="3511296" cy="256032"/>
          </a:xfrm>
          <a:prstGeom prst="rect">
            <a:avLst/>
          </a:prstGeom>
          <a:noFill/>
          <a:ln/>
        </p:spPr>
        <p:txBody>
          <a:bodyPr wrap="square" lIns="0" tIns="0" rIns="0" bIns="0" rtlCol="0" anchor="ctr"/>
          <a:lstStyle/>
          <a:p>
            <a:pPr indent="0" marL="0">
              <a:buNone/>
            </a:pPr>
            <a:r>
              <a:rPr lang="en-US" sz="1050" b="1" spc="120" kern="0" dirty="0">
                <a:solidFill>
                  <a:schemeClr val="accent2"/>
                </a:solidFill>
              </a:rPr>
              <a:t>HOLDOUT RESULTS</a:t>
            </a:r>
            <a:endParaRPr lang="en-US" sz="1050" dirty="0"/>
          </a:p>
        </p:txBody>
      </p:sp>
      <p:sp>
        <p:nvSpPr>
          <p:cNvPr id="30" name="Text 28"/>
          <p:cNvSpPr txBox="1"/>
          <p:nvPr/>
        </p:nvSpPr>
        <p:spPr>
          <a:xfrm>
            <a:off x="7909560" y="1883664"/>
            <a:ext cx="914400" cy="548640"/>
          </a:xfrm>
          <a:prstGeom prst="rect">
            <a:avLst/>
          </a:prstGeom>
          <a:noFill/>
          <a:ln/>
        </p:spPr>
        <p:txBody>
          <a:bodyPr wrap="square" lIns="0" tIns="0" rIns="0" bIns="0" rtlCol="0" anchor="ctr"/>
          <a:lstStyle/>
          <a:p>
            <a:pPr indent="0" marL="0">
              <a:buNone/>
            </a:pPr>
            <a:r>
              <a:rPr lang="en-US" sz="1400" dirty="0">
                <a:solidFill>
                  <a:schemeClr val="accent2"/>
                </a:solidFill>
              </a:rPr>
              <a:t>R²</a:t>
            </a:r>
            <a:endParaRPr lang="en-US" sz="1400" dirty="0"/>
          </a:p>
        </p:txBody>
      </p:sp>
      <p:sp>
        <p:nvSpPr>
          <p:cNvPr id="31" name="Text 29"/>
          <p:cNvSpPr txBox="1"/>
          <p:nvPr/>
        </p:nvSpPr>
        <p:spPr>
          <a:xfrm>
            <a:off x="8823960" y="1883664"/>
            <a:ext cx="2596896" cy="548640"/>
          </a:xfrm>
          <a:prstGeom prst="rect">
            <a:avLst/>
          </a:prstGeom>
          <a:noFill/>
          <a:ln/>
        </p:spPr>
        <p:txBody>
          <a:bodyPr wrap="square" lIns="0" tIns="0" rIns="0" bIns="0" rtlCol="0" anchor="ctr"/>
          <a:lstStyle/>
          <a:p>
            <a:pPr indent="0" marL="0">
              <a:buNone/>
            </a:pPr>
            <a:r>
              <a:rPr lang="en-US" sz="2800" b="1" dirty="0">
                <a:solidFill>
                  <a:schemeClr val="accent3"/>
                </a:solidFill>
              </a:rPr>
              <a:t>0.9207</a:t>
            </a:r>
            <a:endParaRPr lang="en-US" sz="2800" dirty="0"/>
          </a:p>
        </p:txBody>
      </p:sp>
      <p:sp>
        <p:nvSpPr>
          <p:cNvPr id="32" name="Text 30"/>
          <p:cNvSpPr txBox="1"/>
          <p:nvPr/>
        </p:nvSpPr>
        <p:spPr>
          <a:xfrm>
            <a:off x="7909560" y="2505456"/>
            <a:ext cx="914400" cy="548640"/>
          </a:xfrm>
          <a:prstGeom prst="rect">
            <a:avLst/>
          </a:prstGeom>
          <a:noFill/>
          <a:ln/>
        </p:spPr>
        <p:txBody>
          <a:bodyPr wrap="square" lIns="0" tIns="0" rIns="0" bIns="0" rtlCol="0" anchor="ctr"/>
          <a:lstStyle/>
          <a:p>
            <a:pPr indent="0" marL="0">
              <a:buNone/>
            </a:pPr>
            <a:r>
              <a:rPr lang="en-US" sz="1400" dirty="0">
                <a:solidFill>
                  <a:schemeClr val="accent2"/>
                </a:solidFill>
              </a:rPr>
              <a:t>RMSE</a:t>
            </a:r>
            <a:endParaRPr lang="en-US" sz="1400" dirty="0"/>
          </a:p>
        </p:txBody>
      </p:sp>
      <p:sp>
        <p:nvSpPr>
          <p:cNvPr id="33" name="Text 31"/>
          <p:cNvSpPr txBox="1"/>
          <p:nvPr/>
        </p:nvSpPr>
        <p:spPr>
          <a:xfrm>
            <a:off x="8823960" y="2505456"/>
            <a:ext cx="2596896" cy="548640"/>
          </a:xfrm>
          <a:prstGeom prst="rect">
            <a:avLst/>
          </a:prstGeom>
          <a:noFill/>
          <a:ln/>
        </p:spPr>
        <p:txBody>
          <a:bodyPr wrap="square" lIns="0" tIns="0" rIns="0" bIns="0" rtlCol="0" anchor="ctr"/>
          <a:lstStyle/>
          <a:p>
            <a:pPr indent="0" marL="0">
              <a:buNone/>
            </a:pPr>
            <a:r>
              <a:rPr lang="en-US" sz="2800" b="1" dirty="0">
                <a:solidFill>
                  <a:schemeClr val="accent3"/>
                </a:solidFill>
              </a:rPr>
              <a:t>5.7139</a:t>
            </a:r>
            <a:endParaRPr lang="en-US" sz="2800" dirty="0"/>
          </a:p>
        </p:txBody>
      </p:sp>
      <p:sp>
        <p:nvSpPr>
          <p:cNvPr id="34" name="Text 32"/>
          <p:cNvSpPr txBox="1"/>
          <p:nvPr/>
        </p:nvSpPr>
        <p:spPr>
          <a:xfrm>
            <a:off x="7909560" y="3127248"/>
            <a:ext cx="914400" cy="548640"/>
          </a:xfrm>
          <a:prstGeom prst="rect">
            <a:avLst/>
          </a:prstGeom>
          <a:noFill/>
          <a:ln/>
        </p:spPr>
        <p:txBody>
          <a:bodyPr wrap="square" lIns="0" tIns="0" rIns="0" bIns="0" rtlCol="0" anchor="ctr"/>
          <a:lstStyle/>
          <a:p>
            <a:pPr indent="0" marL="0">
              <a:buNone/>
            </a:pPr>
            <a:r>
              <a:rPr lang="en-US" sz="1400" dirty="0">
                <a:solidFill>
                  <a:schemeClr val="accent2"/>
                </a:solidFill>
              </a:rPr>
              <a:t>MAE</a:t>
            </a:r>
            <a:endParaRPr lang="en-US" sz="1400" dirty="0"/>
          </a:p>
        </p:txBody>
      </p:sp>
      <p:sp>
        <p:nvSpPr>
          <p:cNvPr id="35" name="Text 33"/>
          <p:cNvSpPr txBox="1"/>
          <p:nvPr/>
        </p:nvSpPr>
        <p:spPr>
          <a:xfrm>
            <a:off x="8823960" y="3127248"/>
            <a:ext cx="2596896" cy="548640"/>
          </a:xfrm>
          <a:prstGeom prst="rect">
            <a:avLst/>
          </a:prstGeom>
          <a:noFill/>
          <a:ln/>
        </p:spPr>
        <p:txBody>
          <a:bodyPr wrap="square" lIns="0" tIns="0" rIns="0" bIns="0" rtlCol="0" anchor="ctr"/>
          <a:lstStyle/>
          <a:p>
            <a:pPr indent="0" marL="0">
              <a:buNone/>
            </a:pPr>
            <a:r>
              <a:rPr lang="en-US" sz="2800" b="1" dirty="0">
                <a:solidFill>
                  <a:schemeClr val="accent3"/>
                </a:solidFill>
              </a:rPr>
              <a:t>2.9629</a:t>
            </a:r>
            <a:endParaRPr lang="en-US" sz="2800" dirty="0"/>
          </a:p>
        </p:txBody>
      </p:sp>
      <p:sp>
        <p:nvSpPr>
          <p:cNvPr id="36" name="Text 34"/>
          <p:cNvSpPr txBox="1"/>
          <p:nvPr/>
        </p:nvSpPr>
        <p:spPr>
          <a:xfrm>
            <a:off x="7909560" y="3749040"/>
            <a:ext cx="3511296" cy="274320"/>
          </a:xfrm>
          <a:prstGeom prst="rect">
            <a:avLst/>
          </a:prstGeom>
          <a:noFill/>
          <a:ln/>
        </p:spPr>
        <p:txBody>
          <a:bodyPr wrap="square" lIns="0" tIns="0" rIns="0" bIns="0" rtlCol="0" anchor="ctr"/>
          <a:lstStyle/>
          <a:p>
            <a:pPr indent="0" marL="0">
              <a:buNone/>
            </a:pPr>
            <a:r>
              <a:rPr lang="en-US" sz="1000" dirty="0">
                <a:solidFill>
                  <a:schemeClr val="accent2"/>
                </a:solidFill>
              </a:rPr>
              <a:t>Cross-validated R²  0.9188 ± 0.0149   ·   grouped R²  0.8945</a:t>
            </a:r>
            <a:endParaRPr lang="en-US" sz="1000" dirty="0"/>
          </a:p>
        </p:txBody>
      </p:sp>
      <p:sp>
        <p:nvSpPr>
          <p:cNvPr id="37" name="caveat"/>
          <p:cNvSpPr/>
          <p:nvPr/>
        </p:nvSpPr>
        <p:spPr>
          <a:xfrm>
            <a:off x="502920" y="4389120"/>
            <a:ext cx="11155680" cy="1371600"/>
          </a:xfrm>
          <a:prstGeom prst="roundRect">
            <a:avLst>
              <a:gd name="adj" fmla="val 4000"/>
            </a:avLst>
          </a:prstGeom>
          <a:solidFill>
            <a:srgbClr val="FDF6E6"/>
          </a:solidFill>
          <a:ln w="6350">
            <a:solidFill>
              <a:schemeClr val="accent3"/>
            </a:solidFill>
            <a:prstDash val="solid"/>
          </a:ln>
        </p:spPr>
      </p:sp>
      <p:sp>
        <p:nvSpPr>
          <p:cNvPr id="38" name="Text 36"/>
          <p:cNvSpPr txBox="1"/>
          <p:nvPr/>
        </p:nvSpPr>
        <p:spPr>
          <a:xfrm>
            <a:off x="777240" y="4517136"/>
            <a:ext cx="4572000" cy="256032"/>
          </a:xfrm>
          <a:prstGeom prst="rect">
            <a:avLst/>
          </a:prstGeom>
          <a:noFill/>
          <a:ln/>
        </p:spPr>
        <p:txBody>
          <a:bodyPr wrap="square" lIns="0" tIns="0" rIns="0" bIns="0" rtlCol="0" anchor="ctr"/>
          <a:lstStyle/>
          <a:p>
            <a:pPr indent="0" marL="0">
              <a:buNone/>
            </a:pPr>
            <a:r>
              <a:rPr lang="en-US" sz="1050" b="1" spc="120" kern="0" dirty="0">
                <a:solidFill>
                  <a:srgbClr val="8A6410"/>
                </a:solidFill>
              </a:rPr>
              <a:t>HOW TO READ THE POOLED R²</a:t>
            </a:r>
            <a:endParaRPr lang="en-US" sz="1050" dirty="0"/>
          </a:p>
        </p:txBody>
      </p:sp>
      <p:sp>
        <p:nvSpPr>
          <p:cNvPr id="39" name="Text 37"/>
          <p:cNvSpPr txBox="1"/>
          <p:nvPr/>
        </p:nvSpPr>
        <p:spPr>
          <a:xfrm>
            <a:off x="777240" y="4791456"/>
            <a:ext cx="10607040" cy="877824"/>
          </a:xfrm>
          <a:prstGeom prst="rect">
            <a:avLst/>
          </a:prstGeom>
          <a:noFill/>
          <a:ln/>
        </p:spPr>
        <p:txBody>
          <a:bodyPr wrap="square" lIns="0" tIns="0" rIns="0" bIns="0" rtlCol="0" anchor="ctr"/>
          <a:lstStyle/>
          <a:p>
            <a:pPr indent="0" marL="0">
              <a:buNone/>
            </a:pPr>
            <a:r>
              <a:rPr lang="en-US" sz="1150" dirty="0">
                <a:solidFill>
                  <a:schemeClr val="tx1"/>
                </a:solidFill>
              </a:rPr>
              <a:t>Pooled across ten crops whose yields span roughly 0.8 to 65 t/ha, R² is dominated by between-crop variance — it largely measures the model’s ability to tell sugarcane from wheat, not its skill within either crop. </a:t>
            </a:r>
            <a:pPr indent="0" marL="0">
              <a:buNone/>
            </a:pPr>
            <a:r>
              <a:rPr lang="en-US" sz="1150" b="1" dirty="0">
                <a:solidFill>
                  <a:schemeClr val="tx1"/>
                </a:solidFill>
              </a:rPr>
              <a:t>Wheat alone scores R² 0.7295, and that is the defensible per-crop result. </a:t>
            </a:r>
            <a:pPr indent="0" marL="0">
              <a:buNone/>
            </a:pPr>
            <a:r>
              <a:rPr lang="en-US" sz="1150" dirty="0">
                <a:solidFill>
                  <a:schemeClr val="accent5"/>
                </a:solidFill>
              </a:rPr>
              <a:t>Four of the ten crops score below zero. Every row is a district average, so this is not field-level accuracy. Regression only — no classification output, so accuracy, precision, recall and F1 do not apply.</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Model training — remaining models</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Random Forest is the only model trained so far. Four remain, all to be benchmarked on the same held-out seasons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914400"/>
        </p:xfrm>
        <a:graphic>
          <a:graphicData uri="http://schemas.openxmlformats.org/drawingml/2006/table">
            <a:tbl>
              <a:tblPr/>
              <a:tblGrid>
                <a:gridCol w="2651760"/>
                <a:gridCol w="2651760"/>
                <a:gridCol w="3657600"/>
                <a:gridCol w="2194560"/>
              </a:tblGrid>
              <a:tr h="429768">
                <a:tc>
                  <a:txBody>
                    <a:bodyPr/>
                    <a:lstStyle/>
                    <a:p>
                      <a:pPr indent="0" marL="0">
                        <a:buNone/>
                      </a:pPr>
                      <a:r>
                        <a:rPr lang="en-US" sz="1150" b="1" dirty="0">
                          <a:solidFill>
                            <a:srgbClr val="FFFFFF"/>
                          </a:solidFill>
                        </a:rPr>
                        <a:t>Model</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Status</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Target configuration</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Family</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429768">
                <a:tc>
                  <a:txBody>
                    <a:bodyPr/>
                    <a:lstStyle/>
                    <a:p>
                      <a:pPr indent="0" marL="0">
                        <a:buNone/>
                      </a:pPr>
                      <a:r>
                        <a:rPr lang="en-US" sz="1250" dirty="0">
                          <a:solidFill>
                            <a:schemeClr val="accent1"/>
                          </a:solidFill>
                        </a:rPr>
                        <a:t>Random Forest</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50" dirty="0">
                          <a:solidFill>
                            <a:schemeClr val="accent1"/>
                          </a:solidFill>
                        </a:rPr>
                        <a:t>Trained &amp; evaluated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50" dirty="0">
                          <a:solidFill>
                            <a:schemeClr val="accent1"/>
                          </a:solidFill>
                        </a:rPr>
                        <a:t>500 trees, max depth 25</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50" dirty="0">
                          <a:solidFill>
                            <a:schemeClr val="accent1"/>
                          </a:solidFill>
                        </a:rPr>
                        <a:t>Tree ensemble</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r h="429768">
                <a:tc>
                  <a:txBody>
                    <a:bodyPr/>
                    <a:lstStyle/>
                    <a:p>
                      <a:pPr indent="0" marL="0">
                        <a:buNone/>
                      </a:pPr>
                      <a:r>
                        <a:rPr lang="en-US" sz="1250" dirty="0">
                          <a:solidFill>
                            <a:schemeClr val="tx1"/>
                          </a:solidFill>
                        </a:rPr>
                        <a:t>XGBoost</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300 estimators</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Gradient boosting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29768">
                <a:tc>
                  <a:txBody>
                    <a:bodyPr/>
                    <a:lstStyle/>
                    <a:p>
                      <a:pPr indent="0" marL="0">
                        <a:buNone/>
                      </a:pPr>
                      <a:r>
                        <a:rPr lang="en-US" sz="1250" dirty="0">
                          <a:solidFill>
                            <a:schemeClr val="tx1"/>
                          </a:solidFill>
                        </a:rPr>
                        <a:t>CNN</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32 × 32 image patches</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Deep learning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29768">
                <a:tc>
                  <a:txBody>
                    <a:bodyPr/>
                    <a:lstStyle/>
                    <a:p>
                      <a:pPr indent="0" marL="0">
                        <a:buNone/>
                      </a:pPr>
                      <a:r>
                        <a:rPr lang="en-US" sz="1250" dirty="0">
                          <a:solidFill>
                            <a:schemeClr val="tx1"/>
                          </a:solidFill>
                        </a:rPr>
                        <a:t>LSTM</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128-unit bidirectional</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Deep learning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29768">
                <a:tc>
                  <a:txBody>
                    <a:bodyPr/>
                    <a:lstStyle/>
                    <a:p>
                      <a:pPr indent="0" marL="0">
                        <a:buNone/>
                      </a:pPr>
                      <a:r>
                        <a:rPr lang="en-US" sz="1250" dirty="0">
                          <a:solidFill>
                            <a:schemeClr val="tx1"/>
                          </a:solidFill>
                        </a:rPr>
                        <a:t>RNN</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yet trained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Configuration to be decided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Deep learning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bl>
          </a:graphicData>
        </a:graphic>
      </p:graphicFrame>
      <p:sp>
        <p:nvSpPr>
          <p:cNvPr id="5" name="benchNote"/>
          <p:cNvSpPr/>
          <p:nvPr/>
        </p:nvSpPr>
        <p:spPr>
          <a:xfrm>
            <a:off x="502920" y="4261104"/>
            <a:ext cx="11155680" cy="1481328"/>
          </a:xfrm>
          <a:prstGeom prst="roundRect">
            <a:avLst>
              <a:gd name="adj" fmla="val 3704"/>
            </a:avLst>
          </a:prstGeom>
          <a:solidFill>
            <a:schemeClr val="bg2"/>
          </a:solidFill>
          <a:ln w="6350">
            <a:solidFill>
              <a:schemeClr val="accent2"/>
            </a:solidFill>
            <a:prstDash val="solid"/>
          </a:ln>
        </p:spPr>
      </p:sp>
      <p:sp>
        <p:nvSpPr>
          <p:cNvPr id="6" name="Text 3"/>
          <p:cNvSpPr txBox="1"/>
          <p:nvPr/>
        </p:nvSpPr>
        <p:spPr>
          <a:xfrm>
            <a:off x="777240" y="4407408"/>
            <a:ext cx="3657600" cy="256032"/>
          </a:xfrm>
          <a:prstGeom prst="rect">
            <a:avLst/>
          </a:prstGeom>
          <a:noFill/>
          <a:ln/>
        </p:spPr>
        <p:txBody>
          <a:bodyPr wrap="square" lIns="0" tIns="0" rIns="0" bIns="0" rtlCol="0" anchor="ctr"/>
          <a:lstStyle/>
          <a:p>
            <a:pPr indent="0" marL="0">
              <a:buNone/>
            </a:pPr>
            <a:r>
              <a:rPr lang="en-US" sz="1050" b="1" spc="120" kern="0" dirty="0">
                <a:solidFill>
                  <a:schemeClr val="accent1"/>
                </a:solidFill>
              </a:rPr>
              <a:t>BENCHMARK TARGET</a:t>
            </a:r>
            <a:endParaRPr lang="en-US" sz="1050" dirty="0"/>
          </a:p>
        </p:txBody>
      </p:sp>
      <p:sp>
        <p:nvSpPr>
          <p:cNvPr id="7" name="Text 4"/>
          <p:cNvSpPr txBox="1"/>
          <p:nvPr/>
        </p:nvSpPr>
        <p:spPr>
          <a:xfrm>
            <a:off x="777240" y="4700016"/>
            <a:ext cx="10607040" cy="932688"/>
          </a:xfrm>
          <a:prstGeom prst="rect">
            <a:avLst/>
          </a:prstGeom>
          <a:noFill/>
          <a:ln/>
        </p:spPr>
        <p:txBody>
          <a:bodyPr wrap="square" lIns="0" tIns="0" rIns="0" bIns="0" rtlCol="0" anchor="ctr"/>
          <a:lstStyle/>
          <a:p>
            <a:pPr indent="0" marL="0">
              <a:buNone/>
            </a:pPr>
            <a:r>
              <a:rPr lang="en-US" sz="1150" dirty="0">
                <a:solidFill>
                  <a:schemeClr val="tx1"/>
                </a:solidFill>
              </a:rPr>
              <a:t>All four remaining models are planned for the next development phase and will be scored against the same target: R² ≥ 0.85 on the held-out seasons. </a:t>
            </a:r>
            <a:pPr indent="0" marL="0">
              <a:buNone/>
            </a:pPr>
            <a:r>
              <a:rPr lang="en-US" sz="1150" b="1" dirty="0">
                <a:solidFill>
                  <a:schemeClr val="tx1"/>
                </a:solidFill>
              </a:rPr>
              <a:t>That target should be read per crop, not pooled. </a:t>
            </a:r>
            <a:pPr indent="0" marL="0">
              <a:buNone/>
            </a:pPr>
            <a:r>
              <a:rPr lang="en-US" sz="1150" dirty="0">
                <a:solidFill>
                  <a:schemeClr val="accent5"/>
                </a:solidFill>
              </a:rPr>
              <a:t>Random Forest already clears 0.85 pooled (0.9207) while sitting at 0.7295 on wheat and below zero on four crops, so a pooled figure above the threshold is not by itself evidence that a model is good enough. The deep-learning models also need the per-date observation format from the temporal experiment, which is why that pipeline was built.</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Current development progress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914400"/>
        </p:xfrm>
        <a:graphic>
          <a:graphicData uri="http://schemas.openxmlformats.org/drawingml/2006/table">
            <a:tbl>
              <a:tblPr/>
              <a:tblGrid>
                <a:gridCol w="3200400"/>
                <a:gridCol w="1737360"/>
                <a:gridCol w="6217920"/>
              </a:tblGrid>
              <a:tr h="438912">
                <a:tc>
                  <a:txBody>
                    <a:bodyPr/>
                    <a:lstStyle/>
                    <a:p>
                      <a:pPr indent="0" marL="0">
                        <a:buNone/>
                      </a:pPr>
                      <a:r>
                        <a:rPr lang="en-US" sz="1150" b="1" dirty="0">
                          <a:solidFill>
                            <a:srgbClr val="FFFFFF"/>
                          </a:solidFill>
                        </a:rPr>
                        <a:t>Module</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Status</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rPr>
                        <a:t>Detail</a:t>
                      </a:r>
                      <a:endParaRPr lang="en-US" sz="11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438912">
                <a:tc>
                  <a:txBody>
                    <a:bodyPr/>
                    <a:lstStyle/>
                    <a:p>
                      <a:pPr indent="0" marL="0">
                        <a:buNone/>
                      </a:pPr>
                      <a:r>
                        <a:rPr lang="en-US" sz="1250" b="1" dirty="0">
                          <a:solidFill>
                            <a:srgbClr val="14281A"/>
                          </a:solidFill>
                        </a:rPr>
                        <a:t>Satellite + GEE Pipeline</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Core ingestion and sensor fusion validated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Vegetation Indices Module</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NDVI, EVI, NDWI, SAVI and NBR computed and stored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ML Workflow &amp; Benchmarking</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1 of 5 models trained — Random Forest</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Farmer Portal / Dashboard</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8A6410"/>
                          </a:solidFill>
                        </a:rPr>
                        <a:t>In progress</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DF6E6"/>
                    </a:solidFill>
                  </a:tcPr>
                </a:tc>
                <a:tc>
                  <a:txBody>
                    <a:bodyPr/>
                    <a:lstStyle/>
                    <a:p>
                      <a:pPr indent="0" marL="0">
                        <a:buNone/>
                      </a:pPr>
                      <a:r>
                        <a:rPr lang="en-US" sz="1200" dirty="0">
                          <a:solidFill>
                            <a:srgbClr val="6A796F"/>
                          </a:solidFill>
                        </a:rPr>
                        <a:t>Core dashboard UI and data wiring underway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4281A"/>
                          </a:solidFill>
                        </a:rPr>
                        <a:t>Government Portal</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algn="ctr" indent="0" marL="0">
                        <a:buNone/>
                      </a:pPr>
                      <a:r>
                        <a:rPr lang="en-US" sz="1200" b="1" dirty="0">
                          <a:solidFill>
                            <a:srgbClr val="2C5F2D"/>
                          </a:solidFill>
                        </a:rPr>
                        <a:t>Completed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00" dirty="0">
                          <a:solidFill>
                            <a:srgbClr val="6A796F"/>
                          </a:solidFill>
                        </a:rPr>
                        <a:t>14 screens, 3-tier access hierarchy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r h="438912">
                <a:tc>
                  <a:txBody>
                    <a:bodyPr/>
                    <a:lstStyle/>
                    <a:p>
                      <a:pPr indent="0" marL="0">
                        <a:buNone/>
                      </a:pPr>
                      <a:r>
                        <a:rPr lang="en-US" sz="1250" b="1" dirty="0">
                          <a:solidFill>
                            <a:srgbClr val="14281A"/>
                          </a:solidFill>
                        </a:rPr>
                        <a:t>Researcher Portal</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algn="ctr" indent="0" marL="0">
                        <a:buNone/>
                      </a:pPr>
                      <a:r>
                        <a:rPr lang="en-US" sz="1200" b="1" dirty="0">
                          <a:solidFill>
                            <a:srgbClr val="2C5F2D"/>
                          </a:solidFill>
                        </a:rPr>
                        <a:t>Completed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00" dirty="0">
                          <a:solidFill>
                            <a:srgbClr val="6A796F"/>
                          </a:solidFill>
                        </a:rPr>
                        <a:t>11 screens, 2-tier access hierarchy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r h="438912">
                <a:tc>
                  <a:txBody>
                    <a:bodyPr/>
                    <a:lstStyle/>
                    <a:p>
                      <a:pPr indent="0" marL="0">
                        <a:buNone/>
                      </a:pPr>
                      <a:r>
                        <a:rPr lang="en-US" sz="1250" b="1" dirty="0">
                          <a:solidFill>
                            <a:srgbClr val="14281A"/>
                          </a:solidFill>
                        </a:rPr>
                        <a:t>Database &amp; Auth Layer</a:t>
                      </a:r>
                      <a:endParaRPr lang="en-US" sz="125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algn="ctr" indent="0" marL="0">
                        <a:buNone/>
                      </a:pPr>
                      <a:r>
                        <a:rPr lang="en-US" sz="1200" b="1" dirty="0">
                          <a:solidFill>
                            <a:srgbClr val="2C5F2D"/>
                          </a:solidFill>
                        </a:rPr>
                        <a:t>Completed</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c>
                  <a:txBody>
                    <a:bodyPr/>
                    <a:lstStyle/>
                    <a:p>
                      <a:pPr indent="0" marL="0">
                        <a:buNone/>
                      </a:pPr>
                      <a:r>
                        <a:rPr lang="en-US" sz="1200" dirty="0">
                          <a:solidFill>
                            <a:srgbClr val="6A796F"/>
                          </a:solidFill>
                        </a:rPr>
                        <a:t>Supabase — Postgres, PostGIS and row-level security</a:t>
                      </a:r>
                      <a:endParaRPr lang="en-US" sz="1200" dirty="0"/>
                    </a:p>
                  </a:txBody>
                  <a:tcPr marL="88900" marR="88900" marT="88900" marB="8890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EDF4EC"/>
                    </a:solidFill>
                  </a:tcPr>
                </a:tc>
              </a:tr>
            </a:tbl>
          </a:graphicData>
        </a:graphic>
      </p:graphicFrame>
      <p:sp>
        <p:nvSpPr>
          <p:cNvPr id="4" name="pstat0"/>
          <p:cNvSpPr/>
          <p:nvPr/>
        </p:nvSpPr>
        <p:spPr>
          <a:xfrm>
            <a:off x="502920" y="5157216"/>
            <a:ext cx="2583180" cy="914400"/>
          </a:xfrm>
          <a:prstGeom prst="roundRect">
            <a:avLst>
              <a:gd name="adj" fmla="val 6000"/>
            </a:avLst>
          </a:prstGeom>
          <a:solidFill>
            <a:schemeClr val="bg2"/>
          </a:solidFill>
          <a:ln w="6350">
            <a:solidFill>
              <a:schemeClr val="accent2"/>
            </a:solidFill>
            <a:prstDash val="solid"/>
          </a:ln>
        </p:spPr>
      </p:sp>
      <p:sp>
        <p:nvSpPr>
          <p:cNvPr id="5" name="Text 2"/>
          <p:cNvSpPr txBox="1"/>
          <p:nvPr/>
        </p:nvSpPr>
        <p:spPr>
          <a:xfrm>
            <a:off x="722376" y="5285232"/>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3</a:t>
            </a:r>
            <a:endParaRPr lang="en-US" sz="2600" dirty="0"/>
          </a:p>
        </p:txBody>
      </p:sp>
      <p:sp>
        <p:nvSpPr>
          <p:cNvPr id="6" name="Text 3"/>
          <p:cNvSpPr txBox="1"/>
          <p:nvPr/>
        </p:nvSpPr>
        <p:spPr>
          <a:xfrm>
            <a:off x="722376" y="5797296"/>
            <a:ext cx="2144268" cy="457200"/>
          </a:xfrm>
          <a:prstGeom prst="rect">
            <a:avLst/>
          </a:prstGeom>
          <a:noFill/>
          <a:ln/>
        </p:spPr>
        <p:txBody>
          <a:bodyPr wrap="square" lIns="0" tIns="0" rIns="0" bIns="0" rtlCol="0" anchor="t"/>
          <a:lstStyle/>
          <a:p>
            <a:pPr indent="0" marL="0">
              <a:buNone/>
            </a:pPr>
            <a:r>
              <a:rPr lang="en-US" sz="1100" dirty="0">
                <a:solidFill>
                  <a:schemeClr val="accent5"/>
                </a:solidFill>
              </a:rPr>
              <a:t>Modules completed</a:t>
            </a:r>
            <a:endParaRPr lang="en-US" sz="1100" dirty="0"/>
          </a:p>
        </p:txBody>
      </p:sp>
      <p:sp>
        <p:nvSpPr>
          <p:cNvPr id="7" name="pstat1"/>
          <p:cNvSpPr/>
          <p:nvPr/>
        </p:nvSpPr>
        <p:spPr>
          <a:xfrm>
            <a:off x="3360420" y="5157216"/>
            <a:ext cx="2583180" cy="914400"/>
          </a:xfrm>
          <a:prstGeom prst="roundRect">
            <a:avLst>
              <a:gd name="adj" fmla="val 6000"/>
            </a:avLst>
          </a:prstGeom>
          <a:solidFill>
            <a:schemeClr val="bg2"/>
          </a:solidFill>
          <a:ln w="6350">
            <a:solidFill>
              <a:schemeClr val="accent2"/>
            </a:solidFill>
            <a:prstDash val="solid"/>
          </a:ln>
        </p:spPr>
      </p:sp>
      <p:sp>
        <p:nvSpPr>
          <p:cNvPr id="8" name="Text 5"/>
          <p:cNvSpPr txBox="1"/>
          <p:nvPr/>
        </p:nvSpPr>
        <p:spPr>
          <a:xfrm>
            <a:off x="3579876" y="5285232"/>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4</a:t>
            </a:r>
            <a:endParaRPr lang="en-US" sz="2600" dirty="0"/>
          </a:p>
        </p:txBody>
      </p:sp>
      <p:sp>
        <p:nvSpPr>
          <p:cNvPr id="9" name="Text 6"/>
          <p:cNvSpPr txBox="1"/>
          <p:nvPr/>
        </p:nvSpPr>
        <p:spPr>
          <a:xfrm>
            <a:off x="3579876" y="5797296"/>
            <a:ext cx="2144268" cy="457200"/>
          </a:xfrm>
          <a:prstGeom prst="rect">
            <a:avLst/>
          </a:prstGeom>
          <a:noFill/>
          <a:ln/>
        </p:spPr>
        <p:txBody>
          <a:bodyPr wrap="square" lIns="0" tIns="0" rIns="0" bIns="0" rtlCol="0" anchor="t"/>
          <a:lstStyle/>
          <a:p>
            <a:pPr indent="0" marL="0">
              <a:buNone/>
            </a:pPr>
            <a:r>
              <a:rPr lang="en-US" sz="1100" dirty="0">
                <a:solidFill>
                  <a:schemeClr val="accent5"/>
                </a:solidFill>
              </a:rPr>
              <a:t>Modules in progress</a:t>
            </a:r>
            <a:endParaRPr lang="en-US" sz="1100" dirty="0"/>
          </a:p>
        </p:txBody>
      </p:sp>
      <p:sp>
        <p:nvSpPr>
          <p:cNvPr id="10" name="pstat2"/>
          <p:cNvSpPr/>
          <p:nvPr/>
        </p:nvSpPr>
        <p:spPr>
          <a:xfrm>
            <a:off x="6217920" y="5157216"/>
            <a:ext cx="2583180" cy="914400"/>
          </a:xfrm>
          <a:prstGeom prst="roundRect">
            <a:avLst>
              <a:gd name="adj" fmla="val 6000"/>
            </a:avLst>
          </a:prstGeom>
          <a:solidFill>
            <a:schemeClr val="bg2"/>
          </a:solidFill>
          <a:ln w="6350">
            <a:solidFill>
              <a:schemeClr val="accent2"/>
            </a:solidFill>
            <a:prstDash val="solid"/>
          </a:ln>
        </p:spPr>
      </p:sp>
      <p:sp>
        <p:nvSpPr>
          <p:cNvPr id="11" name="Text 8"/>
          <p:cNvSpPr txBox="1"/>
          <p:nvPr/>
        </p:nvSpPr>
        <p:spPr>
          <a:xfrm>
            <a:off x="6437376" y="5285232"/>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1 of 5</a:t>
            </a:r>
            <a:endParaRPr lang="en-US" sz="2600" dirty="0"/>
          </a:p>
        </p:txBody>
      </p:sp>
      <p:sp>
        <p:nvSpPr>
          <p:cNvPr id="12" name="Text 9"/>
          <p:cNvSpPr txBox="1"/>
          <p:nvPr/>
        </p:nvSpPr>
        <p:spPr>
          <a:xfrm>
            <a:off x="6437376" y="5797296"/>
            <a:ext cx="2144268" cy="457200"/>
          </a:xfrm>
          <a:prstGeom prst="rect">
            <a:avLst/>
          </a:prstGeom>
          <a:noFill/>
          <a:ln/>
        </p:spPr>
        <p:txBody>
          <a:bodyPr wrap="square" lIns="0" tIns="0" rIns="0" bIns="0" rtlCol="0" anchor="t"/>
          <a:lstStyle/>
          <a:p>
            <a:pPr indent="0" marL="0">
              <a:buNone/>
            </a:pPr>
            <a:r>
              <a:rPr lang="en-US" sz="1100" dirty="0">
                <a:solidFill>
                  <a:schemeClr val="accent5"/>
                </a:solidFill>
              </a:rPr>
              <a:t>Models trained</a:t>
            </a:r>
            <a:endParaRPr lang="en-US" sz="1100" dirty="0"/>
          </a:p>
        </p:txBody>
      </p:sp>
      <p:sp>
        <p:nvSpPr>
          <p:cNvPr id="13" name="pstat3"/>
          <p:cNvSpPr/>
          <p:nvPr/>
        </p:nvSpPr>
        <p:spPr>
          <a:xfrm>
            <a:off x="9075420" y="5157216"/>
            <a:ext cx="2583180" cy="914400"/>
          </a:xfrm>
          <a:prstGeom prst="roundRect">
            <a:avLst>
              <a:gd name="adj" fmla="val 6000"/>
            </a:avLst>
          </a:prstGeom>
          <a:solidFill>
            <a:schemeClr val="bg2"/>
          </a:solidFill>
          <a:ln w="6350">
            <a:solidFill>
              <a:schemeClr val="accent2"/>
            </a:solidFill>
            <a:prstDash val="solid"/>
          </a:ln>
        </p:spPr>
      </p:sp>
      <p:sp>
        <p:nvSpPr>
          <p:cNvPr id="14" name="Text 11"/>
          <p:cNvSpPr txBox="1"/>
          <p:nvPr/>
        </p:nvSpPr>
        <p:spPr>
          <a:xfrm>
            <a:off x="9294876" y="5285232"/>
            <a:ext cx="2144268" cy="512064"/>
          </a:xfrm>
          <a:prstGeom prst="rect">
            <a:avLst/>
          </a:prstGeom>
          <a:noFill/>
          <a:ln/>
        </p:spPr>
        <p:txBody>
          <a:bodyPr wrap="square" lIns="0" tIns="0" rIns="0" bIns="0" rtlCol="0" anchor="ctr"/>
          <a:lstStyle/>
          <a:p>
            <a:pPr indent="0" marL="0">
              <a:buNone/>
            </a:pPr>
            <a:r>
              <a:rPr lang="en-US" sz="2600" b="1" dirty="0">
                <a:solidFill>
                  <a:schemeClr val="accent3"/>
                </a:solidFill>
              </a:rPr>
              <a:t>2 of 3</a:t>
            </a:r>
            <a:endParaRPr lang="en-US" sz="2600" dirty="0"/>
          </a:p>
        </p:txBody>
      </p:sp>
      <p:sp>
        <p:nvSpPr>
          <p:cNvPr id="15" name="Text 12"/>
          <p:cNvSpPr txBox="1"/>
          <p:nvPr/>
        </p:nvSpPr>
        <p:spPr>
          <a:xfrm>
            <a:off x="9294876" y="5797296"/>
            <a:ext cx="2144268" cy="457200"/>
          </a:xfrm>
          <a:prstGeom prst="rect">
            <a:avLst/>
          </a:prstGeom>
          <a:noFill/>
          <a:ln/>
        </p:spPr>
        <p:txBody>
          <a:bodyPr wrap="square" lIns="0" tIns="0" rIns="0" bIns="0" rtlCol="0" anchor="t"/>
          <a:lstStyle/>
          <a:p>
            <a:pPr indent="0" marL="0">
              <a:buNone/>
            </a:pPr>
            <a:r>
              <a:rPr lang="en-US" sz="1100" dirty="0">
                <a:solidFill>
                  <a:schemeClr val="accent5"/>
                </a:solidFill>
              </a:rPr>
              <a:t>Portals feature-complete</a:t>
            </a:r>
            <a:endParaRPr lang="en-US" sz="1100" dirty="0"/>
          </a:p>
        </p:txBody>
      </p:sp>
      <p:sp>
        <p:nvSpPr>
          <p:cNvPr id="17"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Work completed so far</a:t>
            </a:r>
            <a:endParaRPr lang="en-US" sz="3200" dirty="0"/>
          </a:p>
        </p:txBody>
      </p:sp>
      <p:sp>
        <p:nvSpPr>
          <p:cNvPr id="3" name="done0"/>
          <p:cNvSpPr/>
          <p:nvPr/>
        </p:nvSpPr>
        <p:spPr>
          <a:xfrm>
            <a:off x="502920" y="1371600"/>
            <a:ext cx="3535680" cy="1353312"/>
          </a:xfrm>
          <a:prstGeom prst="roundRect">
            <a:avLst>
              <a:gd name="adj" fmla="val 4054"/>
            </a:avLst>
          </a:prstGeom>
          <a:solidFill>
            <a:schemeClr val="bg2"/>
          </a:solidFill>
          <a:ln w="6350">
            <a:solidFill>
              <a:schemeClr val="accent2"/>
            </a:solidFill>
            <a:prstDash val="solid"/>
          </a:ln>
        </p:spPr>
      </p:sp>
      <p:sp>
        <p:nvSpPr>
          <p:cNvPr id="4" name="Shape 2"/>
          <p:cNvSpPr/>
          <p:nvPr/>
        </p:nvSpPr>
        <p:spPr>
          <a:xfrm>
            <a:off x="704088" y="1572768"/>
            <a:ext cx="274320" cy="274320"/>
          </a:xfrm>
          <a:prstGeom prst="ellipse">
            <a:avLst/>
          </a:prstGeom>
          <a:solidFill>
            <a:schemeClr val="accent1"/>
          </a:solidFill>
          <a:ln/>
        </p:spPr>
      </p:sp>
      <p:sp>
        <p:nvSpPr>
          <p:cNvPr id="5" name="Text 3"/>
          <p:cNvSpPr txBox="1"/>
          <p:nvPr/>
        </p:nvSpPr>
        <p:spPr>
          <a:xfrm>
            <a:off x="704088" y="15727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6" name="Text 4"/>
          <p:cNvSpPr txBox="1"/>
          <p:nvPr/>
        </p:nvSpPr>
        <p:spPr>
          <a:xfrm>
            <a:off x="1051560" y="1545336"/>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Verified wheat dataset</a:t>
            </a:r>
            <a:endParaRPr lang="en-US" sz="1300" dirty="0"/>
          </a:p>
        </p:txBody>
      </p:sp>
      <p:sp>
        <p:nvSpPr>
          <p:cNvPr id="7" name="Text 5"/>
          <p:cNvSpPr txBox="1"/>
          <p:nvPr/>
        </p:nvSpPr>
        <p:spPr>
          <a:xfrm>
            <a:off x="704088" y="1938528"/>
            <a:ext cx="3133344" cy="694944"/>
          </a:xfrm>
          <a:prstGeom prst="rect">
            <a:avLst/>
          </a:prstGeom>
          <a:noFill/>
          <a:ln/>
        </p:spPr>
        <p:txBody>
          <a:bodyPr wrap="square" lIns="0" tIns="0" rIns="0" bIns="0" rtlCol="0" anchor="t"/>
          <a:lstStyle/>
          <a:p>
            <a:pPr indent="0" marL="0">
              <a:buNone/>
            </a:pPr>
            <a:r>
              <a:rPr lang="en-US" sz="1100" dirty="0">
                <a:solidFill>
                  <a:schemeClr val="accent5"/>
                </a:solidFill>
              </a:rPr>
              <a:t>436 rows across 43 districts and 12 seasons, traced to CRS source documents</a:t>
            </a:r>
            <a:endParaRPr lang="en-US" sz="1100" dirty="0"/>
          </a:p>
        </p:txBody>
      </p:sp>
      <p:sp>
        <p:nvSpPr>
          <p:cNvPr id="8" name="done1"/>
          <p:cNvSpPr/>
          <p:nvPr/>
        </p:nvSpPr>
        <p:spPr>
          <a:xfrm>
            <a:off x="4312920" y="1371600"/>
            <a:ext cx="3535680" cy="1353312"/>
          </a:xfrm>
          <a:prstGeom prst="roundRect">
            <a:avLst>
              <a:gd name="adj" fmla="val 4054"/>
            </a:avLst>
          </a:prstGeom>
          <a:solidFill>
            <a:schemeClr val="bg2"/>
          </a:solidFill>
          <a:ln w="6350">
            <a:solidFill>
              <a:schemeClr val="accent2"/>
            </a:solidFill>
            <a:prstDash val="solid"/>
          </a:ln>
        </p:spPr>
      </p:sp>
      <p:sp>
        <p:nvSpPr>
          <p:cNvPr id="9" name="Shape 7"/>
          <p:cNvSpPr/>
          <p:nvPr/>
        </p:nvSpPr>
        <p:spPr>
          <a:xfrm>
            <a:off x="4514088" y="1572768"/>
            <a:ext cx="274320" cy="274320"/>
          </a:xfrm>
          <a:prstGeom prst="ellipse">
            <a:avLst/>
          </a:prstGeom>
          <a:solidFill>
            <a:schemeClr val="accent1"/>
          </a:solidFill>
          <a:ln/>
        </p:spPr>
      </p:sp>
      <p:sp>
        <p:nvSpPr>
          <p:cNvPr id="10" name="Text 8"/>
          <p:cNvSpPr txBox="1"/>
          <p:nvPr/>
        </p:nvSpPr>
        <p:spPr>
          <a:xfrm>
            <a:off x="4514088" y="15727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1" name="Text 9"/>
          <p:cNvSpPr txBox="1"/>
          <p:nvPr/>
        </p:nvSpPr>
        <p:spPr>
          <a:xfrm>
            <a:off x="4861560" y="1545336"/>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Verified rice dataset</a:t>
            </a:r>
            <a:endParaRPr lang="en-US" sz="1300" dirty="0"/>
          </a:p>
        </p:txBody>
      </p:sp>
      <p:sp>
        <p:nvSpPr>
          <p:cNvPr id="12" name="Text 10"/>
          <p:cNvSpPr txBox="1"/>
          <p:nvPr/>
        </p:nvSpPr>
        <p:spPr>
          <a:xfrm>
            <a:off x="4514088" y="1938528"/>
            <a:ext cx="3133344" cy="694944"/>
          </a:xfrm>
          <a:prstGeom prst="rect">
            <a:avLst/>
          </a:prstGeom>
          <a:noFill/>
          <a:ln/>
        </p:spPr>
        <p:txBody>
          <a:bodyPr wrap="square" lIns="0" tIns="0" rIns="0" bIns="0" rtlCol="0" anchor="t"/>
          <a:lstStyle/>
          <a:p>
            <a:pPr indent="0" marL="0">
              <a:buNone/>
            </a:pPr>
            <a:r>
              <a:rPr lang="en-US" sz="1100" dirty="0">
                <a:solidFill>
                  <a:schemeClr val="accent5"/>
                </a:solidFill>
              </a:rPr>
              <a:t>216 rows, Basmati / Non-Basmati / Total, 0% variance against provincial totals</a:t>
            </a:r>
            <a:endParaRPr lang="en-US" sz="1100" dirty="0"/>
          </a:p>
        </p:txBody>
      </p:sp>
      <p:sp>
        <p:nvSpPr>
          <p:cNvPr id="13" name="done2"/>
          <p:cNvSpPr/>
          <p:nvPr/>
        </p:nvSpPr>
        <p:spPr>
          <a:xfrm>
            <a:off x="8122920" y="1371600"/>
            <a:ext cx="3535680" cy="1353312"/>
          </a:xfrm>
          <a:prstGeom prst="roundRect">
            <a:avLst>
              <a:gd name="adj" fmla="val 4054"/>
            </a:avLst>
          </a:prstGeom>
          <a:solidFill>
            <a:schemeClr val="bg2"/>
          </a:solidFill>
          <a:ln w="6350">
            <a:solidFill>
              <a:schemeClr val="accent2"/>
            </a:solidFill>
            <a:prstDash val="solid"/>
          </a:ln>
        </p:spPr>
      </p:sp>
      <p:sp>
        <p:nvSpPr>
          <p:cNvPr id="14" name="Shape 12"/>
          <p:cNvSpPr/>
          <p:nvPr/>
        </p:nvSpPr>
        <p:spPr>
          <a:xfrm>
            <a:off x="8324088" y="1572768"/>
            <a:ext cx="274320" cy="274320"/>
          </a:xfrm>
          <a:prstGeom prst="ellipse">
            <a:avLst/>
          </a:prstGeom>
          <a:solidFill>
            <a:schemeClr val="accent1"/>
          </a:solidFill>
          <a:ln/>
        </p:spPr>
      </p:sp>
      <p:sp>
        <p:nvSpPr>
          <p:cNvPr id="15" name="Text 13"/>
          <p:cNvSpPr txBox="1"/>
          <p:nvPr/>
        </p:nvSpPr>
        <p:spPr>
          <a:xfrm>
            <a:off x="8324088" y="15727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6" name="Text 14"/>
          <p:cNvSpPr txBox="1"/>
          <p:nvPr/>
        </p:nvSpPr>
        <p:spPr>
          <a:xfrm>
            <a:off x="8671560" y="1545336"/>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GEE ingestion pipeline</a:t>
            </a:r>
            <a:endParaRPr lang="en-US" sz="1300" dirty="0"/>
          </a:p>
        </p:txBody>
      </p:sp>
      <p:sp>
        <p:nvSpPr>
          <p:cNvPr id="17" name="Text 15"/>
          <p:cNvSpPr txBox="1"/>
          <p:nvPr/>
        </p:nvSpPr>
        <p:spPr>
          <a:xfrm>
            <a:off x="8324088" y="1938528"/>
            <a:ext cx="3133344" cy="694944"/>
          </a:xfrm>
          <a:prstGeom prst="rect">
            <a:avLst/>
          </a:prstGeom>
          <a:noFill/>
          <a:ln/>
        </p:spPr>
        <p:txBody>
          <a:bodyPr wrap="square" lIns="0" tIns="0" rIns="0" bIns="0" rtlCol="0" anchor="t"/>
          <a:lstStyle/>
          <a:p>
            <a:pPr indent="0" marL="0">
              <a:buNone/>
            </a:pPr>
            <a:r>
              <a:rPr lang="en-US" sz="1100" dirty="0">
                <a:solidFill>
                  <a:schemeClr val="accent5"/>
                </a:solidFill>
              </a:rPr>
              <a:t>Sentinel-1 and Sentinel-2 retrieval with per-date sensor fusion</a:t>
            </a:r>
            <a:endParaRPr lang="en-US" sz="1100" dirty="0"/>
          </a:p>
        </p:txBody>
      </p:sp>
      <p:sp>
        <p:nvSpPr>
          <p:cNvPr id="18" name="done3"/>
          <p:cNvSpPr/>
          <p:nvPr/>
        </p:nvSpPr>
        <p:spPr>
          <a:xfrm>
            <a:off x="502920" y="2907792"/>
            <a:ext cx="3535680" cy="1353312"/>
          </a:xfrm>
          <a:prstGeom prst="roundRect">
            <a:avLst>
              <a:gd name="adj" fmla="val 4054"/>
            </a:avLst>
          </a:prstGeom>
          <a:solidFill>
            <a:schemeClr val="bg2"/>
          </a:solidFill>
          <a:ln w="6350">
            <a:solidFill>
              <a:schemeClr val="accent2"/>
            </a:solidFill>
            <a:prstDash val="solid"/>
          </a:ln>
        </p:spPr>
      </p:sp>
      <p:sp>
        <p:nvSpPr>
          <p:cNvPr id="19" name="Shape 17"/>
          <p:cNvSpPr/>
          <p:nvPr/>
        </p:nvSpPr>
        <p:spPr>
          <a:xfrm>
            <a:off x="704088" y="3108960"/>
            <a:ext cx="274320" cy="274320"/>
          </a:xfrm>
          <a:prstGeom prst="ellipse">
            <a:avLst/>
          </a:prstGeom>
          <a:solidFill>
            <a:schemeClr val="accent1"/>
          </a:solidFill>
          <a:ln/>
        </p:spPr>
      </p:sp>
      <p:sp>
        <p:nvSpPr>
          <p:cNvPr id="20" name="Text 18"/>
          <p:cNvSpPr txBox="1"/>
          <p:nvPr/>
        </p:nvSpPr>
        <p:spPr>
          <a:xfrm>
            <a:off x="704088" y="31089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1" name="Text 19"/>
          <p:cNvSpPr txBox="1"/>
          <p:nvPr/>
        </p:nvSpPr>
        <p:spPr>
          <a:xfrm>
            <a:off x="1051560" y="3081528"/>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satellite_features table</a:t>
            </a:r>
            <a:endParaRPr lang="en-US" sz="1300" dirty="0"/>
          </a:p>
        </p:txBody>
      </p:sp>
      <p:sp>
        <p:nvSpPr>
          <p:cNvPr id="22" name="Text 20"/>
          <p:cNvSpPr txBox="1"/>
          <p:nvPr/>
        </p:nvSpPr>
        <p:spPr>
          <a:xfrm>
            <a:off x="704088" y="3474720"/>
            <a:ext cx="3133344" cy="694944"/>
          </a:xfrm>
          <a:prstGeom prst="rect">
            <a:avLst/>
          </a:prstGeom>
          <a:noFill/>
          <a:ln/>
        </p:spPr>
        <p:txBody>
          <a:bodyPr wrap="square" lIns="0" tIns="0" rIns="0" bIns="0" rtlCol="0" anchor="t"/>
          <a:lstStyle/>
          <a:p>
            <a:pPr indent="0" marL="0">
              <a:buNone/>
            </a:pPr>
            <a:r>
              <a:rPr lang="en-US" sz="1100" dirty="0">
                <a:solidFill>
                  <a:schemeClr val="accent5"/>
                </a:solidFill>
              </a:rPr>
              <a:t>1,296 farm-date rows with a full integrity audit — no loss, no duplicates</a:t>
            </a:r>
            <a:endParaRPr lang="en-US" sz="1100" dirty="0"/>
          </a:p>
        </p:txBody>
      </p:sp>
      <p:sp>
        <p:nvSpPr>
          <p:cNvPr id="23" name="done4"/>
          <p:cNvSpPr/>
          <p:nvPr/>
        </p:nvSpPr>
        <p:spPr>
          <a:xfrm>
            <a:off x="4312920" y="2907792"/>
            <a:ext cx="3535680" cy="1353312"/>
          </a:xfrm>
          <a:prstGeom prst="roundRect">
            <a:avLst>
              <a:gd name="adj" fmla="val 4054"/>
            </a:avLst>
          </a:prstGeom>
          <a:solidFill>
            <a:schemeClr val="bg2"/>
          </a:solidFill>
          <a:ln w="6350">
            <a:solidFill>
              <a:schemeClr val="accent2"/>
            </a:solidFill>
            <a:prstDash val="solid"/>
          </a:ln>
        </p:spPr>
      </p:sp>
      <p:sp>
        <p:nvSpPr>
          <p:cNvPr id="24" name="Shape 22"/>
          <p:cNvSpPr/>
          <p:nvPr/>
        </p:nvSpPr>
        <p:spPr>
          <a:xfrm>
            <a:off x="4514088" y="3108960"/>
            <a:ext cx="274320" cy="274320"/>
          </a:xfrm>
          <a:prstGeom prst="ellipse">
            <a:avLst/>
          </a:prstGeom>
          <a:solidFill>
            <a:schemeClr val="accent1"/>
          </a:solidFill>
          <a:ln/>
        </p:spPr>
      </p:sp>
      <p:sp>
        <p:nvSpPr>
          <p:cNvPr id="25" name="Text 23"/>
          <p:cNvSpPr txBox="1"/>
          <p:nvPr/>
        </p:nvSpPr>
        <p:spPr>
          <a:xfrm>
            <a:off x="4514088" y="31089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6" name="Text 24"/>
          <p:cNvSpPr txBox="1"/>
          <p:nvPr/>
        </p:nvSpPr>
        <p:spPr>
          <a:xfrm>
            <a:off x="4861560" y="3081528"/>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Vegetation index computation</a:t>
            </a:r>
            <a:endParaRPr lang="en-US" sz="1300" dirty="0"/>
          </a:p>
        </p:txBody>
      </p:sp>
      <p:sp>
        <p:nvSpPr>
          <p:cNvPr id="27" name="Text 25"/>
          <p:cNvSpPr txBox="1"/>
          <p:nvPr/>
        </p:nvSpPr>
        <p:spPr>
          <a:xfrm>
            <a:off x="4514088" y="3474720"/>
            <a:ext cx="3133344" cy="694944"/>
          </a:xfrm>
          <a:prstGeom prst="rect">
            <a:avLst/>
          </a:prstGeom>
          <a:noFill/>
          <a:ln/>
        </p:spPr>
        <p:txBody>
          <a:bodyPr wrap="square" lIns="0" tIns="0" rIns="0" bIns="0" rtlCol="0" anchor="t"/>
          <a:lstStyle/>
          <a:p>
            <a:pPr indent="0" marL="0">
              <a:buNone/>
            </a:pPr>
            <a:r>
              <a:rPr lang="en-US" sz="1100" dirty="0">
                <a:solidFill>
                  <a:schemeClr val="accent5"/>
                </a:solidFill>
              </a:rPr>
              <a:t>All five indices verified against raw band values</a:t>
            </a:r>
            <a:endParaRPr lang="en-US" sz="1100" dirty="0"/>
          </a:p>
        </p:txBody>
      </p:sp>
      <p:sp>
        <p:nvSpPr>
          <p:cNvPr id="28" name="done5"/>
          <p:cNvSpPr/>
          <p:nvPr/>
        </p:nvSpPr>
        <p:spPr>
          <a:xfrm>
            <a:off x="8122920" y="2907792"/>
            <a:ext cx="3535680" cy="1353312"/>
          </a:xfrm>
          <a:prstGeom prst="roundRect">
            <a:avLst>
              <a:gd name="adj" fmla="val 4054"/>
            </a:avLst>
          </a:prstGeom>
          <a:solidFill>
            <a:schemeClr val="bg2"/>
          </a:solidFill>
          <a:ln w="6350">
            <a:solidFill>
              <a:schemeClr val="accent2"/>
            </a:solidFill>
            <a:prstDash val="solid"/>
          </a:ln>
        </p:spPr>
      </p:sp>
      <p:sp>
        <p:nvSpPr>
          <p:cNvPr id="29" name="Shape 27"/>
          <p:cNvSpPr/>
          <p:nvPr/>
        </p:nvSpPr>
        <p:spPr>
          <a:xfrm>
            <a:off x="8324088" y="3108960"/>
            <a:ext cx="274320" cy="274320"/>
          </a:xfrm>
          <a:prstGeom prst="ellipse">
            <a:avLst/>
          </a:prstGeom>
          <a:solidFill>
            <a:schemeClr val="accent1"/>
          </a:solidFill>
          <a:ln/>
        </p:spPr>
      </p:sp>
      <p:sp>
        <p:nvSpPr>
          <p:cNvPr id="30" name="Text 28"/>
          <p:cNvSpPr txBox="1"/>
          <p:nvPr/>
        </p:nvSpPr>
        <p:spPr>
          <a:xfrm>
            <a:off x="8324088" y="31089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1" name="Text 29"/>
          <p:cNvSpPr txBox="1"/>
          <p:nvPr/>
        </p:nvSpPr>
        <p:spPr>
          <a:xfrm>
            <a:off x="8671560" y="3081528"/>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Database and auth migrated</a:t>
            </a:r>
            <a:endParaRPr lang="en-US" sz="1300" dirty="0"/>
          </a:p>
        </p:txBody>
      </p:sp>
      <p:sp>
        <p:nvSpPr>
          <p:cNvPr id="32" name="Text 30"/>
          <p:cNvSpPr txBox="1"/>
          <p:nvPr/>
        </p:nvSpPr>
        <p:spPr>
          <a:xfrm>
            <a:off x="8324088" y="3474720"/>
            <a:ext cx="3133344" cy="694944"/>
          </a:xfrm>
          <a:prstGeom prst="rect">
            <a:avLst/>
          </a:prstGeom>
          <a:noFill/>
          <a:ln/>
        </p:spPr>
        <p:txBody>
          <a:bodyPr wrap="square" lIns="0" tIns="0" rIns="0" bIns="0" rtlCol="0" anchor="t"/>
          <a:lstStyle/>
          <a:p>
            <a:pPr indent="0" marL="0">
              <a:buNone/>
            </a:pPr>
            <a:r>
              <a:rPr lang="en-US" sz="1100" dirty="0">
                <a:solidFill>
                  <a:schemeClr val="accent5"/>
                </a:solidFill>
              </a:rPr>
              <a:t>Supabase: Postgres, PostGIS and row-level security in place</a:t>
            </a:r>
            <a:endParaRPr lang="en-US" sz="1100" dirty="0"/>
          </a:p>
        </p:txBody>
      </p:sp>
      <p:sp>
        <p:nvSpPr>
          <p:cNvPr id="33" name="done6"/>
          <p:cNvSpPr/>
          <p:nvPr/>
        </p:nvSpPr>
        <p:spPr>
          <a:xfrm>
            <a:off x="502920" y="4443984"/>
            <a:ext cx="3535680" cy="1353312"/>
          </a:xfrm>
          <a:prstGeom prst="roundRect">
            <a:avLst>
              <a:gd name="adj" fmla="val 4054"/>
            </a:avLst>
          </a:prstGeom>
          <a:solidFill>
            <a:schemeClr val="bg2"/>
          </a:solidFill>
          <a:ln w="6350">
            <a:solidFill>
              <a:schemeClr val="accent2"/>
            </a:solidFill>
            <a:prstDash val="solid"/>
          </a:ln>
        </p:spPr>
      </p:sp>
      <p:sp>
        <p:nvSpPr>
          <p:cNvPr id="34" name="Shape 32"/>
          <p:cNvSpPr/>
          <p:nvPr/>
        </p:nvSpPr>
        <p:spPr>
          <a:xfrm>
            <a:off x="704088" y="4645152"/>
            <a:ext cx="274320" cy="274320"/>
          </a:xfrm>
          <a:prstGeom prst="ellipse">
            <a:avLst/>
          </a:prstGeom>
          <a:solidFill>
            <a:schemeClr val="accent1"/>
          </a:solidFill>
          <a:ln/>
        </p:spPr>
      </p:sp>
      <p:sp>
        <p:nvSpPr>
          <p:cNvPr id="35" name="Text 33"/>
          <p:cNvSpPr txBox="1"/>
          <p:nvPr/>
        </p:nvSpPr>
        <p:spPr>
          <a:xfrm>
            <a:off x="704088" y="46451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6" name="Text 34"/>
          <p:cNvSpPr txBox="1"/>
          <p:nvPr/>
        </p:nvSpPr>
        <p:spPr>
          <a:xfrm>
            <a:off x="1051560" y="4617720"/>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Government Portal built</a:t>
            </a:r>
            <a:endParaRPr lang="en-US" sz="1300" dirty="0"/>
          </a:p>
        </p:txBody>
      </p:sp>
      <p:sp>
        <p:nvSpPr>
          <p:cNvPr id="37" name="Text 35"/>
          <p:cNvSpPr txBox="1"/>
          <p:nvPr/>
        </p:nvSpPr>
        <p:spPr>
          <a:xfrm>
            <a:off x="704088" y="5010912"/>
            <a:ext cx="3133344" cy="694944"/>
          </a:xfrm>
          <a:prstGeom prst="rect">
            <a:avLst/>
          </a:prstGeom>
          <a:noFill/>
          <a:ln/>
        </p:spPr>
        <p:txBody>
          <a:bodyPr wrap="square" lIns="0" tIns="0" rIns="0" bIns="0" rtlCol="0" anchor="t"/>
          <a:lstStyle/>
          <a:p>
            <a:pPr indent="0" marL="0">
              <a:buNone/>
            </a:pPr>
            <a:r>
              <a:rPr lang="en-US" sz="1100" dirty="0">
                <a:solidFill>
                  <a:schemeClr val="accent5"/>
                </a:solidFill>
              </a:rPr>
              <a:t>14 screens, 3-tier hierarchy, 57 access boundaries verified</a:t>
            </a:r>
            <a:endParaRPr lang="en-US" sz="1100" dirty="0"/>
          </a:p>
        </p:txBody>
      </p:sp>
      <p:sp>
        <p:nvSpPr>
          <p:cNvPr id="38" name="done7"/>
          <p:cNvSpPr/>
          <p:nvPr/>
        </p:nvSpPr>
        <p:spPr>
          <a:xfrm>
            <a:off x="4312920" y="4443984"/>
            <a:ext cx="3535680" cy="1353312"/>
          </a:xfrm>
          <a:prstGeom prst="roundRect">
            <a:avLst>
              <a:gd name="adj" fmla="val 4054"/>
            </a:avLst>
          </a:prstGeom>
          <a:solidFill>
            <a:schemeClr val="bg2"/>
          </a:solidFill>
          <a:ln w="6350">
            <a:solidFill>
              <a:schemeClr val="accent2"/>
            </a:solidFill>
            <a:prstDash val="solid"/>
          </a:ln>
        </p:spPr>
      </p:sp>
      <p:sp>
        <p:nvSpPr>
          <p:cNvPr id="39" name="Shape 37"/>
          <p:cNvSpPr/>
          <p:nvPr/>
        </p:nvSpPr>
        <p:spPr>
          <a:xfrm>
            <a:off x="4514088" y="4645152"/>
            <a:ext cx="274320" cy="274320"/>
          </a:xfrm>
          <a:prstGeom prst="ellipse">
            <a:avLst/>
          </a:prstGeom>
          <a:solidFill>
            <a:schemeClr val="accent1"/>
          </a:solidFill>
          <a:ln/>
        </p:spPr>
      </p:sp>
      <p:sp>
        <p:nvSpPr>
          <p:cNvPr id="40" name="Text 38"/>
          <p:cNvSpPr txBox="1"/>
          <p:nvPr/>
        </p:nvSpPr>
        <p:spPr>
          <a:xfrm>
            <a:off x="4514088" y="46451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41" name="Text 39"/>
          <p:cNvSpPr txBox="1"/>
          <p:nvPr/>
        </p:nvSpPr>
        <p:spPr>
          <a:xfrm>
            <a:off x="4861560" y="4617720"/>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Researcher Portal built</a:t>
            </a:r>
            <a:endParaRPr lang="en-US" sz="1300" dirty="0"/>
          </a:p>
        </p:txBody>
      </p:sp>
      <p:sp>
        <p:nvSpPr>
          <p:cNvPr id="42" name="Text 40"/>
          <p:cNvSpPr txBox="1"/>
          <p:nvPr/>
        </p:nvSpPr>
        <p:spPr>
          <a:xfrm>
            <a:off x="4514088" y="5010912"/>
            <a:ext cx="3133344" cy="694944"/>
          </a:xfrm>
          <a:prstGeom prst="rect">
            <a:avLst/>
          </a:prstGeom>
          <a:noFill/>
          <a:ln/>
        </p:spPr>
        <p:txBody>
          <a:bodyPr wrap="square" lIns="0" tIns="0" rIns="0" bIns="0" rtlCol="0" anchor="t"/>
          <a:lstStyle/>
          <a:p>
            <a:pPr indent="0" marL="0">
              <a:buNone/>
            </a:pPr>
            <a:r>
              <a:rPr lang="en-US" sz="1100" dirty="0">
                <a:solidFill>
                  <a:schemeClr val="accent5"/>
                </a:solidFill>
              </a:rPr>
              <a:t>11 screens, 2-tier hierarchy with independent permission flags</a:t>
            </a:r>
            <a:endParaRPr lang="en-US" sz="1100" dirty="0"/>
          </a:p>
        </p:txBody>
      </p:sp>
      <p:sp>
        <p:nvSpPr>
          <p:cNvPr id="43" name="done8"/>
          <p:cNvSpPr/>
          <p:nvPr/>
        </p:nvSpPr>
        <p:spPr>
          <a:xfrm>
            <a:off x="8122920" y="4443984"/>
            <a:ext cx="3535680" cy="1353312"/>
          </a:xfrm>
          <a:prstGeom prst="roundRect">
            <a:avLst>
              <a:gd name="adj" fmla="val 4054"/>
            </a:avLst>
          </a:prstGeom>
          <a:solidFill>
            <a:schemeClr val="bg2"/>
          </a:solidFill>
          <a:ln w="6350">
            <a:solidFill>
              <a:schemeClr val="accent2"/>
            </a:solidFill>
            <a:prstDash val="solid"/>
          </a:ln>
        </p:spPr>
      </p:sp>
      <p:sp>
        <p:nvSpPr>
          <p:cNvPr id="44" name="Shape 42"/>
          <p:cNvSpPr/>
          <p:nvPr/>
        </p:nvSpPr>
        <p:spPr>
          <a:xfrm>
            <a:off x="8324088" y="4645152"/>
            <a:ext cx="274320" cy="274320"/>
          </a:xfrm>
          <a:prstGeom prst="ellipse">
            <a:avLst/>
          </a:prstGeom>
          <a:solidFill>
            <a:schemeClr val="accent1"/>
          </a:solidFill>
          <a:ln/>
        </p:spPr>
      </p:sp>
      <p:sp>
        <p:nvSpPr>
          <p:cNvPr id="45" name="Text 43"/>
          <p:cNvSpPr txBox="1"/>
          <p:nvPr/>
        </p:nvSpPr>
        <p:spPr>
          <a:xfrm>
            <a:off x="8324088" y="46451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46" name="Text 44"/>
          <p:cNvSpPr txBox="1"/>
          <p:nvPr/>
        </p:nvSpPr>
        <p:spPr>
          <a:xfrm>
            <a:off x="8671560" y="4617720"/>
            <a:ext cx="2785872" cy="329184"/>
          </a:xfrm>
          <a:prstGeom prst="rect">
            <a:avLst/>
          </a:prstGeom>
          <a:noFill/>
          <a:ln/>
        </p:spPr>
        <p:txBody>
          <a:bodyPr wrap="square" lIns="0" tIns="0" rIns="0" bIns="0" rtlCol="0" anchor="ctr"/>
          <a:lstStyle/>
          <a:p>
            <a:pPr indent="0" marL="0">
              <a:buNone/>
            </a:pPr>
            <a:r>
              <a:rPr lang="en-US" sz="1300" b="1" dirty="0">
                <a:solidFill>
                  <a:schemeClr val="tx2"/>
                </a:solidFill>
              </a:rPr>
              <a:t>Random Forest trained</a:t>
            </a:r>
            <a:endParaRPr lang="en-US" sz="1300" dirty="0"/>
          </a:p>
        </p:txBody>
      </p:sp>
      <p:sp>
        <p:nvSpPr>
          <p:cNvPr id="47" name="Text 45"/>
          <p:cNvSpPr txBox="1"/>
          <p:nvPr/>
        </p:nvSpPr>
        <p:spPr>
          <a:xfrm>
            <a:off x="8324088" y="5010912"/>
            <a:ext cx="3133344" cy="694944"/>
          </a:xfrm>
          <a:prstGeom prst="rect">
            <a:avLst/>
          </a:prstGeom>
          <a:noFill/>
          <a:ln/>
        </p:spPr>
        <p:txBody>
          <a:bodyPr wrap="square" lIns="0" tIns="0" rIns="0" bIns="0" rtlCol="0" anchor="t"/>
          <a:lstStyle/>
          <a:p>
            <a:pPr indent="0" marL="0">
              <a:buNone/>
            </a:pPr>
            <a:r>
              <a:rPr lang="en-US" sz="1100" dirty="0">
                <a:solidFill>
                  <a:schemeClr val="accent5"/>
                </a:solidFill>
              </a:rPr>
              <a:t>Evaluated on held-out seasons — R² 0.9207, wheat R² 0.7295</a:t>
            </a:r>
            <a:endParaRPr lang="en-US" sz="1100" dirty="0"/>
          </a:p>
        </p:txBody>
      </p:sp>
      <p:sp>
        <p:nvSpPr>
          <p:cNvPr id="49"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10896"/>
            <a:ext cx="11155680" cy="566928"/>
          </a:xfrm>
          <a:prstGeom prst="rect">
            <a:avLst/>
          </a:prstGeom>
          <a:noFill/>
          <a:ln/>
        </p:spPr>
        <p:txBody>
          <a:bodyPr wrap="square" lIns="0" tIns="0" rIns="0" bIns="0" rtlCol="0" anchor="ctr"/>
          <a:lstStyle/>
          <a:p>
            <a:pPr indent="0" marL="0">
              <a:buNone/>
            </a:pPr>
            <a:r>
              <a:rPr lang="en-US" sz="3200" b="1" dirty="0">
                <a:solidFill>
                  <a:schemeClr val="tx2"/>
                </a:solidFill>
              </a:rPr>
              <a:t>Remaining work</a:t>
            </a:r>
            <a:endParaRPr lang="en-US" sz="3200" dirty="0"/>
          </a:p>
        </p:txBody>
      </p:sp>
      <p:sp>
        <p:nvSpPr>
          <p:cNvPr id="3" name="Text 0"/>
          <p:cNvSpPr/>
          <p:nvPr>
            <p:ph idx="101" type="body" hasCustomPrompt="1"/>
          </p:nvPr>
        </p:nvSpPr>
        <p:spPr>
          <a:xfrm>
            <a:off x="502920" y="932688"/>
            <a:ext cx="11155680" cy="310896"/>
          </a:xfrm>
          <a:prstGeom prst="rect">
            <a:avLst/>
          </a:prstGeom>
          <a:noFill/>
          <a:ln/>
        </p:spPr>
        <p:txBody>
          <a:bodyPr wrap="square" lIns="0" tIns="0" rIns="0" bIns="0" rtlCol="0" anchor="t"/>
          <a:lstStyle/>
          <a:p>
            <a:pPr indent="0" marL="0">
              <a:buNone/>
            </a:pPr>
            <a:r>
              <a:rPr lang="en-US" sz="1300" dirty="0">
                <a:solidFill>
                  <a:schemeClr val="accent5"/>
                </a:solidFill>
              </a:rPr>
              <a:t>Ordered by dependency — the model benchmark unblocks the research objectives, the dashboard unblocks the demo story</a:t>
            </a:r>
            <a:endParaRPr lang="en-US" sz="1300" dirty="0"/>
          </a:p>
        </p:txBody>
      </p:sp>
      <p:sp>
        <p:nvSpPr>
          <p:cNvPr id="4" name="rem0"/>
          <p:cNvSpPr/>
          <p:nvPr/>
        </p:nvSpPr>
        <p:spPr>
          <a:xfrm>
            <a:off x="502920" y="1371600"/>
            <a:ext cx="5394960" cy="1261872"/>
          </a:xfrm>
          <a:prstGeom prst="roundRect">
            <a:avLst>
              <a:gd name="adj" fmla="val 4348"/>
            </a:avLst>
          </a:prstGeom>
          <a:solidFill>
            <a:schemeClr val="bg2"/>
          </a:solidFill>
          <a:ln w="6350">
            <a:solidFill>
              <a:schemeClr val="accent2"/>
            </a:solidFill>
            <a:prstDash val="solid"/>
          </a:ln>
        </p:spPr>
      </p:sp>
      <p:sp>
        <p:nvSpPr>
          <p:cNvPr id="5" name="Shape 3"/>
          <p:cNvSpPr/>
          <p:nvPr/>
        </p:nvSpPr>
        <p:spPr>
          <a:xfrm>
            <a:off x="704088" y="1572768"/>
            <a:ext cx="329184" cy="329184"/>
          </a:xfrm>
          <a:prstGeom prst="ellipse">
            <a:avLst/>
          </a:prstGeom>
          <a:solidFill>
            <a:schemeClr val="accent3"/>
          </a:solidFill>
          <a:ln/>
        </p:spPr>
      </p:sp>
      <p:sp>
        <p:nvSpPr>
          <p:cNvPr id="6" name="Text 4"/>
          <p:cNvSpPr txBox="1"/>
          <p:nvPr/>
        </p:nvSpPr>
        <p:spPr>
          <a:xfrm>
            <a:off x="704088" y="1572768"/>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1</a:t>
            </a:r>
            <a:endParaRPr lang="en-US" sz="1200" dirty="0"/>
          </a:p>
        </p:txBody>
      </p:sp>
      <p:sp>
        <p:nvSpPr>
          <p:cNvPr id="7" name="Text 5"/>
          <p:cNvSpPr txBox="1"/>
          <p:nvPr/>
        </p:nvSpPr>
        <p:spPr>
          <a:xfrm>
            <a:off x="1143000" y="1545336"/>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Train the remaining four models</a:t>
            </a:r>
            <a:endParaRPr lang="en-US" sz="1400" dirty="0"/>
          </a:p>
        </p:txBody>
      </p:sp>
      <p:sp>
        <p:nvSpPr>
          <p:cNvPr id="8" name="Text 6"/>
          <p:cNvSpPr txBox="1"/>
          <p:nvPr/>
        </p:nvSpPr>
        <p:spPr>
          <a:xfrm>
            <a:off x="704088" y="1975104"/>
            <a:ext cx="4992624" cy="585216"/>
          </a:xfrm>
          <a:prstGeom prst="rect">
            <a:avLst/>
          </a:prstGeom>
          <a:noFill/>
          <a:ln/>
        </p:spPr>
        <p:txBody>
          <a:bodyPr wrap="square" lIns="0" tIns="0" rIns="0" bIns="0" rtlCol="0" anchor="t"/>
          <a:lstStyle/>
          <a:p>
            <a:pPr indent="0" marL="0">
              <a:buNone/>
            </a:pPr>
            <a:r>
              <a:rPr lang="en-US" sz="1150" dirty="0">
                <a:solidFill>
                  <a:schemeClr val="accent5"/>
                </a:solidFill>
              </a:rPr>
              <a:t>XGBoost, CNN, LSTM and RNN, benchmarked against the R² ≥ 0.85 target on the same held-out seasons</a:t>
            </a:r>
            <a:endParaRPr lang="en-US" sz="1150" dirty="0"/>
          </a:p>
        </p:txBody>
      </p:sp>
      <p:sp>
        <p:nvSpPr>
          <p:cNvPr id="9" name="rem1"/>
          <p:cNvSpPr/>
          <p:nvPr/>
        </p:nvSpPr>
        <p:spPr>
          <a:xfrm>
            <a:off x="6263640" y="1371600"/>
            <a:ext cx="5394960" cy="1261872"/>
          </a:xfrm>
          <a:prstGeom prst="roundRect">
            <a:avLst>
              <a:gd name="adj" fmla="val 4348"/>
            </a:avLst>
          </a:prstGeom>
          <a:solidFill>
            <a:schemeClr val="bg2"/>
          </a:solidFill>
          <a:ln w="6350">
            <a:solidFill>
              <a:schemeClr val="accent2"/>
            </a:solidFill>
            <a:prstDash val="solid"/>
          </a:ln>
        </p:spPr>
      </p:sp>
      <p:sp>
        <p:nvSpPr>
          <p:cNvPr id="10" name="Shape 8"/>
          <p:cNvSpPr/>
          <p:nvPr/>
        </p:nvSpPr>
        <p:spPr>
          <a:xfrm>
            <a:off x="6464808" y="1572768"/>
            <a:ext cx="329184" cy="329184"/>
          </a:xfrm>
          <a:prstGeom prst="ellipse">
            <a:avLst/>
          </a:prstGeom>
          <a:solidFill>
            <a:schemeClr val="accent3"/>
          </a:solidFill>
          <a:ln/>
        </p:spPr>
      </p:sp>
      <p:sp>
        <p:nvSpPr>
          <p:cNvPr id="11" name="Text 9"/>
          <p:cNvSpPr txBox="1"/>
          <p:nvPr/>
        </p:nvSpPr>
        <p:spPr>
          <a:xfrm>
            <a:off x="6464808" y="1572768"/>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2</a:t>
            </a:r>
            <a:endParaRPr lang="en-US" sz="1200" dirty="0"/>
          </a:p>
        </p:txBody>
      </p:sp>
      <p:sp>
        <p:nvSpPr>
          <p:cNvPr id="12" name="Text 10"/>
          <p:cNvSpPr txBox="1"/>
          <p:nvPr/>
        </p:nvSpPr>
        <p:spPr>
          <a:xfrm>
            <a:off x="6903720" y="1545336"/>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Finish the Farmer Dashboard</a:t>
            </a:r>
            <a:endParaRPr lang="en-US" sz="1400" dirty="0"/>
          </a:p>
        </p:txBody>
      </p:sp>
      <p:sp>
        <p:nvSpPr>
          <p:cNvPr id="13" name="Text 11"/>
          <p:cNvSpPr txBox="1"/>
          <p:nvPr/>
        </p:nvSpPr>
        <p:spPr>
          <a:xfrm>
            <a:off x="6464808" y="1975104"/>
            <a:ext cx="4992624" cy="585216"/>
          </a:xfrm>
          <a:prstGeom prst="rect">
            <a:avLst/>
          </a:prstGeom>
          <a:noFill/>
          <a:ln/>
        </p:spPr>
        <p:txBody>
          <a:bodyPr wrap="square" lIns="0" tIns="0" rIns="0" bIns="0" rtlCol="0" anchor="t"/>
          <a:lstStyle/>
          <a:p>
            <a:pPr indent="0" marL="0">
              <a:buNone/>
            </a:pPr>
            <a:r>
              <a:rPr lang="en-US" sz="1150" dirty="0">
                <a:solidFill>
                  <a:schemeClr val="accent5"/>
                </a:solidFill>
              </a:rPr>
              <a:t>Heatmap overlay, growth tracker, forecast card and PDF advisory reports</a:t>
            </a:r>
            <a:endParaRPr lang="en-US" sz="1150" dirty="0"/>
          </a:p>
        </p:txBody>
      </p:sp>
      <p:sp>
        <p:nvSpPr>
          <p:cNvPr id="14" name="rem2"/>
          <p:cNvSpPr/>
          <p:nvPr/>
        </p:nvSpPr>
        <p:spPr>
          <a:xfrm>
            <a:off x="502920" y="2816352"/>
            <a:ext cx="5394960" cy="1261872"/>
          </a:xfrm>
          <a:prstGeom prst="roundRect">
            <a:avLst>
              <a:gd name="adj" fmla="val 4348"/>
            </a:avLst>
          </a:prstGeom>
          <a:solidFill>
            <a:schemeClr val="bg2"/>
          </a:solidFill>
          <a:ln w="6350">
            <a:solidFill>
              <a:schemeClr val="accent2"/>
            </a:solidFill>
            <a:prstDash val="solid"/>
          </a:ln>
        </p:spPr>
      </p:sp>
      <p:sp>
        <p:nvSpPr>
          <p:cNvPr id="15" name="Shape 13"/>
          <p:cNvSpPr/>
          <p:nvPr/>
        </p:nvSpPr>
        <p:spPr>
          <a:xfrm>
            <a:off x="704088" y="3017520"/>
            <a:ext cx="329184" cy="329184"/>
          </a:xfrm>
          <a:prstGeom prst="ellipse">
            <a:avLst/>
          </a:prstGeom>
          <a:solidFill>
            <a:schemeClr val="accent3"/>
          </a:solidFill>
          <a:ln/>
        </p:spPr>
      </p:sp>
      <p:sp>
        <p:nvSpPr>
          <p:cNvPr id="16" name="Text 14"/>
          <p:cNvSpPr txBox="1"/>
          <p:nvPr/>
        </p:nvSpPr>
        <p:spPr>
          <a:xfrm>
            <a:off x="704088" y="3017520"/>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3</a:t>
            </a:r>
            <a:endParaRPr lang="en-US" sz="1200" dirty="0"/>
          </a:p>
        </p:txBody>
      </p:sp>
      <p:sp>
        <p:nvSpPr>
          <p:cNvPr id="17" name="Text 15"/>
          <p:cNvSpPr txBox="1"/>
          <p:nvPr/>
        </p:nvSpPr>
        <p:spPr>
          <a:xfrm>
            <a:off x="1143000" y="2990088"/>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Alert and notification delivery</a:t>
            </a:r>
            <a:endParaRPr lang="en-US" sz="1400" dirty="0"/>
          </a:p>
        </p:txBody>
      </p:sp>
      <p:sp>
        <p:nvSpPr>
          <p:cNvPr id="18" name="Text 16"/>
          <p:cNvSpPr txBox="1"/>
          <p:nvPr/>
        </p:nvSpPr>
        <p:spPr>
          <a:xfrm>
            <a:off x="704088" y="3419856"/>
            <a:ext cx="4992624" cy="585216"/>
          </a:xfrm>
          <a:prstGeom prst="rect">
            <a:avLst/>
          </a:prstGeom>
          <a:noFill/>
          <a:ln/>
        </p:spPr>
        <p:txBody>
          <a:bodyPr wrap="square" lIns="0" tIns="0" rIns="0" bIns="0" rtlCol="0" anchor="t"/>
          <a:lstStyle/>
          <a:p>
            <a:pPr indent="0" marL="0">
              <a:buNone/>
            </a:pPr>
            <a:r>
              <a:rPr lang="en-US" sz="1150" dirty="0">
                <a:solidFill>
                  <a:schemeClr val="accent5"/>
                </a:solidFill>
              </a:rPr>
              <a:t>SMS, email and push delivery wired end to end</a:t>
            </a:r>
            <a:endParaRPr lang="en-US" sz="1150" dirty="0"/>
          </a:p>
        </p:txBody>
      </p:sp>
      <p:sp>
        <p:nvSpPr>
          <p:cNvPr id="19" name="rem3"/>
          <p:cNvSpPr/>
          <p:nvPr/>
        </p:nvSpPr>
        <p:spPr>
          <a:xfrm>
            <a:off x="6263640" y="2816352"/>
            <a:ext cx="5394960" cy="1261872"/>
          </a:xfrm>
          <a:prstGeom prst="roundRect">
            <a:avLst>
              <a:gd name="adj" fmla="val 4348"/>
            </a:avLst>
          </a:prstGeom>
          <a:solidFill>
            <a:schemeClr val="bg2"/>
          </a:solidFill>
          <a:ln w="6350">
            <a:solidFill>
              <a:schemeClr val="accent2"/>
            </a:solidFill>
            <a:prstDash val="solid"/>
          </a:ln>
        </p:spPr>
      </p:sp>
      <p:sp>
        <p:nvSpPr>
          <p:cNvPr id="20" name="Shape 18"/>
          <p:cNvSpPr/>
          <p:nvPr/>
        </p:nvSpPr>
        <p:spPr>
          <a:xfrm>
            <a:off x="6464808" y="3017520"/>
            <a:ext cx="329184" cy="329184"/>
          </a:xfrm>
          <a:prstGeom prst="ellipse">
            <a:avLst/>
          </a:prstGeom>
          <a:solidFill>
            <a:schemeClr val="accent3"/>
          </a:solidFill>
          <a:ln/>
        </p:spPr>
      </p:sp>
      <p:sp>
        <p:nvSpPr>
          <p:cNvPr id="21" name="Text 19"/>
          <p:cNvSpPr txBox="1"/>
          <p:nvPr/>
        </p:nvSpPr>
        <p:spPr>
          <a:xfrm>
            <a:off x="6464808" y="3017520"/>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4</a:t>
            </a:r>
            <a:endParaRPr lang="en-US" sz="1200" dirty="0"/>
          </a:p>
        </p:txBody>
      </p:sp>
      <p:sp>
        <p:nvSpPr>
          <p:cNvPr id="22" name="Text 20"/>
          <p:cNvSpPr txBox="1"/>
          <p:nvPr/>
        </p:nvSpPr>
        <p:spPr>
          <a:xfrm>
            <a:off x="6903720" y="2990088"/>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Ecosystem monitoring module</a:t>
            </a:r>
            <a:endParaRPr lang="en-US" sz="1400" dirty="0"/>
          </a:p>
        </p:txBody>
      </p:sp>
      <p:sp>
        <p:nvSpPr>
          <p:cNvPr id="23" name="Text 21"/>
          <p:cNvSpPr txBox="1"/>
          <p:nvPr/>
        </p:nvSpPr>
        <p:spPr>
          <a:xfrm>
            <a:off x="6464808" y="3419856"/>
            <a:ext cx="4992624" cy="585216"/>
          </a:xfrm>
          <a:prstGeom prst="rect">
            <a:avLst/>
          </a:prstGeom>
          <a:noFill/>
          <a:ln/>
        </p:spPr>
        <p:txBody>
          <a:bodyPr wrap="square" lIns="0" tIns="0" rIns="0" bIns="0" rtlCol="0" anchor="t"/>
          <a:lstStyle/>
          <a:p>
            <a:pPr indent="0" marL="0">
              <a:buNone/>
            </a:pPr>
            <a:r>
              <a:rPr lang="en-US" sz="1150" dirty="0">
                <a:solidFill>
                  <a:schemeClr val="accent5"/>
                </a:solidFill>
              </a:rPr>
              <a:t>Soil salinity and land-degradation visualisations on the dashboard</a:t>
            </a:r>
            <a:endParaRPr lang="en-US" sz="1150" dirty="0"/>
          </a:p>
        </p:txBody>
      </p:sp>
      <p:sp>
        <p:nvSpPr>
          <p:cNvPr id="24" name="rem4"/>
          <p:cNvSpPr/>
          <p:nvPr/>
        </p:nvSpPr>
        <p:spPr>
          <a:xfrm>
            <a:off x="502920" y="4261104"/>
            <a:ext cx="5394960" cy="1261872"/>
          </a:xfrm>
          <a:prstGeom prst="roundRect">
            <a:avLst>
              <a:gd name="adj" fmla="val 4348"/>
            </a:avLst>
          </a:prstGeom>
          <a:solidFill>
            <a:schemeClr val="bg2"/>
          </a:solidFill>
          <a:ln w="6350">
            <a:solidFill>
              <a:schemeClr val="accent2"/>
            </a:solidFill>
            <a:prstDash val="solid"/>
          </a:ln>
        </p:spPr>
      </p:sp>
      <p:sp>
        <p:nvSpPr>
          <p:cNvPr id="25" name="Shape 23"/>
          <p:cNvSpPr/>
          <p:nvPr/>
        </p:nvSpPr>
        <p:spPr>
          <a:xfrm>
            <a:off x="704088" y="4462272"/>
            <a:ext cx="329184" cy="329184"/>
          </a:xfrm>
          <a:prstGeom prst="ellipse">
            <a:avLst/>
          </a:prstGeom>
          <a:solidFill>
            <a:schemeClr val="accent3"/>
          </a:solidFill>
          <a:ln/>
        </p:spPr>
      </p:sp>
      <p:sp>
        <p:nvSpPr>
          <p:cNvPr id="26" name="Text 24"/>
          <p:cNvSpPr txBox="1"/>
          <p:nvPr/>
        </p:nvSpPr>
        <p:spPr>
          <a:xfrm>
            <a:off x="704088" y="4462272"/>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5</a:t>
            </a:r>
            <a:endParaRPr lang="en-US" sz="1200" dirty="0"/>
          </a:p>
        </p:txBody>
      </p:sp>
      <p:sp>
        <p:nvSpPr>
          <p:cNvPr id="27" name="Text 25"/>
          <p:cNvSpPr txBox="1"/>
          <p:nvPr/>
        </p:nvSpPr>
        <p:spPr>
          <a:xfrm>
            <a:off x="1143000" y="4434840"/>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Integration testing and deployment</a:t>
            </a:r>
            <a:endParaRPr lang="en-US" sz="1400" dirty="0"/>
          </a:p>
        </p:txBody>
      </p:sp>
      <p:sp>
        <p:nvSpPr>
          <p:cNvPr id="28" name="Text 26"/>
          <p:cNvSpPr txBox="1"/>
          <p:nvPr/>
        </p:nvSpPr>
        <p:spPr>
          <a:xfrm>
            <a:off x="704088" y="4864608"/>
            <a:ext cx="4992624" cy="585216"/>
          </a:xfrm>
          <a:prstGeom prst="rect">
            <a:avLst/>
          </a:prstGeom>
          <a:noFill/>
          <a:ln/>
        </p:spPr>
        <p:txBody>
          <a:bodyPr wrap="square" lIns="0" tIns="0" rIns="0" bIns="0" rtlCol="0" anchor="t"/>
          <a:lstStyle/>
          <a:p>
            <a:pPr indent="0" marL="0">
              <a:buNone/>
            </a:pPr>
            <a:r>
              <a:rPr lang="en-US" sz="1150" dirty="0">
                <a:solidFill>
                  <a:schemeClr val="accent5"/>
                </a:solidFill>
              </a:rPr>
              <a:t>Cross-portal integration testing, then final cloud deployment</a:t>
            </a:r>
            <a:endParaRPr lang="en-US" sz="1150" dirty="0"/>
          </a:p>
        </p:txBody>
      </p:sp>
      <p:sp>
        <p:nvSpPr>
          <p:cNvPr id="29" name="rem5"/>
          <p:cNvSpPr/>
          <p:nvPr/>
        </p:nvSpPr>
        <p:spPr>
          <a:xfrm>
            <a:off x="6263640" y="4261104"/>
            <a:ext cx="5394960" cy="1261872"/>
          </a:xfrm>
          <a:prstGeom prst="roundRect">
            <a:avLst>
              <a:gd name="adj" fmla="val 4348"/>
            </a:avLst>
          </a:prstGeom>
          <a:solidFill>
            <a:schemeClr val="bg2"/>
          </a:solidFill>
          <a:ln w="6350">
            <a:solidFill>
              <a:schemeClr val="accent2"/>
            </a:solidFill>
            <a:prstDash val="solid"/>
          </a:ln>
        </p:spPr>
      </p:sp>
      <p:sp>
        <p:nvSpPr>
          <p:cNvPr id="30" name="Shape 28"/>
          <p:cNvSpPr/>
          <p:nvPr/>
        </p:nvSpPr>
        <p:spPr>
          <a:xfrm>
            <a:off x="6464808" y="4462272"/>
            <a:ext cx="329184" cy="329184"/>
          </a:xfrm>
          <a:prstGeom prst="ellipse">
            <a:avLst/>
          </a:prstGeom>
          <a:solidFill>
            <a:schemeClr val="accent3"/>
          </a:solidFill>
          <a:ln/>
        </p:spPr>
      </p:sp>
      <p:sp>
        <p:nvSpPr>
          <p:cNvPr id="31" name="Text 29"/>
          <p:cNvSpPr txBox="1"/>
          <p:nvPr/>
        </p:nvSpPr>
        <p:spPr>
          <a:xfrm>
            <a:off x="6464808" y="4462272"/>
            <a:ext cx="329184" cy="329184"/>
          </a:xfrm>
          <a:prstGeom prst="rect">
            <a:avLst/>
          </a:prstGeom>
          <a:noFill/>
          <a:ln/>
        </p:spPr>
        <p:txBody>
          <a:bodyPr wrap="square" lIns="0" tIns="0" rIns="0" bIns="0" rtlCol="0" anchor="ctr"/>
          <a:lstStyle/>
          <a:p>
            <a:pPr algn="ctr" indent="0" marL="0">
              <a:buNone/>
            </a:pPr>
            <a:r>
              <a:rPr lang="en-US" sz="1200" b="1" dirty="0">
                <a:solidFill>
                  <a:srgbClr val="14281A"/>
                </a:solidFill>
              </a:rPr>
              <a:t>6</a:t>
            </a:r>
            <a:endParaRPr lang="en-US" sz="1200" dirty="0"/>
          </a:p>
        </p:txBody>
      </p:sp>
      <p:sp>
        <p:nvSpPr>
          <p:cNvPr id="32" name="Text 30"/>
          <p:cNvSpPr txBox="1"/>
          <p:nvPr/>
        </p:nvSpPr>
        <p:spPr>
          <a:xfrm>
            <a:off x="6903720" y="4434840"/>
            <a:ext cx="4553712" cy="365760"/>
          </a:xfrm>
          <a:prstGeom prst="rect">
            <a:avLst/>
          </a:prstGeom>
          <a:noFill/>
          <a:ln/>
        </p:spPr>
        <p:txBody>
          <a:bodyPr wrap="square" lIns="0" tIns="0" rIns="0" bIns="0" rtlCol="0" anchor="ctr"/>
          <a:lstStyle/>
          <a:p>
            <a:pPr indent="0" marL="0">
              <a:buNone/>
            </a:pPr>
            <a:r>
              <a:rPr lang="en-US" sz="1400" b="1" dirty="0">
                <a:solidFill>
                  <a:schemeClr val="tx2"/>
                </a:solidFill>
              </a:rPr>
              <a:t>Final documentation and report</a:t>
            </a:r>
            <a:endParaRPr lang="en-US" sz="1400" dirty="0"/>
          </a:p>
        </p:txBody>
      </p:sp>
      <p:sp>
        <p:nvSpPr>
          <p:cNvPr id="33" name="Text 31"/>
          <p:cNvSpPr txBox="1"/>
          <p:nvPr/>
        </p:nvSpPr>
        <p:spPr>
          <a:xfrm>
            <a:off x="6464808" y="4864608"/>
            <a:ext cx="4992624" cy="585216"/>
          </a:xfrm>
          <a:prstGeom prst="rect">
            <a:avLst/>
          </a:prstGeom>
          <a:noFill/>
          <a:ln/>
        </p:spPr>
        <p:txBody>
          <a:bodyPr wrap="square" lIns="0" tIns="0" rIns="0" bIns="0" rtlCol="0" anchor="t"/>
          <a:lstStyle/>
          <a:p>
            <a:pPr indent="0" marL="0">
              <a:buNone/>
            </a:pPr>
            <a:r>
              <a:rPr lang="en-US" sz="1150" dirty="0">
                <a:solidFill>
                  <a:schemeClr val="accent5"/>
                </a:solidFill>
              </a:rPr>
              <a:t>Project report, user documentation and defence materials</a:t>
            </a:r>
            <a:endParaRPr lang="en-US" sz="1150" dirty="0"/>
          </a:p>
        </p:txBody>
      </p:sp>
      <p:sp>
        <p:nvSpPr>
          <p:cNvPr id="25" name="Slide Number Placeholder 0"/>
          <p:cNvSpPr>
            <a:spLocks noGrp="1"/>
          </p:cNvSpPr>
          <p:nvPr>
            <p:ph type="sldNum" sz="quarter" idx="4294967295"/>
          </p:nvPr>
        </p:nvSpPr>
        <p:spPr>
          <a:xfrm>
            <a:off x="1143000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468880"/>
            <a:ext cx="11155680" cy="1097280"/>
          </a:xfrm>
          <a:prstGeom prst="rect">
            <a:avLst/>
          </a:prstGeom>
          <a:noFill/>
          <a:ln/>
        </p:spPr>
        <p:txBody>
          <a:bodyPr wrap="square" rtlCol="0" anchor="ctr"/>
          <a:lstStyle/>
          <a:p>
            <a:pPr indent="0" marL="0">
              <a:buNone/>
            </a:pPr>
            <a:r>
              <a:rPr lang="en-US" sz="4400" b="1" dirty="0">
                <a:solidFill>
                  <a:schemeClr val="bg1"/>
                </a:solidFill>
              </a:rPr>
              <a:t>Live Demonstration</a:t>
            </a:r>
            <a:endParaRPr lang="en-US" sz="4400" dirty="0"/>
          </a:p>
        </p:txBody>
      </p:sp>
      <p:sp>
        <p:nvSpPr>
          <p:cNvPr id="3" name="Text 0"/>
          <p:cNvSpPr/>
          <p:nvPr>
            <p:ph idx="101" type="body" hasCustomPrompt="1"/>
          </p:nvPr>
        </p:nvSpPr>
        <p:spPr>
          <a:xfrm>
            <a:off x="502920" y="3657600"/>
            <a:ext cx="11155680" cy="1463040"/>
          </a:xfrm>
          <a:prstGeom prst="rect">
            <a:avLst/>
          </a:prstGeom>
          <a:noFill/>
          <a:ln/>
        </p:spPr>
        <p:txBody>
          <a:bodyPr wrap="square" rtlCol="0" anchor="t"/>
          <a:lstStyle/>
          <a:p>
            <a:pPr indent="0" marL="0">
              <a:buNone/>
            </a:pPr>
            <a:r>
              <a:rPr lang="en-US" sz="1600" dirty="0">
                <a:solidFill>
                  <a:schemeClr val="accent2"/>
                </a:solidFill>
              </a:rPr>
              <a:t>What follows is running against the real database and real satellite data — not a mock-up</a:t>
            </a:r>
            <a:endParaRPr lang="en-US" sz="1600" dirty="0"/>
          </a:p>
        </p:txBody>
      </p:sp>
      <p:sp>
        <p:nvSpPr>
          <p:cNvPr id="4" name="Shape 2"/>
          <p:cNvSpPr/>
          <p:nvPr/>
        </p:nvSpPr>
        <p:spPr>
          <a:xfrm>
            <a:off x="5029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5" name="Shape 3"/>
          <p:cNvSpPr/>
          <p:nvPr/>
        </p:nvSpPr>
        <p:spPr>
          <a:xfrm>
            <a:off x="722376" y="4864608"/>
            <a:ext cx="274320" cy="274320"/>
          </a:xfrm>
          <a:prstGeom prst="ellipse">
            <a:avLst/>
          </a:prstGeom>
          <a:solidFill>
            <a:srgbClr val="D9A441"/>
          </a:solidFill>
          <a:ln/>
        </p:spPr>
      </p:sp>
      <p:sp>
        <p:nvSpPr>
          <p:cNvPr id="6" name="Text 4"/>
          <p:cNvSpPr txBox="1"/>
          <p:nvPr/>
        </p:nvSpPr>
        <p:spPr>
          <a:xfrm>
            <a:off x="7223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1</a:t>
            </a:r>
            <a:endParaRPr lang="en-US" sz="1200" dirty="0"/>
          </a:p>
        </p:txBody>
      </p:sp>
      <p:sp>
        <p:nvSpPr>
          <p:cNvPr id="7" name="Text 5"/>
          <p:cNvSpPr txBox="1"/>
          <p:nvPr/>
        </p:nvSpPr>
        <p:spPr>
          <a:xfrm>
            <a:off x="10698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Government Portal</a:t>
            </a:r>
            <a:endParaRPr lang="en-US" sz="1250" dirty="0"/>
          </a:p>
        </p:txBody>
      </p:sp>
      <p:sp>
        <p:nvSpPr>
          <p:cNvPr id="8" name="Shape 6"/>
          <p:cNvSpPr/>
          <p:nvPr/>
        </p:nvSpPr>
        <p:spPr>
          <a:xfrm>
            <a:off x="33604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9" name="Shape 7"/>
          <p:cNvSpPr/>
          <p:nvPr/>
        </p:nvSpPr>
        <p:spPr>
          <a:xfrm>
            <a:off x="3579876" y="4864608"/>
            <a:ext cx="274320" cy="274320"/>
          </a:xfrm>
          <a:prstGeom prst="ellipse">
            <a:avLst/>
          </a:prstGeom>
          <a:solidFill>
            <a:srgbClr val="D9A441"/>
          </a:solidFill>
          <a:ln/>
        </p:spPr>
      </p:sp>
      <p:sp>
        <p:nvSpPr>
          <p:cNvPr id="10" name="Text 8"/>
          <p:cNvSpPr txBox="1"/>
          <p:nvPr/>
        </p:nvSpPr>
        <p:spPr>
          <a:xfrm>
            <a:off x="35798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2</a:t>
            </a:r>
            <a:endParaRPr lang="en-US" sz="1200" dirty="0"/>
          </a:p>
        </p:txBody>
      </p:sp>
      <p:sp>
        <p:nvSpPr>
          <p:cNvPr id="11" name="Text 9"/>
          <p:cNvSpPr txBox="1"/>
          <p:nvPr/>
        </p:nvSpPr>
        <p:spPr>
          <a:xfrm>
            <a:off x="39273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Researcher Portal</a:t>
            </a:r>
            <a:endParaRPr lang="en-US" sz="1250" dirty="0"/>
          </a:p>
        </p:txBody>
      </p:sp>
      <p:sp>
        <p:nvSpPr>
          <p:cNvPr id="12" name="Shape 10"/>
          <p:cNvSpPr/>
          <p:nvPr/>
        </p:nvSpPr>
        <p:spPr>
          <a:xfrm>
            <a:off x="62179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13" name="Shape 11"/>
          <p:cNvSpPr/>
          <p:nvPr/>
        </p:nvSpPr>
        <p:spPr>
          <a:xfrm>
            <a:off x="6437376" y="4864608"/>
            <a:ext cx="274320" cy="274320"/>
          </a:xfrm>
          <a:prstGeom prst="ellipse">
            <a:avLst/>
          </a:prstGeom>
          <a:solidFill>
            <a:srgbClr val="D9A441"/>
          </a:solidFill>
          <a:ln/>
        </p:spPr>
      </p:sp>
      <p:sp>
        <p:nvSpPr>
          <p:cNvPr id="14" name="Text 12"/>
          <p:cNvSpPr txBox="1"/>
          <p:nvPr/>
        </p:nvSpPr>
        <p:spPr>
          <a:xfrm>
            <a:off x="64373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3</a:t>
            </a:r>
            <a:endParaRPr lang="en-US" sz="1200" dirty="0"/>
          </a:p>
        </p:txBody>
      </p:sp>
      <p:sp>
        <p:nvSpPr>
          <p:cNvPr id="15" name="Text 13"/>
          <p:cNvSpPr txBox="1"/>
          <p:nvPr/>
        </p:nvSpPr>
        <p:spPr>
          <a:xfrm>
            <a:off x="67848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Satellite Monitoring</a:t>
            </a:r>
            <a:endParaRPr lang="en-US" sz="1250" dirty="0"/>
          </a:p>
        </p:txBody>
      </p:sp>
      <p:sp>
        <p:nvSpPr>
          <p:cNvPr id="16" name="Shape 14"/>
          <p:cNvSpPr/>
          <p:nvPr/>
        </p:nvSpPr>
        <p:spPr>
          <a:xfrm>
            <a:off x="9075420" y="4663440"/>
            <a:ext cx="2583180" cy="841248"/>
          </a:xfrm>
          <a:prstGeom prst="roundRect">
            <a:avLst>
              <a:gd name="adj" fmla="val 8696"/>
            </a:avLst>
          </a:prstGeom>
          <a:solidFill>
            <a:srgbClr val="FFFFFF">
              <a:alpha val="12000"/>
            </a:srgbClr>
          </a:solidFill>
          <a:ln w="9525">
            <a:solidFill>
              <a:srgbClr val="97BC62"/>
            </a:solidFill>
            <a:prstDash val="solid"/>
          </a:ln>
        </p:spPr>
      </p:sp>
      <p:sp>
        <p:nvSpPr>
          <p:cNvPr id="17" name="Shape 15"/>
          <p:cNvSpPr/>
          <p:nvPr/>
        </p:nvSpPr>
        <p:spPr>
          <a:xfrm>
            <a:off x="9294876" y="4864608"/>
            <a:ext cx="274320" cy="274320"/>
          </a:xfrm>
          <a:prstGeom prst="ellipse">
            <a:avLst/>
          </a:prstGeom>
          <a:solidFill>
            <a:srgbClr val="D9A441"/>
          </a:solidFill>
          <a:ln/>
        </p:spPr>
      </p:sp>
      <p:sp>
        <p:nvSpPr>
          <p:cNvPr id="18" name="Text 16"/>
          <p:cNvSpPr txBox="1"/>
          <p:nvPr/>
        </p:nvSpPr>
        <p:spPr>
          <a:xfrm>
            <a:off x="9294876" y="4864608"/>
            <a:ext cx="274320" cy="274320"/>
          </a:xfrm>
          <a:prstGeom prst="rect">
            <a:avLst/>
          </a:prstGeom>
          <a:noFill/>
          <a:ln/>
        </p:spPr>
        <p:txBody>
          <a:bodyPr wrap="square" lIns="0" tIns="0" rIns="0" bIns="0" rtlCol="0" anchor="ctr"/>
          <a:lstStyle/>
          <a:p>
            <a:pPr algn="ctr" indent="0" marL="0">
              <a:buNone/>
            </a:pPr>
            <a:r>
              <a:rPr lang="en-US" sz="1200" b="1" dirty="0">
                <a:solidFill>
                  <a:srgbClr val="14281A"/>
                </a:solidFill>
              </a:rPr>
              <a:t>4</a:t>
            </a:r>
            <a:endParaRPr lang="en-US" sz="1200" dirty="0"/>
          </a:p>
        </p:txBody>
      </p:sp>
      <p:sp>
        <p:nvSpPr>
          <p:cNvPr id="19" name="Text 17"/>
          <p:cNvSpPr txBox="1"/>
          <p:nvPr/>
        </p:nvSpPr>
        <p:spPr>
          <a:xfrm>
            <a:off x="9642348" y="4663440"/>
            <a:ext cx="1815084" cy="841248"/>
          </a:xfrm>
          <a:prstGeom prst="rect">
            <a:avLst/>
          </a:prstGeom>
          <a:noFill/>
          <a:ln/>
        </p:spPr>
        <p:txBody>
          <a:bodyPr wrap="square" lIns="0" tIns="0" rIns="0" bIns="0" rtlCol="0" anchor="ctr"/>
          <a:lstStyle/>
          <a:p>
            <a:pPr indent="0" marL="0">
              <a:buNone/>
            </a:pPr>
            <a:r>
              <a:rPr lang="en-US" sz="1250" b="1" dirty="0">
                <a:solidFill>
                  <a:srgbClr val="FFFFFF"/>
                </a:solidFill>
              </a:rPr>
              <a:t>Random Forest Prediction Results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1828800"/>
            <a:ext cx="11155680" cy="1371600"/>
          </a:xfrm>
          <a:prstGeom prst="rect">
            <a:avLst/>
          </a:prstGeom>
          <a:noFill/>
          <a:ln/>
        </p:spPr>
        <p:txBody>
          <a:bodyPr wrap="square" rtlCol="0" anchor="b"/>
          <a:lstStyle/>
          <a:p>
            <a:pPr indent="0" marL="0">
              <a:buNone/>
            </a:pPr>
            <a:r>
              <a:rPr lang="en-US" sz="4000" b="1" dirty="0">
                <a:solidFill>
                  <a:schemeClr val="bg1"/>
                </a:solidFill>
              </a:rPr>
              <a:t>Thank You</a:t>
            </a:r>
            <a:endParaRPr lang="en-US" sz="4000" dirty="0"/>
          </a:p>
        </p:txBody>
      </p:sp>
      <p:sp>
        <p:nvSpPr>
          <p:cNvPr id="3" name="Text 1"/>
          <p:cNvSpPr txBox="1"/>
          <p:nvPr/>
        </p:nvSpPr>
        <p:spPr>
          <a:xfrm>
            <a:off x="502920" y="3246120"/>
            <a:ext cx="11155680" cy="365760"/>
          </a:xfrm>
          <a:prstGeom prst="rect">
            <a:avLst/>
          </a:prstGeom>
          <a:noFill/>
          <a:ln/>
        </p:spPr>
        <p:txBody>
          <a:bodyPr wrap="square" lIns="0" tIns="0" rIns="0" bIns="0" rtlCol="0" anchor="ctr"/>
          <a:lstStyle/>
          <a:p>
            <a:pPr indent="0" marL="0">
              <a:buNone/>
            </a:pPr>
            <a:r>
              <a:rPr lang="en-US" sz="1700" dirty="0">
                <a:solidFill>
                  <a:schemeClr val="accent2"/>
                </a:solidFill>
              </a:rPr>
              <a:t>Questions and discussion</a:t>
            </a:r>
            <a:endParaRPr lang="en-US" sz="1700" dirty="0"/>
          </a:p>
        </p:txBody>
      </p:sp>
      <p:sp>
        <p:nvSpPr>
          <p:cNvPr id="4" name="Text 2"/>
          <p:cNvSpPr txBox="1"/>
          <p:nvPr/>
        </p:nvSpPr>
        <p:spPr>
          <a:xfrm>
            <a:off x="502920" y="4023360"/>
            <a:ext cx="5349240" cy="256032"/>
          </a:xfrm>
          <a:prstGeom prst="rect">
            <a:avLst/>
          </a:prstGeom>
          <a:noFill/>
          <a:ln/>
        </p:spPr>
        <p:txBody>
          <a:bodyPr wrap="square" lIns="0" tIns="0" rIns="0" bIns="0" rtlCol="0" anchor="ctr"/>
          <a:lstStyle/>
          <a:p>
            <a:pPr indent="0" marL="0">
              <a:buNone/>
            </a:pPr>
            <a:r>
              <a:rPr lang="en-US" sz="1050" b="1" spc="150" kern="0" dirty="0">
                <a:solidFill>
                  <a:schemeClr val="accent2"/>
                </a:solidFill>
              </a:rPr>
              <a:t>PROJECT TEAM</a:t>
            </a:r>
            <a:endParaRPr lang="en-US" sz="1050" dirty="0"/>
          </a:p>
        </p:txBody>
      </p:sp>
      <p:sp>
        <p:nvSpPr>
          <p:cNvPr id="5" name="Text 3"/>
          <p:cNvSpPr txBox="1"/>
          <p:nvPr/>
        </p:nvSpPr>
        <p:spPr>
          <a:xfrm>
            <a:off x="502920" y="4315968"/>
            <a:ext cx="5349240" cy="1737360"/>
          </a:xfrm>
          <a:prstGeom prst="rect">
            <a:avLst/>
          </a:prstGeom>
          <a:noFill/>
          <a:ln/>
        </p:spPr>
        <p:txBody>
          <a:bodyPr wrap="square" lIns="0" tIns="0" rIns="0" bIns="0" rtlCol="0" anchor="ctr"/>
          <a:lstStyle/>
          <a:p>
            <a:pPr indent="0" marL="0">
              <a:buNone/>
            </a:pPr>
            <a:r>
              <a:rPr lang="en-US" sz="1400" dirty="0">
                <a:solidFill>
                  <a:srgbClr val="FFFFFF"/>
                </a:solidFill>
              </a:rPr>
              <a:t>Muzammil Ahmed Chandio</a:t>
            </a:r>
            <a:endParaRPr lang="en-US" sz="1400" dirty="0"/>
          </a:p>
          <a:p>
            <a:pPr indent="0" marL="0">
              <a:spcAft>
                <a:spcPts val="600"/>
              </a:spcAft>
              <a:buNone/>
            </a:pPr>
            <a:r>
              <a:rPr lang="en-US" sz="1100" dirty="0">
                <a:solidFill>
                  <a:schemeClr val="accent2"/>
                </a:solidFill>
              </a:rPr>
              <a:t>233164</a:t>
            </a:r>
            <a:endParaRPr lang="en-US" sz="1400" dirty="0"/>
          </a:p>
          <a:p>
            <a:pPr indent="0" marL="0">
              <a:buNone/>
            </a:pPr>
            <a:r>
              <a:rPr lang="en-US" sz="1400" dirty="0">
                <a:solidFill>
                  <a:srgbClr val="FFFFFF"/>
                </a:solidFill>
              </a:rPr>
              <a:t>Nisha Nasir</a:t>
            </a:r>
            <a:endParaRPr lang="en-US" sz="1400" dirty="0"/>
          </a:p>
          <a:p>
            <a:pPr indent="0" marL="0">
              <a:spcAft>
                <a:spcPts val="600"/>
              </a:spcAft>
              <a:buNone/>
            </a:pPr>
            <a:r>
              <a:rPr lang="en-US" sz="1100" dirty="0">
                <a:solidFill>
                  <a:schemeClr val="accent2"/>
                </a:solidFill>
              </a:rPr>
              <a:t>233166</a:t>
            </a:r>
            <a:endParaRPr lang="en-US" sz="1400" dirty="0"/>
          </a:p>
          <a:p>
            <a:pPr indent="0" marL="0">
              <a:buNone/>
            </a:pPr>
            <a:r>
              <a:rPr lang="en-US" sz="1400" dirty="0">
                <a:solidFill>
                  <a:srgbClr val="FFFFFF"/>
                </a:solidFill>
              </a:rPr>
              <a:t>Muhammad</a:t>
            </a:r>
            <a:endParaRPr lang="en-US" sz="1400" dirty="0"/>
          </a:p>
          <a:p>
            <a:pPr indent="0" marL="0">
              <a:buNone/>
            </a:pPr>
            <a:r>
              <a:rPr lang="en-US" sz="1100" dirty="0">
                <a:solidFill>
                  <a:schemeClr val="accent2"/>
                </a:solidFill>
              </a:rPr>
              <a:t>233159</a:t>
            </a:r>
            <a:endParaRPr lang="en-US" sz="1400" dirty="0"/>
          </a:p>
        </p:txBody>
      </p:sp>
      <p:sp>
        <p:nvSpPr>
          <p:cNvPr id="6" name="Text 4"/>
          <p:cNvSpPr txBox="1"/>
          <p:nvPr/>
        </p:nvSpPr>
        <p:spPr>
          <a:xfrm>
            <a:off x="6309360" y="4023360"/>
            <a:ext cx="5349240" cy="256032"/>
          </a:xfrm>
          <a:prstGeom prst="rect">
            <a:avLst/>
          </a:prstGeom>
          <a:noFill/>
          <a:ln/>
        </p:spPr>
        <p:txBody>
          <a:bodyPr wrap="square" lIns="0" tIns="0" rIns="0" bIns="0" rtlCol="0" anchor="ctr"/>
          <a:lstStyle/>
          <a:p>
            <a:pPr indent="0" marL="0">
              <a:buNone/>
            </a:pPr>
            <a:r>
              <a:rPr lang="en-US" sz="1050" b="1" spc="150" kern="0" dirty="0">
                <a:solidFill>
                  <a:schemeClr val="accent2"/>
                </a:solidFill>
              </a:rPr>
              <a:t>SUPERVISION</a:t>
            </a:r>
            <a:endParaRPr lang="en-US" sz="1050" dirty="0"/>
          </a:p>
        </p:txBody>
      </p:sp>
      <p:sp>
        <p:nvSpPr>
          <p:cNvPr id="7" name="Text 5"/>
          <p:cNvSpPr txBox="1"/>
          <p:nvPr/>
        </p:nvSpPr>
        <p:spPr>
          <a:xfrm>
            <a:off x="6309360" y="4315968"/>
            <a:ext cx="5349240" cy="1737360"/>
          </a:xfrm>
          <a:prstGeom prst="rect">
            <a:avLst/>
          </a:prstGeom>
          <a:noFill/>
          <a:ln/>
        </p:spPr>
        <p:txBody>
          <a:bodyPr wrap="square" lIns="0" tIns="0" rIns="0" bIns="0" rtlCol="0" anchor="ctr"/>
          <a:lstStyle/>
          <a:p>
            <a:pPr indent="0" marL="0">
              <a:buNone/>
            </a:pPr>
            <a:r>
              <a:rPr lang="en-US" sz="1400" dirty="0">
                <a:solidFill>
                  <a:srgbClr val="FFFFFF"/>
                </a:solidFill>
              </a:rPr>
              <a:t>Mr. Yasir Ali</a:t>
            </a:r>
            <a:endParaRPr lang="en-US" sz="1400" dirty="0"/>
          </a:p>
          <a:p>
            <a:pPr indent="0" marL="0">
              <a:spcAft>
                <a:spcPts val="600"/>
              </a:spcAft>
              <a:buNone/>
            </a:pPr>
            <a:r>
              <a:rPr lang="en-US" sz="1100" dirty="0">
                <a:solidFill>
                  <a:schemeClr val="accent2"/>
                </a:solidFill>
              </a:rPr>
              <a:t>Supervisor</a:t>
            </a:r>
            <a:endParaRPr lang="en-US" sz="1400" dirty="0"/>
          </a:p>
          <a:p>
            <a:pPr indent="0" marL="0">
              <a:buNone/>
            </a:pPr>
            <a:r>
              <a:rPr lang="en-US" sz="1400" dirty="0">
                <a:solidFill>
                  <a:srgbClr val="FFFFFF"/>
                </a:solidFill>
              </a:rPr>
              <a:t>Dr. Ashfaq Hussain Farooqi</a:t>
            </a:r>
            <a:endParaRPr lang="en-US" sz="1400" dirty="0"/>
          </a:p>
          <a:p>
            <a:pPr indent="0" marL="0">
              <a:spcAft>
                <a:spcPts val="600"/>
              </a:spcAft>
              <a:buNone/>
            </a:pPr>
            <a:r>
              <a:rPr lang="en-US" sz="1100" dirty="0">
                <a:solidFill>
                  <a:schemeClr val="accent2"/>
                </a:solidFill>
              </a:rPr>
              <a:t>Co-Supervisor</a:t>
            </a:r>
            <a:endParaRPr lang="en-US" sz="1400" dirty="0"/>
          </a:p>
          <a:p>
            <a:pPr indent="0" marL="0">
              <a:buNone/>
            </a:pPr>
            <a:r>
              <a:rPr lang="en-US" sz="1400" dirty="0">
                <a:solidFill>
                  <a:srgbClr val="FFFFFF"/>
                </a:solidFill>
              </a:rPr>
              <a:t>Department of Computer Science</a:t>
            </a:r>
            <a:endParaRPr lang="en-US" sz="1400" dirty="0"/>
          </a:p>
          <a:p>
            <a:pPr indent="0" marL="0">
              <a:buNone/>
            </a:pPr>
            <a:r>
              <a:rPr lang="en-US" sz="1100" dirty="0">
                <a:solidFill>
                  <a:schemeClr val="accent2"/>
                </a:solidFill>
              </a:rPr>
              <a:t>Air University Islamabad</a:t>
            </a:r>
            <a:endParaRPr lang="en-US" sz="1400" dirty="0"/>
          </a:p>
        </p:txBody>
      </p:sp>
      <p:sp>
        <p:nvSpPr>
          <p:cNvPr id="9" name="Text 0"/>
          <p:cNvSpPr/>
          <p:nvPr>
            <p:ph idx="101" type="body" hasCustomPrompt="1"/>
          </p:nvPr>
        </p:nvSpPr>
        <p:spPr>
          <a:xfrm>
            <a:off x="502920" y="3291840"/>
            <a:ext cx="11155680" cy="2926080"/>
          </a:xfrm>
          <a:prstGeom prst="rect">
            <a:avLst/>
          </a:prstGeom>
          <a:noFill/>
          <a:ln/>
        </p:spPr>
        <p:txBody>
          <a:bodyPr wrap="square" rtlCol="0" anchor="t"/>
          <a:lstStyle/>
          <a:p>
            <a:pPr indent="0" marL="0">
              <a:buNone/>
            </a:pPr>
            <a:endParaRPr lang="en-US" sz="1500" dirty="0"/>
          </a:p>
        </p:txBody>
      </p:sp>
    </p:spTree>
  </p:cSld>
  <p:clrMapOvr>
    <a:masterClrMapping/>
  </p:clrMapOvr>
</p:sld>
</file>

<file path=ppt/theme/theme1.xml><?xml version="1.0" encoding="utf-8"?>
<a:theme xmlns:a="http://schemas.openxmlformats.org/drawingml/2006/main" name="Forest and Moss">
  <a:themeElements>
    <a:clrScheme name="Forest and Moss">
      <a:dk1>
        <a:srgbClr val="14281A"/>
      </a:dk1>
      <a:lt1>
        <a:srgbClr val="FFFFFF"/>
      </a:lt1>
      <a:dk2>
        <a:srgbClr val="2C5F2D"/>
      </a:dk2>
      <a:lt2>
        <a:srgbClr val="F2F5EE"/>
      </a:lt2>
      <a:accent1>
        <a:srgbClr val="2C5F2D"/>
      </a:accent1>
      <a:accent2>
        <a:srgbClr val="97BC62"/>
      </a:accent2>
      <a:accent3>
        <a:srgbClr val="D9A441"/>
      </a:accent3>
      <a:accent4>
        <a:srgbClr val="1D5C40"/>
      </a:accent4>
      <a:accent5>
        <a:srgbClr val="6A796F"/>
      </a:accent5>
      <a:accent6>
        <a:srgbClr val="B4342B"/>
      </a:accent6>
      <a:hlink>
        <a:srgbClr val="2C5F2D"/>
      </a:hlink>
      <a:folHlink>
        <a:srgbClr val="6A796F"/>
      </a:folHlink>
    </a:clrScheme>
    <a:fontScheme name="Forest and Mo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Yield Prediction and Ecosystem Monitoring - Progress Review</dc:title>
  <dc:subject>Smart Agriculture FYP progress review, October 2026</dc:subject>
  <dc:creator>Muzammil Ahmed Chandio</dc:creator>
  <cp:lastModifiedBy>Muzammil Ahmed Chandio</cp:lastModifiedBy>
  <cp:revision>1</cp:revision>
  <dcterms:created xsi:type="dcterms:W3CDTF">2026-10-04T17:23:42Z</dcterms:created>
  <dcterms:modified xsi:type="dcterms:W3CDTF">2026-10-04T17:23:42Z</dcterms:modified>
</cp:coreProperties>
</file>